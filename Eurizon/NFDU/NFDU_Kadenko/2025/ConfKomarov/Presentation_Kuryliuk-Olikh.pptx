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FE5CA-8AF1-AE24-5603-EC288D382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EF5002-9869-ACB2-1332-79AF757D9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E436C-A8A5-2696-6A55-C7808B29A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168D8-78B4-E34F-2071-135CACD3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7E7A0C-946E-242E-D4C1-B0E02578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1145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4CA62-FF6F-6FC4-AEC4-E577F8A7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499B2F-1EAC-5996-C463-A178052E4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E07152-88B9-B2D0-F578-8D5FAAA6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653314-995F-AF44-FD16-A5E4DB6F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B2A6A8-4808-E165-282A-DC0EAC8D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7463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B5234F-FD5E-36EF-140C-FF2DFCFD8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FE7654-65F2-32F9-6963-D40D90595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D7DE40-B848-CE52-0640-CC8AF088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6F2B56-6975-64CE-CC85-C6DAE815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9BD94B-C63F-0E26-CCD2-751E8461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7636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84B6FB-EB85-8123-5C57-2A213DF98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13D22-3B6B-CBE8-3BCD-E366E341E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1863E-4193-EC29-2747-00FB76AE3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589106-B3E6-1C86-B4A9-AAA490E0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6DB286-EEEA-37B2-05BA-28380201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55EA70-553D-5268-B757-D7678987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984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45ACC-50CA-A9E7-6966-322787D78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ECD7C2-B4A7-74B8-B436-4834F6FF4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15D8BD-FE66-BD50-8E2C-ECCB3606F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80DD072-F88E-BF11-EB49-5651C16AF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CB809D-99EC-69D7-70FC-59D906A80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8D52E0-FDDC-5FB6-5B98-0D90F5899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6F917DE-4E53-D793-8C80-D1943FD8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BDD6C2A-C343-92F6-5F1E-EBE74C48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0532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EDBAF-1533-DE6C-97DB-D99E32EDC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12FDF6-CD2A-3981-7945-99B09B04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7C6D8BA-7271-D479-82B7-3C362F45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03F42B-CA2D-AD3C-94A2-FB14FA4D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318476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93FD001-E5CE-1ED2-78F9-EF8970438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0AE24C8-BE1B-0A0B-C137-A9249DEC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1D523A-2E46-C144-1A2B-E9EBC69D6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10068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CA192B-049B-AA6C-D93C-A0D486FF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1352F2-BB8C-60A1-6EDD-D21127F70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F7F139-7FF2-82D9-38F7-433274227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CC4036-062B-F886-B8BD-7124E3EFA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A46E7A-5F92-133E-55A6-9D66D674E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604469-1B7C-CED1-FA8C-72087DBA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74333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A1BFA-2B0E-7FDA-65D0-09B8C3B9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48C4D45-DCF8-4564-A169-D28245B06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4C0E92-4D25-953C-D1A9-9BE514EEB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6E3244-A671-3CBB-6640-E8132E38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B22EFD-B744-ED27-05E7-CC6301AF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4BD4A8-8E2B-7AD2-5F6C-05CABF2A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52269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87080-57C6-F246-D4B9-8C04B97C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FB18C4-4AB7-0C04-D720-4EF7C5F20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381F11-0782-DBF9-40B3-FCF56FE6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1AA535-B0A2-7AB1-9DA2-BEF5046A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6249CF-4A6D-9AED-832B-CD70F170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9207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DE44E0-376C-0A6A-D169-D0F22BBC3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DF840E-DA34-B3AC-4B14-B94316C15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362E37-6D67-44C7-3D3D-C174B188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44677A-9FAC-6671-0027-B69A40CB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40A8A5-2BC8-1714-2D03-CE5E7C34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24640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0EE07-F5BB-0371-C13E-078F7C2C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44ABA0-CC95-54D6-DC58-5D22AAE30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FCA347-7366-62D1-7AC3-864A24F54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CBF42-C0C4-4106-8460-D76008ECCAB5}" type="datetimeFigureOut">
              <a:rPr lang="ru-UA" smtClean="0"/>
              <a:t>27.10.2025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AE6CFB-BC89-FA89-6AB9-C082206A4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761FF4-221C-CB12-2FFB-E293A2361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C0D1D-0454-4EFB-983B-8E5C5C5CDFC5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0210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494070-2637-7A06-E9F1-432616237EA0}"/>
              </a:ext>
            </a:extLst>
          </p:cNvPr>
          <p:cNvSpPr txBox="1"/>
          <p:nvPr/>
        </p:nvSpPr>
        <p:spPr>
          <a:xfrm>
            <a:off x="2285196" y="2068033"/>
            <a:ext cx="92532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b="1" dirty="0" err="1">
                <a:solidFill>
                  <a:schemeClr val="bg1"/>
                </a:solidFill>
              </a:rPr>
              <a:t>Застосування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високопродуктивних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обчислень</a:t>
            </a:r>
            <a:r>
              <a:rPr lang="ru-RU" sz="3200" b="1" dirty="0">
                <a:solidFill>
                  <a:schemeClr val="bg1"/>
                </a:solidFill>
              </a:rPr>
              <a:t> і машинного </a:t>
            </a:r>
            <a:r>
              <a:rPr lang="ru-RU" sz="3200" b="1" dirty="0" err="1">
                <a:solidFill>
                  <a:schemeClr val="bg1"/>
                </a:solidFill>
              </a:rPr>
              <a:t>навчання</a:t>
            </a:r>
            <a:r>
              <a:rPr lang="ru-RU" sz="3200" b="1" dirty="0">
                <a:solidFill>
                  <a:schemeClr val="bg1"/>
                </a:solidFill>
              </a:rPr>
              <a:t> для </a:t>
            </a:r>
            <a:r>
              <a:rPr lang="ru-RU" sz="3200" b="1" dirty="0" err="1">
                <a:solidFill>
                  <a:schemeClr val="bg1"/>
                </a:solidFill>
              </a:rPr>
              <a:t>характеризації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властивостей</a:t>
            </a:r>
            <a:r>
              <a:rPr lang="ru-RU" sz="3200" b="1" dirty="0">
                <a:solidFill>
                  <a:schemeClr val="bg1"/>
                </a:solidFill>
              </a:rPr>
              <a:t> наноструктур, </a:t>
            </a:r>
            <a:r>
              <a:rPr lang="ru-RU" sz="3200" b="1" dirty="0" err="1">
                <a:solidFill>
                  <a:schemeClr val="bg1"/>
                </a:solidFill>
              </a:rPr>
              <a:t>композитних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матеріалів</a:t>
            </a:r>
            <a:r>
              <a:rPr lang="ru-RU" sz="3200" b="1" dirty="0">
                <a:solidFill>
                  <a:schemeClr val="bg1"/>
                </a:solidFill>
              </a:rPr>
              <a:t> та </a:t>
            </a:r>
            <a:r>
              <a:rPr lang="ru-RU" sz="3200" b="1" dirty="0" err="1">
                <a:solidFill>
                  <a:schemeClr val="bg1"/>
                </a:solidFill>
              </a:rPr>
              <a:t>енергеперетворюючих</a:t>
            </a:r>
            <a:r>
              <a:rPr lang="ru-RU" sz="3200" b="1" dirty="0">
                <a:solidFill>
                  <a:schemeClr val="bg1"/>
                </a:solidFill>
              </a:rPr>
              <a:t> структур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C3292-8965-E7CF-F29C-78DB03DFC64F}"/>
              </a:ext>
            </a:extLst>
          </p:cNvPr>
          <p:cNvSpPr txBox="1"/>
          <p:nvPr/>
        </p:nvSpPr>
        <p:spPr>
          <a:xfrm>
            <a:off x="2311776" y="5007934"/>
            <a:ext cx="8283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Василь </a:t>
            </a:r>
            <a:r>
              <a:rPr lang="ru-RU" sz="2000" dirty="0" err="1">
                <a:solidFill>
                  <a:schemeClr val="bg1"/>
                </a:solidFill>
              </a:rPr>
              <a:t>Курилюк</a:t>
            </a:r>
            <a:r>
              <a:rPr lang="ru-RU" sz="2000" dirty="0">
                <a:solidFill>
                  <a:schemeClr val="bg1"/>
                </a:solidFill>
              </a:rPr>
              <a:t>,  Олег </a:t>
            </a:r>
            <a:r>
              <a:rPr lang="ru-RU" sz="2000" dirty="0" err="1">
                <a:solidFill>
                  <a:schemeClr val="bg1"/>
                </a:solidFill>
              </a:rPr>
              <a:t>Оліх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63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09BD60-9A99-A7BC-372D-E08B8092D070}"/>
              </a:ext>
            </a:extLst>
          </p:cNvPr>
          <p:cNvSpPr txBox="1"/>
          <p:nvPr/>
        </p:nvSpPr>
        <p:spPr>
          <a:xfrm>
            <a:off x="408550" y="1095221"/>
            <a:ext cx="7792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err="1"/>
              <a:t>Застосування</a:t>
            </a:r>
            <a:r>
              <a:rPr lang="ru-RU" sz="1600" b="1" dirty="0"/>
              <a:t> </a:t>
            </a:r>
            <a:r>
              <a:rPr lang="ru-RU" sz="1600" b="1" dirty="0" err="1"/>
              <a:t>високопродуктивних</a:t>
            </a:r>
            <a:r>
              <a:rPr lang="ru-RU" sz="1600" b="1" dirty="0"/>
              <a:t> </a:t>
            </a:r>
            <a:r>
              <a:rPr lang="ru-RU" sz="1600" b="1" dirty="0" err="1"/>
              <a:t>обчислень</a:t>
            </a:r>
            <a:r>
              <a:rPr lang="ru-RU" sz="1600" b="1" dirty="0"/>
              <a:t> і машинного </a:t>
            </a:r>
            <a:r>
              <a:rPr lang="ru-RU" sz="1600" b="1" dirty="0" err="1"/>
              <a:t>навчання</a:t>
            </a:r>
            <a:r>
              <a:rPr lang="ru-RU" sz="1600" b="1" dirty="0"/>
              <a:t> для </a:t>
            </a:r>
            <a:r>
              <a:rPr lang="ru-RU" sz="1600" b="1" dirty="0" err="1"/>
              <a:t>характеризації</a:t>
            </a:r>
            <a:r>
              <a:rPr lang="ru-RU" sz="1600" b="1" dirty="0"/>
              <a:t> </a:t>
            </a:r>
            <a:r>
              <a:rPr lang="ru-RU" sz="1600" b="1" dirty="0" err="1"/>
              <a:t>властивостей</a:t>
            </a:r>
            <a:r>
              <a:rPr lang="ru-RU" sz="1600" b="1" dirty="0"/>
              <a:t> наноструктур, </a:t>
            </a:r>
            <a:r>
              <a:rPr lang="ru-RU" sz="1600" b="1" dirty="0" err="1"/>
              <a:t>композитних</a:t>
            </a:r>
            <a:r>
              <a:rPr lang="ru-RU" sz="1600" b="1" dirty="0"/>
              <a:t> </a:t>
            </a:r>
            <a:r>
              <a:rPr lang="ru-RU" sz="1600" b="1" dirty="0" err="1"/>
              <a:t>матеріалів</a:t>
            </a:r>
            <a:r>
              <a:rPr lang="ru-RU" sz="1600" b="1" dirty="0"/>
              <a:t> та </a:t>
            </a:r>
            <a:r>
              <a:rPr lang="ru-RU" sz="1600" b="1" dirty="0" err="1"/>
              <a:t>енергеперетворюючих</a:t>
            </a:r>
            <a:r>
              <a:rPr lang="ru-RU" sz="1600" b="1" dirty="0"/>
              <a:t> структур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E7FFD-9EAD-4D98-458C-06BE00FB1F1D}"/>
              </a:ext>
            </a:extLst>
          </p:cNvPr>
          <p:cNvSpPr txBox="1"/>
          <p:nvPr/>
        </p:nvSpPr>
        <p:spPr>
          <a:xfrm>
            <a:off x="424499" y="2020543"/>
            <a:ext cx="8283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Василь </a:t>
            </a:r>
            <a:r>
              <a:rPr lang="uk-UA" sz="1400" dirty="0" err="1"/>
              <a:t>Курилюк</a:t>
            </a:r>
            <a:r>
              <a:rPr lang="uk-UA" sz="1400" dirty="0"/>
              <a:t>,  Олег </a:t>
            </a:r>
            <a:r>
              <a:rPr lang="uk-UA" sz="1400" dirty="0" err="1"/>
              <a:t>Оліх</a:t>
            </a:r>
            <a:endParaRPr lang="uk-UA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B672B-B89F-D2F4-E7BA-9C437744EFE9}"/>
              </a:ext>
            </a:extLst>
          </p:cNvPr>
          <p:cNvSpPr txBox="1"/>
          <p:nvPr/>
        </p:nvSpPr>
        <p:spPr>
          <a:xfrm>
            <a:off x="408550" y="2309366"/>
            <a:ext cx="8315464" cy="427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52000" algn="just"/>
            <a:r>
              <a:rPr lang="uk-UA" sz="1200" dirty="0"/>
              <a:t>Дослідження фізичних властивостей </a:t>
            </a:r>
            <a:r>
              <a:rPr lang="uk-UA" sz="1200" dirty="0" err="1"/>
              <a:t>наноструктур</a:t>
            </a:r>
            <a:r>
              <a:rPr lang="uk-UA" sz="1200" dirty="0"/>
              <a:t> і композитних матеріалів є ключовим напрямом сучасної матеріалознавчої науки, адже саме на </a:t>
            </a:r>
            <a:r>
              <a:rPr lang="uk-UA" sz="1200" dirty="0" err="1"/>
              <a:t>нанорівні</a:t>
            </a:r>
            <a:r>
              <a:rPr lang="uk-UA" sz="1200" dirty="0"/>
              <a:t> проявляються нові закономірності теплового транспорту та механічного відгуку. Вивчення теплопровідності й механічної міцності таких матеріалів має важливе значення для ефективного теплового менеджменту в елементах мікро- та </a:t>
            </a:r>
            <a:r>
              <a:rPr lang="uk-UA" sz="1200" dirty="0" err="1"/>
              <a:t>наноелектроніки</a:t>
            </a:r>
            <a:r>
              <a:rPr lang="uk-UA" sz="1200" dirty="0"/>
              <a:t>, підвищення термоелектричної добротності матеріалів, а також створення </a:t>
            </a:r>
            <a:r>
              <a:rPr lang="uk-UA" sz="1200" dirty="0" err="1"/>
              <a:t>теплоакумулюючих</a:t>
            </a:r>
            <a:r>
              <a:rPr lang="uk-UA" sz="1200" dirty="0"/>
              <a:t> систем на основі </a:t>
            </a:r>
            <a:r>
              <a:rPr lang="uk-UA" sz="1200" dirty="0" err="1"/>
              <a:t>фазозмінних</a:t>
            </a:r>
            <a:r>
              <a:rPr lang="uk-UA" sz="1200" dirty="0"/>
              <a:t> речовин. Високопродуктивні обчислення у поєднанні з методами комп’ютерного моделювання, зокрема молекулярної динаміки (МД), дозволяють досліджувати атомарні механізми переносу тепла та структурні зміни в матеріалах. Додаткове застосування методів машинного навчання (</a:t>
            </a:r>
            <a:r>
              <a:rPr lang="en-US" sz="1200" dirty="0"/>
              <a:t>ML) </a:t>
            </a:r>
            <a:r>
              <a:rPr lang="uk-UA" sz="1200" dirty="0"/>
              <a:t>відкриває можливості для прискореної обробки великих масивів даних і прогнозування властивостей матеріалів з високою точністю.</a:t>
            </a:r>
          </a:p>
          <a:p>
            <a:pPr indent="252000" algn="just"/>
            <a:r>
              <a:rPr lang="ru-RU" sz="1200" dirty="0"/>
              <a:t>У </a:t>
            </a:r>
            <a:r>
              <a:rPr lang="ru-RU" sz="1200" dirty="0" err="1"/>
              <a:t>роботі</a:t>
            </a:r>
            <a:r>
              <a:rPr lang="ru-RU" sz="1200" dirty="0"/>
              <a:t> представлено </a:t>
            </a:r>
            <a:r>
              <a:rPr lang="ru-RU" sz="1200" dirty="0" err="1"/>
              <a:t>результати</a:t>
            </a:r>
            <a:r>
              <a:rPr lang="ru-RU" sz="1200" dirty="0"/>
              <a:t> МД-</a:t>
            </a:r>
            <a:r>
              <a:rPr lang="ru-RU" sz="1200" dirty="0" err="1"/>
              <a:t>моделювання</a:t>
            </a:r>
            <a:r>
              <a:rPr lang="ru-RU" sz="1200" dirty="0"/>
              <a:t> теплового транспорту та </a:t>
            </a:r>
            <a:r>
              <a:rPr lang="ru-RU" sz="1200" dirty="0" err="1"/>
              <a:t>термомеханічних</a:t>
            </a:r>
            <a:r>
              <a:rPr lang="ru-RU" sz="1200" dirty="0"/>
              <a:t> </a:t>
            </a:r>
            <a:r>
              <a:rPr lang="ru-RU" sz="1200" dirty="0" err="1"/>
              <a:t>властивостей</a:t>
            </a:r>
            <a:r>
              <a:rPr lang="ru-RU" sz="1200" dirty="0"/>
              <a:t> для </a:t>
            </a:r>
            <a:r>
              <a:rPr lang="ru-RU" sz="1200" dirty="0" err="1"/>
              <a:t>нанониток</a:t>
            </a:r>
            <a:r>
              <a:rPr lang="ru-RU" sz="1200" dirty="0"/>
              <a:t> </a:t>
            </a:r>
            <a:r>
              <a:rPr lang="ru-RU" sz="1200" dirty="0" err="1"/>
              <a:t>різної</a:t>
            </a:r>
            <a:r>
              <a:rPr lang="ru-RU" sz="1200" dirty="0"/>
              <a:t> </a:t>
            </a:r>
            <a:r>
              <a:rPr lang="ru-RU" sz="1200" dirty="0" err="1"/>
              <a:t>морфології</a:t>
            </a:r>
            <a:r>
              <a:rPr lang="ru-RU" sz="1200" dirty="0"/>
              <a:t> (</a:t>
            </a:r>
            <a:r>
              <a:rPr lang="ru-RU" sz="1200" dirty="0" err="1"/>
              <a:t>суцільних</a:t>
            </a:r>
            <a:r>
              <a:rPr lang="ru-RU" sz="1200" dirty="0"/>
              <a:t> і </a:t>
            </a:r>
            <a:r>
              <a:rPr lang="ru-RU" sz="1200" dirty="0" err="1"/>
              <a:t>порожнистих</a:t>
            </a:r>
            <a:r>
              <a:rPr lang="ru-RU" sz="1200" dirty="0"/>
              <a:t>), а також </a:t>
            </a:r>
            <a:r>
              <a:rPr lang="ru-RU" sz="1200" dirty="0" err="1"/>
              <a:t>композитів</a:t>
            </a:r>
            <a:r>
              <a:rPr lang="ru-RU" sz="1200" dirty="0"/>
              <a:t> на </a:t>
            </a:r>
            <a:r>
              <a:rPr lang="ru-RU" sz="1200" dirty="0" err="1"/>
              <a:t>основі</a:t>
            </a:r>
            <a:r>
              <a:rPr lang="ru-RU" sz="1200" dirty="0"/>
              <a:t> </a:t>
            </a:r>
            <a:r>
              <a:rPr lang="ru-RU" sz="1200" dirty="0" err="1"/>
              <a:t>фазозмінних</a:t>
            </a:r>
            <a:r>
              <a:rPr lang="ru-RU" sz="1200" dirty="0"/>
              <a:t> </a:t>
            </a:r>
            <a:r>
              <a:rPr lang="ru-RU" sz="1200" dirty="0" err="1"/>
              <a:t>матеріалів</a:t>
            </a:r>
            <a:r>
              <a:rPr lang="ru-RU" sz="1200" dirty="0"/>
              <a:t> </a:t>
            </a:r>
            <a:r>
              <a:rPr lang="en-US" sz="1200" dirty="0"/>
              <a:t>[1]</a:t>
            </a:r>
            <a:r>
              <a:rPr lang="ru-RU" sz="1200" dirty="0"/>
              <a:t>. </a:t>
            </a:r>
            <a:r>
              <a:rPr lang="ru-RU" sz="1200" dirty="0" err="1"/>
              <a:t>Встановлено</a:t>
            </a:r>
            <a:r>
              <a:rPr lang="ru-RU" sz="1200" dirty="0"/>
              <a:t>, </a:t>
            </a:r>
            <a:r>
              <a:rPr lang="ru-RU" sz="1200" dirty="0" err="1"/>
              <a:t>що</a:t>
            </a:r>
            <a:r>
              <a:rPr lang="ru-RU" sz="1200" dirty="0"/>
              <a:t> </a:t>
            </a:r>
            <a:r>
              <a:rPr lang="ru-RU" sz="1200" dirty="0" err="1"/>
              <a:t>теплопровідність</a:t>
            </a:r>
            <a:r>
              <a:rPr lang="ru-RU" sz="1200" dirty="0"/>
              <a:t> </a:t>
            </a:r>
            <a:r>
              <a:rPr lang="ru-RU" sz="1200" dirty="0" err="1"/>
              <a:t>порожнистих</a:t>
            </a:r>
            <a:r>
              <a:rPr lang="ru-RU" sz="1200" dirty="0"/>
              <a:t> </a:t>
            </a:r>
            <a:r>
              <a:rPr lang="ru-RU" sz="1200" dirty="0" err="1"/>
              <a:t>нанониток</a:t>
            </a:r>
            <a:r>
              <a:rPr lang="ru-RU" sz="1200" dirty="0"/>
              <a:t> </a:t>
            </a:r>
            <a:r>
              <a:rPr lang="ru-RU" sz="1200" dirty="0" err="1"/>
              <a:t>зменшується</a:t>
            </a:r>
            <a:r>
              <a:rPr lang="ru-RU" sz="1200" dirty="0"/>
              <a:t> </a:t>
            </a:r>
            <a:r>
              <a:rPr lang="ru-RU" sz="1200" dirty="0" err="1"/>
              <a:t>зі</a:t>
            </a:r>
            <a:r>
              <a:rPr lang="ru-RU" sz="1200" dirty="0"/>
              <a:t> </a:t>
            </a:r>
            <a:r>
              <a:rPr lang="ru-RU" sz="1200" dirty="0" err="1"/>
              <a:t>збільшенням</a:t>
            </a:r>
            <a:r>
              <a:rPr lang="ru-RU" sz="1200" dirty="0"/>
              <a:t> </a:t>
            </a:r>
            <a:r>
              <a:rPr lang="ru-RU" sz="1200" dirty="0" err="1"/>
              <a:t>розміру</a:t>
            </a:r>
            <a:r>
              <a:rPr lang="ru-RU" sz="1200" dirty="0"/>
              <a:t> </a:t>
            </a:r>
            <a:r>
              <a:rPr lang="ru-RU" sz="1200" dirty="0" err="1"/>
              <a:t>порожнини</a:t>
            </a:r>
            <a:r>
              <a:rPr lang="ru-RU" sz="1200" dirty="0"/>
              <a:t>. </a:t>
            </a:r>
            <a:r>
              <a:rPr lang="ru-RU" sz="1200" dirty="0" err="1"/>
              <a:t>Цей</a:t>
            </a:r>
            <a:r>
              <a:rPr lang="ru-RU" sz="1200" dirty="0"/>
              <a:t> </a:t>
            </a:r>
            <a:r>
              <a:rPr lang="ru-RU" sz="1200" dirty="0" err="1"/>
              <a:t>ефект</a:t>
            </a:r>
            <a:r>
              <a:rPr lang="ru-RU" sz="1200" dirty="0"/>
              <a:t> </a:t>
            </a:r>
            <a:r>
              <a:rPr lang="ru-RU" sz="1200" dirty="0" err="1"/>
              <a:t>пов’язаний</a:t>
            </a:r>
            <a:r>
              <a:rPr lang="ru-RU" sz="1200" dirty="0"/>
              <a:t> </a:t>
            </a:r>
            <a:r>
              <a:rPr lang="ru-RU" sz="1200" dirty="0" err="1"/>
              <a:t>із</a:t>
            </a:r>
            <a:r>
              <a:rPr lang="ru-RU" sz="1200" dirty="0"/>
              <a:t> локальною </a:t>
            </a:r>
            <a:r>
              <a:rPr lang="ru-RU" sz="1200" dirty="0" err="1"/>
              <a:t>аморфізацією</a:t>
            </a:r>
            <a:r>
              <a:rPr lang="ru-RU" sz="1200" dirty="0"/>
              <a:t> </a:t>
            </a:r>
            <a:r>
              <a:rPr lang="ru-RU" sz="1200" dirty="0" err="1"/>
              <a:t>структури</a:t>
            </a:r>
            <a:r>
              <a:rPr lang="ru-RU" sz="1200" dirty="0"/>
              <a:t>, </a:t>
            </a:r>
            <a:r>
              <a:rPr lang="ru-RU" sz="1200" dirty="0" err="1"/>
              <a:t>що</a:t>
            </a:r>
            <a:r>
              <a:rPr lang="ru-RU" sz="1200" dirty="0"/>
              <a:t> </a:t>
            </a:r>
            <a:r>
              <a:rPr lang="ru-RU" sz="1200" dirty="0" err="1"/>
              <a:t>призводить</a:t>
            </a:r>
            <a:r>
              <a:rPr lang="ru-RU" sz="1200" dirty="0"/>
              <a:t> до </a:t>
            </a:r>
            <a:r>
              <a:rPr lang="ru-RU" sz="1200" dirty="0" err="1"/>
              <a:t>інтенсивнішого</a:t>
            </a:r>
            <a:r>
              <a:rPr lang="ru-RU" sz="1200" dirty="0"/>
              <a:t> </a:t>
            </a:r>
            <a:r>
              <a:rPr lang="ru-RU" sz="1200" dirty="0" err="1"/>
              <a:t>розсіювання</a:t>
            </a:r>
            <a:r>
              <a:rPr lang="ru-RU" sz="1200" dirty="0"/>
              <a:t> </a:t>
            </a:r>
            <a:r>
              <a:rPr lang="ru-RU" sz="1200" dirty="0" err="1"/>
              <a:t>фононів</a:t>
            </a:r>
            <a:r>
              <a:rPr lang="ru-RU" sz="1200" dirty="0"/>
              <a:t>. Для </a:t>
            </a:r>
            <a:r>
              <a:rPr lang="ru-RU" sz="1200" dirty="0" err="1"/>
              <a:t>композитів</a:t>
            </a:r>
            <a:r>
              <a:rPr lang="ru-RU" sz="1200" dirty="0"/>
              <a:t> типу </a:t>
            </a:r>
            <a:r>
              <a:rPr lang="ru-RU" sz="1200" dirty="0" err="1"/>
              <a:t>октадекан</a:t>
            </a:r>
            <a:r>
              <a:rPr lang="ru-RU" sz="1200" dirty="0"/>
              <a:t>–графен показано, </a:t>
            </a:r>
            <a:r>
              <a:rPr lang="ru-RU" sz="1200" dirty="0" err="1"/>
              <a:t>що</a:t>
            </a:r>
            <a:r>
              <a:rPr lang="ru-RU" sz="1200" dirty="0"/>
              <a:t> </a:t>
            </a:r>
            <a:r>
              <a:rPr lang="ru-RU" sz="1200" dirty="0" err="1"/>
              <a:t>додавання</a:t>
            </a:r>
            <a:r>
              <a:rPr lang="ru-RU" sz="1200" dirty="0"/>
              <a:t> </a:t>
            </a:r>
            <a:r>
              <a:rPr lang="ru-RU" sz="1200" dirty="0" err="1"/>
              <a:t>графенових</a:t>
            </a:r>
            <a:r>
              <a:rPr lang="ru-RU" sz="1200" dirty="0"/>
              <a:t> </a:t>
            </a:r>
            <a:r>
              <a:rPr lang="ru-RU" sz="1200" dirty="0" err="1"/>
              <a:t>наповнювачів</a:t>
            </a:r>
            <a:r>
              <a:rPr lang="ru-RU" sz="1200" dirty="0"/>
              <a:t> </a:t>
            </a:r>
            <a:r>
              <a:rPr lang="ru-RU" sz="1200" dirty="0" err="1"/>
              <a:t>сприяє</a:t>
            </a:r>
            <a:r>
              <a:rPr lang="ru-RU" sz="1200" dirty="0"/>
              <a:t> </a:t>
            </a:r>
            <a:r>
              <a:rPr lang="ru-RU" sz="1200" dirty="0" err="1"/>
              <a:t>суттєвому</a:t>
            </a:r>
            <a:r>
              <a:rPr lang="ru-RU" sz="1200" dirty="0"/>
              <a:t> </a:t>
            </a:r>
            <a:r>
              <a:rPr lang="ru-RU" sz="1200" dirty="0" err="1"/>
              <a:t>підвищенню</a:t>
            </a:r>
            <a:r>
              <a:rPr lang="ru-RU" sz="1200" dirty="0"/>
              <a:t> </a:t>
            </a:r>
            <a:r>
              <a:rPr lang="ru-RU" sz="1200" dirty="0" err="1"/>
              <a:t>теплопровідності</a:t>
            </a:r>
            <a:r>
              <a:rPr lang="ru-RU" sz="1200" dirty="0"/>
              <a:t>, </a:t>
            </a:r>
            <a:r>
              <a:rPr lang="ru-RU" sz="1200" dirty="0" err="1"/>
              <a:t>причому</a:t>
            </a:r>
            <a:r>
              <a:rPr lang="ru-RU" sz="1200" dirty="0"/>
              <a:t> </a:t>
            </a:r>
            <a:r>
              <a:rPr lang="ru-RU" sz="1200" dirty="0" err="1"/>
              <a:t>максимальний</a:t>
            </a:r>
            <a:r>
              <a:rPr lang="ru-RU" sz="1200" dirty="0"/>
              <a:t> </a:t>
            </a:r>
            <a:r>
              <a:rPr lang="ru-RU" sz="1200" dirty="0" err="1"/>
              <a:t>приріст</a:t>
            </a:r>
            <a:r>
              <a:rPr lang="ru-RU" sz="1200" dirty="0"/>
              <a:t> </a:t>
            </a:r>
            <a:r>
              <a:rPr lang="ru-RU" sz="1200" dirty="0" err="1"/>
              <a:t>спостерігається</a:t>
            </a:r>
            <a:r>
              <a:rPr lang="ru-RU" sz="1200" dirty="0"/>
              <a:t> при </a:t>
            </a:r>
            <a:r>
              <a:rPr lang="ru-RU" sz="1200" dirty="0" err="1"/>
              <a:t>концентраціях</a:t>
            </a:r>
            <a:r>
              <a:rPr lang="ru-RU" sz="1200" dirty="0"/>
              <a:t> графену до 5%. </a:t>
            </a:r>
            <a:r>
              <a:rPr lang="ru-RU" sz="1200" dirty="0" err="1"/>
              <a:t>Крім</a:t>
            </a:r>
            <a:r>
              <a:rPr lang="ru-RU" sz="1200" dirty="0"/>
              <a:t> того, </a:t>
            </a:r>
            <a:r>
              <a:rPr lang="ru-RU" sz="1200" dirty="0" err="1"/>
              <a:t>вивчено</a:t>
            </a:r>
            <a:r>
              <a:rPr lang="ru-RU" sz="1200" dirty="0"/>
              <a:t> </a:t>
            </a:r>
            <a:r>
              <a:rPr lang="ru-RU" sz="1200" dirty="0" err="1"/>
              <a:t>термомеханічні</a:t>
            </a:r>
            <a:r>
              <a:rPr lang="ru-RU" sz="1200" dirty="0"/>
              <a:t> </a:t>
            </a:r>
            <a:r>
              <a:rPr lang="ru-RU" sz="1200" dirty="0" err="1"/>
              <a:t>властивості</a:t>
            </a:r>
            <a:r>
              <a:rPr lang="ru-RU" sz="1200" dirty="0"/>
              <a:t> </a:t>
            </a:r>
            <a:r>
              <a:rPr lang="ru-RU" sz="1200" dirty="0" err="1"/>
              <a:t>нанониток</a:t>
            </a:r>
            <a:r>
              <a:rPr lang="ru-RU" sz="1200" dirty="0"/>
              <a:t> </a:t>
            </a:r>
            <a:r>
              <a:rPr lang="ru-RU" sz="1200" dirty="0" err="1"/>
              <a:t>різної</a:t>
            </a:r>
            <a:r>
              <a:rPr lang="ru-RU" sz="1200" dirty="0"/>
              <a:t> </a:t>
            </a:r>
            <a:r>
              <a:rPr lang="ru-RU" sz="1200" dirty="0" err="1"/>
              <a:t>морфології</a:t>
            </a:r>
            <a:r>
              <a:rPr lang="ru-RU" sz="1200" dirty="0"/>
              <a:t>. </a:t>
            </a:r>
            <a:r>
              <a:rPr lang="ru-RU" sz="1200" dirty="0" err="1"/>
              <a:t>Встановлено</a:t>
            </a:r>
            <a:r>
              <a:rPr lang="ru-RU" sz="1200" dirty="0"/>
              <a:t>, </a:t>
            </a:r>
            <a:r>
              <a:rPr lang="ru-RU" sz="1200" dirty="0" err="1"/>
              <a:t>що</a:t>
            </a:r>
            <a:r>
              <a:rPr lang="ru-RU" sz="1200" dirty="0"/>
              <a:t> в </a:t>
            </a:r>
            <a:r>
              <a:rPr lang="ru-RU" sz="1200" dirty="0" err="1"/>
              <a:t>порожнистих</a:t>
            </a:r>
            <a:r>
              <a:rPr lang="ru-RU" sz="1200" dirty="0"/>
              <a:t> </a:t>
            </a:r>
            <a:r>
              <a:rPr lang="ru-RU" sz="1200" dirty="0" err="1"/>
              <a:t>нанонитках</a:t>
            </a:r>
            <a:r>
              <a:rPr lang="ru-RU" sz="1200" dirty="0"/>
              <a:t> </a:t>
            </a:r>
            <a:r>
              <a:rPr lang="ru-RU" sz="1200" dirty="0" err="1"/>
              <a:t>відбувається</a:t>
            </a:r>
            <a:r>
              <a:rPr lang="ru-RU" sz="1200" dirty="0"/>
              <a:t> </a:t>
            </a:r>
            <a:r>
              <a:rPr lang="ru-RU" sz="1200" dirty="0" err="1"/>
              <a:t>перехід</a:t>
            </a:r>
            <a:r>
              <a:rPr lang="ru-RU" sz="1200" dirty="0"/>
              <a:t> </a:t>
            </a:r>
            <a:r>
              <a:rPr lang="ru-RU" sz="1200" dirty="0" err="1"/>
              <a:t>від</a:t>
            </a:r>
            <a:r>
              <a:rPr lang="ru-RU" sz="1200" dirty="0"/>
              <a:t> </a:t>
            </a:r>
            <a:r>
              <a:rPr lang="ru-RU" sz="1200" dirty="0" err="1"/>
              <a:t>крихкого</a:t>
            </a:r>
            <a:r>
              <a:rPr lang="ru-RU" sz="1200" dirty="0"/>
              <a:t> до в</a:t>
            </a:r>
            <a:r>
              <a:rPr lang="en-US" sz="1200" dirty="0"/>
              <a:t>’</a:t>
            </a:r>
            <a:r>
              <a:rPr lang="ru-RU" sz="1200" dirty="0" err="1"/>
              <a:t>язкого</a:t>
            </a:r>
            <a:r>
              <a:rPr lang="ru-RU" sz="1200" dirty="0"/>
              <a:t> </a:t>
            </a:r>
            <a:r>
              <a:rPr lang="ru-RU" sz="1200" dirty="0" err="1"/>
              <a:t>руйнування</a:t>
            </a:r>
            <a:r>
              <a:rPr lang="ru-RU" sz="1200" dirty="0"/>
              <a:t>.</a:t>
            </a:r>
            <a:r>
              <a:rPr lang="en-US" sz="1200" dirty="0"/>
              <a:t> </a:t>
            </a:r>
            <a:r>
              <a:rPr lang="uk-UA" sz="1200" dirty="0"/>
              <a:t>Отримані</a:t>
            </a:r>
            <a:r>
              <a:rPr lang="ru-RU" sz="1200" dirty="0"/>
              <a:t> </a:t>
            </a:r>
            <a:r>
              <a:rPr lang="ru-RU" sz="1200" dirty="0" err="1"/>
              <a:t>результати</a:t>
            </a:r>
            <a:r>
              <a:rPr lang="ru-RU" sz="1200" dirty="0"/>
              <a:t> </a:t>
            </a:r>
            <a:r>
              <a:rPr lang="ru-RU" sz="1200" dirty="0" err="1"/>
              <a:t>свідчать</a:t>
            </a:r>
            <a:r>
              <a:rPr lang="ru-RU" sz="1200" dirty="0"/>
              <a:t> про </a:t>
            </a:r>
            <a:r>
              <a:rPr lang="ru-RU" sz="1200" dirty="0" err="1"/>
              <a:t>перспективність</a:t>
            </a:r>
            <a:r>
              <a:rPr lang="ru-RU" sz="1200" dirty="0"/>
              <a:t> </a:t>
            </a:r>
            <a:r>
              <a:rPr lang="ru-RU" sz="1200" dirty="0" err="1"/>
              <a:t>використання</a:t>
            </a:r>
            <a:r>
              <a:rPr lang="ru-RU" sz="1200" dirty="0"/>
              <a:t> </a:t>
            </a:r>
            <a:r>
              <a:rPr lang="ru-RU" sz="1200" dirty="0" err="1"/>
              <a:t>комп’ютерного</a:t>
            </a:r>
            <a:r>
              <a:rPr lang="ru-RU" sz="1200" dirty="0"/>
              <a:t> </a:t>
            </a:r>
            <a:r>
              <a:rPr lang="ru-RU" sz="1200" dirty="0" err="1"/>
              <a:t>моделювання</a:t>
            </a:r>
            <a:r>
              <a:rPr lang="ru-RU" sz="1200" dirty="0"/>
              <a:t> для </a:t>
            </a:r>
            <a:r>
              <a:rPr lang="ru-RU" sz="1200" dirty="0" err="1"/>
              <a:t>оптимізації</a:t>
            </a:r>
            <a:r>
              <a:rPr lang="ru-RU" sz="1200" dirty="0"/>
              <a:t> </a:t>
            </a:r>
            <a:r>
              <a:rPr lang="ru-RU" sz="1200" dirty="0" err="1"/>
              <a:t>теплових</a:t>
            </a:r>
            <a:r>
              <a:rPr lang="ru-RU" sz="1200" dirty="0"/>
              <a:t> характеристик наноструктур і </a:t>
            </a:r>
            <a:r>
              <a:rPr lang="ru-RU" sz="1200" dirty="0" err="1"/>
              <a:t>композитів</a:t>
            </a:r>
            <a:r>
              <a:rPr lang="ru-RU" sz="1200" dirty="0"/>
              <a:t>, </a:t>
            </a:r>
            <a:r>
              <a:rPr lang="ru-RU" sz="1200" dirty="0" err="1"/>
              <a:t>що</a:t>
            </a:r>
            <a:r>
              <a:rPr lang="ru-RU" sz="1200" dirty="0"/>
              <a:t> </a:t>
            </a:r>
            <a:r>
              <a:rPr lang="ru-RU" sz="1200" dirty="0" err="1"/>
              <a:t>може</a:t>
            </a:r>
            <a:r>
              <a:rPr lang="ru-RU" sz="1200" dirty="0"/>
              <a:t> стати основою для </a:t>
            </a:r>
            <a:r>
              <a:rPr lang="ru-RU" sz="1200" dirty="0" err="1"/>
              <a:t>створення</a:t>
            </a:r>
            <a:r>
              <a:rPr lang="ru-RU" sz="1200" dirty="0"/>
              <a:t> </a:t>
            </a:r>
            <a:r>
              <a:rPr lang="ru-RU" sz="1200" dirty="0" err="1"/>
              <a:t>ефективних</a:t>
            </a:r>
            <a:r>
              <a:rPr lang="ru-RU" sz="1200" dirty="0"/>
              <a:t> </a:t>
            </a:r>
            <a:r>
              <a:rPr lang="ru-RU" sz="1200" dirty="0" err="1"/>
              <a:t>енергоперетворюючих</a:t>
            </a:r>
            <a:r>
              <a:rPr lang="ru-RU" sz="1200" dirty="0"/>
              <a:t> та </a:t>
            </a:r>
            <a:r>
              <a:rPr lang="ru-RU" sz="1200" dirty="0" err="1"/>
              <a:t>теплоакумулюючих</a:t>
            </a:r>
            <a:r>
              <a:rPr lang="ru-RU" sz="1200" dirty="0"/>
              <a:t> </a:t>
            </a:r>
            <a:r>
              <a:rPr lang="ru-RU" sz="1200" dirty="0" err="1"/>
              <a:t>матеріалів</a:t>
            </a:r>
            <a:r>
              <a:rPr lang="ru-RU" sz="1200" dirty="0"/>
              <a:t> нового </a:t>
            </a:r>
            <a:r>
              <a:rPr lang="ru-RU" sz="1200" dirty="0" err="1"/>
              <a:t>покоління</a:t>
            </a:r>
            <a:r>
              <a:rPr lang="ru-RU" sz="1200" dirty="0"/>
              <a:t>.</a:t>
            </a:r>
            <a:endParaRPr lang="en-US" sz="1200" dirty="0"/>
          </a:p>
          <a:p>
            <a:pPr indent="252000" algn="just"/>
            <a:endParaRPr lang="uk-UA" sz="1050" dirty="0"/>
          </a:p>
          <a:p>
            <a:pPr algn="just"/>
            <a:r>
              <a:rPr lang="en-US" sz="1050" dirty="0"/>
              <a:t>[1]. </a:t>
            </a:r>
            <a:r>
              <a:rPr lang="sv-SE" sz="1050" dirty="0"/>
              <a:t>V. Kuryliuk et al. </a:t>
            </a:r>
            <a:r>
              <a:rPr lang="en-US" sz="1050" dirty="0"/>
              <a:t>Atomistic study of mechanical properties of </a:t>
            </a:r>
            <a:r>
              <a:rPr lang="en-US" sz="1050" dirty="0" err="1"/>
              <a:t>SiGe</a:t>
            </a:r>
            <a:r>
              <a:rPr lang="en-US" sz="1050" dirty="0"/>
              <a:t> hollow-core nanowires. 2025, Mater. Res. Express, 12, 085006.</a:t>
            </a:r>
            <a:endParaRPr lang="ru-UA" sz="10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6D18C1D-839E-CC61-3EB5-7427A4408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552" y="1208917"/>
            <a:ext cx="2283552" cy="193102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AA266E1-E6FC-055B-6C56-A87E23ED5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389" y="3348184"/>
            <a:ext cx="2037878" cy="29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11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C6FAA-B89B-B9BB-F661-3BD8C1BCF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6016FD-4268-622A-F343-081BF1364A00}"/>
              </a:ext>
            </a:extLst>
          </p:cNvPr>
          <p:cNvSpPr txBox="1"/>
          <p:nvPr/>
        </p:nvSpPr>
        <p:spPr>
          <a:xfrm>
            <a:off x="376652" y="1499319"/>
            <a:ext cx="8315464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52000" algn="just"/>
            <a:r>
              <a:rPr lang="uk-UA" sz="1200" dirty="0"/>
              <a:t>В роботі також представлені результати застосування різноманітних </a:t>
            </a:r>
            <a:r>
              <a:rPr lang="en-US" sz="1200" dirty="0"/>
              <a:t>ML</a:t>
            </a:r>
            <a:r>
              <a:rPr lang="uk-UA" sz="1200" dirty="0"/>
              <a:t> алгоритмів до даних, отриманих в результаті розрахунків. Зокрема використання алгоритму </a:t>
            </a:r>
            <a:r>
              <a:rPr lang="en-US" sz="1200" dirty="0"/>
              <a:t>Symbolic Regression</a:t>
            </a:r>
            <a:r>
              <a:rPr lang="uk-UA" sz="1200" dirty="0"/>
              <a:t> дозволило отримати аналітичний вираз, що описує залежність теплопровідності пористого кремнію від температури та ступеню поруватості </a:t>
            </a:r>
            <a:r>
              <a:rPr lang="en-US" sz="1200" dirty="0"/>
              <a:t>[2]</a:t>
            </a:r>
            <a:r>
              <a:rPr lang="uk-UA" sz="1200" dirty="0"/>
              <a:t>. Формула показала середню абсолютну похибку менше ніж 3% на навчальній вибірці та близько 10% на тестових даних, що свідчить про її високу узагальнюючу здатність. Показано, що отримане рівняння узгоджується з фізичними очікуваннями: теплопровідність зменшується із збільшенням температури та пористості за степеневими законами, причому показники </a:t>
            </a:r>
            <a:r>
              <a:rPr lang="uk-UA" sz="1200" dirty="0" err="1"/>
              <a:t>залежностей</a:t>
            </a:r>
            <a:r>
              <a:rPr lang="uk-UA" sz="1200" dirty="0"/>
              <a:t> близькі до експериментальних даних. За допомогою </a:t>
            </a:r>
            <a:r>
              <a:rPr lang="en-US" sz="1200" dirty="0"/>
              <a:t>Symbolic Regression</a:t>
            </a:r>
            <a:r>
              <a:rPr lang="uk-UA" sz="1200" dirty="0"/>
              <a:t> також отримано вирази для оцінки рухливості носіїв заряду в кремнії </a:t>
            </a:r>
            <a:r>
              <a:rPr lang="en-US" sz="1200" dirty="0"/>
              <a:t>[3]</a:t>
            </a:r>
            <a:r>
              <a:rPr lang="uk-UA" sz="1200" dirty="0"/>
              <a:t>, відхилення передбачень яких від теорії </a:t>
            </a:r>
            <a:r>
              <a:rPr lang="en-US" sz="1200" dirty="0"/>
              <a:t>Klaasen</a:t>
            </a:r>
            <a:r>
              <a:rPr lang="uk-UA" sz="1200" dirty="0"/>
              <a:t> не перевищує 0.8%</a:t>
            </a:r>
            <a:r>
              <a:rPr lang="ru-RU" sz="1200" dirty="0"/>
              <a:t>. </a:t>
            </a:r>
            <a:endParaRPr lang="uk-UA" sz="1200" dirty="0"/>
          </a:p>
          <a:p>
            <a:pPr indent="252000" algn="just"/>
            <a:r>
              <a:rPr lang="uk-UA" sz="1200" dirty="0"/>
              <a:t>Також були використані класичні регресійні </a:t>
            </a:r>
            <a:r>
              <a:rPr lang="en-GB" sz="1200" dirty="0"/>
              <a:t>ML</a:t>
            </a:r>
            <a:r>
              <a:rPr lang="uk-UA" sz="1200" dirty="0"/>
              <a:t> моделі — </a:t>
            </a:r>
            <a:r>
              <a:rPr lang="en-GB" sz="1200" dirty="0"/>
              <a:t>Random Forest, Gradient Boosting </a:t>
            </a:r>
            <a:r>
              <a:rPr lang="uk-UA" sz="1200" dirty="0"/>
              <a:t>і </a:t>
            </a:r>
            <a:r>
              <a:rPr lang="en-GB" sz="1200" dirty="0"/>
              <a:t>Support Vector Regression — </a:t>
            </a:r>
            <a:r>
              <a:rPr lang="uk-UA" sz="1200" dirty="0"/>
              <a:t>для реконструкції часової еволюції </a:t>
            </a:r>
            <a:r>
              <a:rPr lang="uk-UA" sz="1200" dirty="0" err="1"/>
              <a:t>автокореляційних</a:t>
            </a:r>
            <a:r>
              <a:rPr lang="uk-UA" sz="1200" dirty="0"/>
              <a:t> функцій теплового потоку та подальшого прогнозування теплопровідності </a:t>
            </a:r>
            <a:r>
              <a:rPr lang="en-US" sz="1200" dirty="0"/>
              <a:t>[2]</a:t>
            </a:r>
            <a:r>
              <a:rPr lang="uk-UA" sz="1200" dirty="0"/>
              <a:t>.</a:t>
            </a:r>
            <a:r>
              <a:rPr lang="en-US" sz="1200" dirty="0"/>
              <a:t> </a:t>
            </a:r>
            <a:r>
              <a:rPr lang="uk-UA" sz="1200" dirty="0"/>
              <a:t>Перші два алгоритми показали високу точність відтворення релаксаційних кривих, тоді як метод опорних векторів виявився менш ефективним і схильним до значних похибок. Найкращі результати отримано для </a:t>
            </a:r>
            <a:r>
              <a:rPr lang="en-GB" sz="1200" dirty="0"/>
              <a:t>Gradient Boosting, </a:t>
            </a:r>
            <a:r>
              <a:rPr lang="uk-UA" sz="1200" dirty="0"/>
              <a:t>який забезпечив середню абсолютну відносну похибку близько 20% на тестових даних. </a:t>
            </a:r>
          </a:p>
          <a:p>
            <a:pPr indent="252000" algn="just"/>
            <a:r>
              <a:rPr lang="uk-UA" sz="1200" dirty="0"/>
              <a:t>Таким чином, поєднання методів молекулярної динаміки та машинного забезпечує точне й ефективне прогнозування теплового транспорту в пористих </a:t>
            </a:r>
            <a:r>
              <a:rPr lang="uk-UA" sz="1200" dirty="0" err="1"/>
              <a:t>наноструктурах</a:t>
            </a:r>
            <a:r>
              <a:rPr lang="uk-UA" sz="1200" dirty="0"/>
              <a:t>. Такий підхід дозволяє зменшити обсяг обчислень і водночас забезпечує фізично інтерпретовані результати. </a:t>
            </a:r>
            <a:r>
              <a:rPr lang="ru-RU" sz="1200" dirty="0" err="1"/>
              <a:t>Запропонований</a:t>
            </a:r>
            <a:r>
              <a:rPr lang="ru-RU" sz="1200" dirty="0"/>
              <a:t> </a:t>
            </a:r>
            <a:r>
              <a:rPr lang="ru-RU" sz="1200" dirty="0" err="1"/>
              <a:t>спосіб</a:t>
            </a:r>
            <a:r>
              <a:rPr lang="ru-RU" sz="1200" dirty="0"/>
              <a:t> </a:t>
            </a:r>
            <a:r>
              <a:rPr lang="uk-UA" sz="1200" dirty="0"/>
              <a:t>сприяє прискоренню розробки матеріалів для систем теплового </a:t>
            </a:r>
            <a:r>
              <a:rPr lang="uk-UA" sz="1200" dirty="0" err="1"/>
              <a:t>менеджементу</a:t>
            </a:r>
            <a:r>
              <a:rPr lang="uk-UA" sz="1200" dirty="0"/>
              <a:t> та енергетичних застосувань.</a:t>
            </a:r>
          </a:p>
          <a:p>
            <a:pPr indent="252000" algn="just"/>
            <a:endParaRPr lang="uk-UA" sz="1050" dirty="0"/>
          </a:p>
          <a:p>
            <a:pPr algn="just"/>
            <a:r>
              <a:rPr lang="en-US" sz="1050" dirty="0"/>
              <a:t>[2]. </a:t>
            </a:r>
            <a:r>
              <a:rPr lang="sv-SE" sz="1050" dirty="0"/>
              <a:t>V. Kuryliuk, O.Olikh et al. </a:t>
            </a:r>
            <a:r>
              <a:rPr lang="en-US" sz="1050" dirty="0"/>
              <a:t>Estimation of the thermal conductivity of porous silicon using molecular dynamics and machine learning methods. V International Conference Condensed Matter and Low Temperature Physics CM&amp;LTP 2025, Book of Abstracts, Kharkiv, Ukraine</a:t>
            </a:r>
            <a:r>
              <a:rPr lang="uk-UA" sz="1050" dirty="0"/>
              <a:t>, 202</a:t>
            </a:r>
            <a:r>
              <a:rPr lang="en-US" sz="1050" dirty="0"/>
              <a:t>5</a:t>
            </a:r>
            <a:r>
              <a:rPr lang="uk-UA" sz="1050" dirty="0"/>
              <a:t>, </a:t>
            </a:r>
            <a:r>
              <a:rPr lang="en-US" sz="1050" dirty="0"/>
              <a:t>P</a:t>
            </a:r>
            <a:r>
              <a:rPr lang="uk-UA" sz="1050" dirty="0"/>
              <a:t>. </a:t>
            </a:r>
            <a:r>
              <a:rPr lang="en-US" sz="1050" dirty="0"/>
              <a:t>238.</a:t>
            </a:r>
          </a:p>
          <a:p>
            <a:pPr algn="just"/>
            <a:r>
              <a:rPr lang="en-US" sz="1050" dirty="0"/>
              <a:t>[3] </a:t>
            </a:r>
            <a:r>
              <a:rPr lang="sv-SE" sz="1050" dirty="0"/>
              <a:t>O.O</a:t>
            </a:r>
            <a:r>
              <a:rPr lang="uk-UA" sz="1050" dirty="0"/>
              <a:t>ліх</a:t>
            </a:r>
            <a:r>
              <a:rPr lang="sv-SE" sz="1050" dirty="0"/>
              <a:t> et al. </a:t>
            </a:r>
            <a:r>
              <a:rPr lang="uk-UA" sz="1050" dirty="0"/>
              <a:t>Застосування алгоритмів машинного навчання до обчислення рухливості носіїв заряду у кремнії</a:t>
            </a:r>
            <a:r>
              <a:rPr lang="en-US" sz="1050" dirty="0"/>
              <a:t>. X</a:t>
            </a:r>
            <a:r>
              <a:rPr lang="uk-UA" sz="1050" dirty="0"/>
              <a:t> Українська наукова конференція з фізики напівпровідників УНКФН-</a:t>
            </a:r>
            <a:r>
              <a:rPr lang="en-US" sz="1050" dirty="0"/>
              <a:t>10</a:t>
            </a:r>
            <a:r>
              <a:rPr lang="uk-UA" sz="1050" dirty="0"/>
              <a:t>, Ужгород, Україна, 202</a:t>
            </a:r>
            <a:r>
              <a:rPr lang="en-US" sz="1050" dirty="0"/>
              <a:t>5</a:t>
            </a:r>
            <a:r>
              <a:rPr lang="uk-UA" sz="1050" dirty="0"/>
              <a:t>, Тези доповідей, С. </a:t>
            </a:r>
            <a:r>
              <a:rPr lang="en-US" sz="1050" dirty="0"/>
              <a:t>395-396</a:t>
            </a:r>
            <a:endParaRPr lang="ru-UA" sz="105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E1F9CBB-CE41-67E1-ABAC-2BD1E25FF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083" y="4209246"/>
            <a:ext cx="1569034" cy="204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8ADBFF8-EC43-BC81-89E6-9FF6EE672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7938" y="4209246"/>
            <a:ext cx="1547002" cy="2016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9DA0453-9866-3AE2-96D2-3020B7D9E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388" y="1499319"/>
            <a:ext cx="3341458" cy="255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700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682</Words>
  <Application>Microsoft Office PowerPoint</Application>
  <PresentationFormat>Широкий екран</PresentationFormat>
  <Paragraphs>14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Тема Office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Наталия Резник</dc:creator>
  <cp:lastModifiedBy>я</cp:lastModifiedBy>
  <cp:revision>4</cp:revision>
  <dcterms:created xsi:type="dcterms:W3CDTF">2025-10-20T18:16:29Z</dcterms:created>
  <dcterms:modified xsi:type="dcterms:W3CDTF">2025-10-27T19:49:47Z</dcterms:modified>
</cp:coreProperties>
</file>