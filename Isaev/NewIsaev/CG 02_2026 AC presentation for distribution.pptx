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 bookmarkIdSeed="2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56" r:id="rId5"/>
    <p:sldId id="327" r:id="rId6"/>
    <p:sldId id="257" r:id="rId7"/>
    <p:sldId id="328" r:id="rId8"/>
    <p:sldId id="403" r:id="rId9"/>
    <p:sldId id="483" r:id="rId10"/>
    <p:sldId id="484" r:id="rId11"/>
    <p:sldId id="487" r:id="rId12"/>
    <p:sldId id="489" r:id="rId13"/>
    <p:sldId id="490" r:id="rId14"/>
    <p:sldId id="491" r:id="rId15"/>
    <p:sldId id="485" r:id="rId16"/>
    <p:sldId id="486" r:id="rId17"/>
    <p:sldId id="492" r:id="rId18"/>
    <p:sldId id="488" r:id="rId19"/>
    <p:sldId id="417" r:id="rId20"/>
    <p:sldId id="48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9F9"/>
    <a:srgbClr val="627272"/>
    <a:srgbClr val="FF6600"/>
    <a:srgbClr val="3E7090"/>
    <a:srgbClr val="685135"/>
    <a:srgbClr val="BDA07D"/>
    <a:srgbClr val="93A5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Style léger 1 - Accentuation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Style léger 1 - Accentuation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Style léger 1 - Accentuation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8FB837D-C827-4EFA-A057-4D05807E0F7C}" styleName="Style à thème 1 - Accentuation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DBED569-4797-4DF1-A0F4-6AAB3CD982D8}" styleName="Style léger 3 - Accentuation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31" autoAdjust="0"/>
    <p:restoredTop sz="94087" autoAdjust="0"/>
  </p:normalViewPr>
  <p:slideViewPr>
    <p:cSldViewPr snapToGrid="0">
      <p:cViewPr varScale="1">
        <p:scale>
          <a:sx n="152" d="100"/>
          <a:sy n="152" d="100"/>
        </p:scale>
        <p:origin x="2820" y="1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707"/>
    </p:cViewPr>
  </p:sorterViewPr>
  <p:notesViewPr>
    <p:cSldViewPr snapToGrid="0">
      <p:cViewPr varScale="1">
        <p:scale>
          <a:sx n="125" d="100"/>
          <a:sy n="125" d="100"/>
        </p:scale>
        <p:origin x="4860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EAF03AE-1CC2-475F-B909-50970E9699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63C45E-73BA-4C86-A24F-A5006B4E7BA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37A4CE-17BB-4BB2-AC7B-97495293E2AC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1DB874-DF6A-4AFA-8055-4AD7EE4CE3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77078F-04CB-4625-B536-5BCAA2EC6C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0EF92D-82DD-4142-BCE8-036B91487D2E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070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86C8F5-2FDA-4718-81AA-24F4816BBD56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8EC616-C518-4358-9496-6C33B2F5FA56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322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910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21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1288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5930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666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8507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2833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290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4476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890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EC616-C518-4358-9496-6C33B2F5FA56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573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44ACCFF-64A9-40AA-93F9-86E3CE016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769" y="2683895"/>
            <a:ext cx="5278514" cy="2862225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5000" cap="all" spc="2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D785D0F-160C-4A31-93B3-F251B07307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5636" y="5568698"/>
            <a:ext cx="5278514" cy="61814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0" i="0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1CCC134-2698-41E9-A225-76300EF59E5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143875" y="947737"/>
            <a:ext cx="4048124" cy="4962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2127806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4C813-EE84-4C00-BDF7-2FD444FA42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01580" y="942423"/>
            <a:ext cx="4694420" cy="1124392"/>
          </a:xfrm>
          <a:prstGeom prst="rect">
            <a:avLst/>
          </a:prstGeom>
        </p:spPr>
        <p:txBody>
          <a:bodyPr anchor="b"/>
          <a:lstStyle>
            <a:lvl1pPr>
              <a:defRPr sz="3200" cap="all" spc="200" baseline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41FB44AB-9520-4C96-A83D-2FABD15CBE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10587" y="2329867"/>
            <a:ext cx="4058872" cy="315653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200000"/>
              </a:lnSpc>
              <a:spcBef>
                <a:spcPts val="0"/>
              </a:spcBef>
              <a:buFont typeface="Segoe UI Light" panose="020B0502040204020203" pitchFamily="34" charset="0"/>
              <a:buNone/>
              <a:defRPr sz="2000" cap="none" spc="50" baseline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B1A04-4BA1-4FCF-B19E-6A052911C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963D0-E42B-4D8E-BA42-3528D3C094AD}" type="datetime1">
              <a:rPr lang="fr-FR" smtClean="0"/>
              <a:t>09/02/2026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D33EA-800C-403C-867B-B4178A7C3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0285C91D-2914-4BB9-A857-7DFA168C761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83361" y="0"/>
            <a:ext cx="3598052" cy="32581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896BB5-7888-43CA-A76C-BF7DE06DF2B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83361" y="3599895"/>
            <a:ext cx="3598052" cy="32581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8D158-80CE-4259-AE40-6EC8A072E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022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EC8E4-E66E-43DD-B7F9-77510035AC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7600" y="2921000"/>
            <a:ext cx="4749800" cy="527050"/>
          </a:xfrm>
          <a:prstGeom prst="rect">
            <a:avLst/>
          </a:prstGeom>
        </p:spPr>
        <p:txBody>
          <a:bodyPr anchor="b"/>
          <a:lstStyle>
            <a:lvl1pPr>
              <a:defRPr sz="3200" cap="all" spc="200" baseline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DA549A2-F99E-46CF-BFF2-0F2D5834E1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8200" y="492125"/>
            <a:ext cx="4114800" cy="5372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8E76B184-0041-41D4-948C-64DE4AB097C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97600" y="3429000"/>
            <a:ext cx="4749800" cy="212997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400" cap="none" spc="50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B09CA-52A5-4AB5-AF1F-8A2194181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6B838-16B4-48A5-8EB9-7A60F933B583}" type="datetime1">
              <a:rPr lang="fr-FR" smtClean="0"/>
              <a:t>09/02/2026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5B9A3-008F-4631-AAAD-66E8363F3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47ADF-979E-4B05-BD10-4C2F27964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361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mary 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38C8EB8A-A968-4E47-AE69-9A01E7717EB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98402" y="598401"/>
            <a:ext cx="9645056" cy="56611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A198BF-0DCC-40E9-B9E5-892F3CCF54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69978" y="3443968"/>
            <a:ext cx="6022021" cy="882499"/>
          </a:xfrm>
          <a:prstGeom prst="rect">
            <a:avLst/>
          </a:prstGeom>
          <a:solidFill>
            <a:schemeClr val="accent4">
              <a:alpha val="80000"/>
            </a:schemeClr>
          </a:solidFill>
        </p:spPr>
        <p:txBody>
          <a:bodyPr lIns="1371600" tIns="457200" anchor="ctr" anchorCtr="0"/>
          <a:lstStyle>
            <a:lvl1pPr>
              <a:defRPr sz="3200" cap="all" spc="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FAD04F8B-0B18-4B5F-B3A8-8EEDC439F5F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69979" y="4326467"/>
            <a:ext cx="6022021" cy="830414"/>
          </a:xfrm>
          <a:prstGeom prst="rect">
            <a:avLst/>
          </a:prstGeom>
          <a:solidFill>
            <a:schemeClr val="accent4">
              <a:alpha val="80000"/>
            </a:schemeClr>
          </a:solidFill>
        </p:spPr>
        <p:txBody>
          <a:bodyPr lIns="1371600" bIns="365760" anchor="ctr"/>
          <a:lstStyle>
            <a:lvl1pPr marL="0" indent="0" algn="l">
              <a:buNone/>
              <a:defRPr sz="2000" i="0" cap="none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593073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rterly Performa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EE33C-7BB8-4644-AC43-EAFCF071A5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9663" y="498928"/>
            <a:ext cx="9972675" cy="567873"/>
          </a:xfrm>
          <a:prstGeom prst="rect">
            <a:avLst/>
          </a:prstGeom>
        </p:spPr>
        <p:txBody>
          <a:bodyPr/>
          <a:lstStyle>
            <a:lvl1pPr algn="ctr">
              <a:defRPr sz="3200" cap="all" spc="200" baseline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6A6D30-3C9B-4105-8529-1FC3C4799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24B24-8A13-4317-9578-881CA09087F0}" type="datetime1">
              <a:rPr lang="fr-FR" smtClean="0"/>
              <a:t>09/02/2026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6CE03B-D3BE-49C6-B2A4-0E17803F1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B961D-2B84-4E52-A71A-1C55CFFD8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271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eas of Grow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AA794-F088-4753-95A0-021064EE61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94166"/>
            <a:ext cx="10515600" cy="567873"/>
          </a:xfrm>
          <a:prstGeom prst="rect">
            <a:avLst/>
          </a:prstGeom>
        </p:spPr>
        <p:txBody>
          <a:bodyPr/>
          <a:lstStyle>
            <a:lvl1pPr algn="ctr">
              <a:defRPr sz="3200" cap="all" spc="200" baseline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C3E83D-2F76-4F03-9EF6-81DED4065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25D00-ECBF-4455-B7CD-40C24609FCD1}" type="datetime1">
              <a:rPr lang="fr-FR" smtClean="0"/>
              <a:t>09/02/2026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D99F77-FE1A-4CD5-8B1C-50D8981A1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4CA1C4-7C3D-4FAE-B5FC-D235F6D9E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488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8E96375-73CE-4ED7-90B6-293AB27ED0A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4E8AED7C-EFC3-4427-AD37-E7AA4AF0C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1181910"/>
            <a:ext cx="12192000" cy="3352227"/>
          </a:xfrm>
          <a:custGeom>
            <a:avLst/>
            <a:gdLst>
              <a:gd name="connsiteX0" fmla="*/ 11721830 w 12192000"/>
              <a:gd name="connsiteY0" fmla="*/ 0 h 3352227"/>
              <a:gd name="connsiteX1" fmla="*/ 12192000 w 12192000"/>
              <a:gd name="connsiteY1" fmla="*/ 0 h 3352227"/>
              <a:gd name="connsiteX2" fmla="*/ 12192000 w 12192000"/>
              <a:gd name="connsiteY2" fmla="*/ 3352227 h 3352227"/>
              <a:gd name="connsiteX3" fmla="*/ 11721830 w 12192000"/>
              <a:gd name="connsiteY3" fmla="*/ 3352227 h 3352227"/>
              <a:gd name="connsiteX4" fmla="*/ 0 w 12192000"/>
              <a:gd name="connsiteY4" fmla="*/ 0 h 3352227"/>
              <a:gd name="connsiteX5" fmla="*/ 5525311 w 12192000"/>
              <a:gd name="connsiteY5" fmla="*/ 0 h 3352227"/>
              <a:gd name="connsiteX6" fmla="*/ 5525311 w 12192000"/>
              <a:gd name="connsiteY6" fmla="*/ 3352227 h 3352227"/>
              <a:gd name="connsiteX7" fmla="*/ 0 w 12192000"/>
              <a:gd name="connsiteY7" fmla="*/ 3352227 h 3352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352227">
                <a:moveTo>
                  <a:pt x="11721830" y="0"/>
                </a:moveTo>
                <a:lnTo>
                  <a:pt x="12192000" y="0"/>
                </a:lnTo>
                <a:lnTo>
                  <a:pt x="12192000" y="3352227"/>
                </a:lnTo>
                <a:lnTo>
                  <a:pt x="11721830" y="3352227"/>
                </a:lnTo>
                <a:close/>
                <a:moveTo>
                  <a:pt x="0" y="0"/>
                </a:moveTo>
                <a:lnTo>
                  <a:pt x="5525311" y="0"/>
                </a:lnTo>
                <a:lnTo>
                  <a:pt x="5525311" y="3352227"/>
                </a:lnTo>
                <a:lnTo>
                  <a:pt x="0" y="3352227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  <a:alpha val="85000"/>
            </a:schemeClr>
          </a:solidFill>
        </p:spPr>
        <p:txBody>
          <a:bodyPr lIns="960120" rIns="7315200" anchor="b"/>
          <a:lstStyle>
            <a:lvl1pPr>
              <a:defRPr lang="en-US" sz="3200" cap="all" spc="200" baseline="0" dirty="0"/>
            </a:lvl1pPr>
          </a:lstStyle>
          <a:p>
            <a:pPr marL="0" lvl="0"/>
            <a:r>
              <a:rPr lang="en-US" dirty="0"/>
              <a:t>Click to add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2FF0B66-A4D6-423A-AC8B-48E8CD7DF8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4534137"/>
            <a:ext cx="12192000" cy="1141953"/>
          </a:xfrm>
          <a:custGeom>
            <a:avLst/>
            <a:gdLst>
              <a:gd name="connsiteX0" fmla="*/ 11721830 w 12192000"/>
              <a:gd name="connsiteY0" fmla="*/ 1 h 1141953"/>
              <a:gd name="connsiteX1" fmla="*/ 12192000 w 12192000"/>
              <a:gd name="connsiteY1" fmla="*/ 1 h 1141953"/>
              <a:gd name="connsiteX2" fmla="*/ 12192000 w 12192000"/>
              <a:gd name="connsiteY2" fmla="*/ 1141953 h 1141953"/>
              <a:gd name="connsiteX3" fmla="*/ 11721830 w 12192000"/>
              <a:gd name="connsiteY3" fmla="*/ 1141953 h 1141953"/>
              <a:gd name="connsiteX4" fmla="*/ 0 w 12192000"/>
              <a:gd name="connsiteY4" fmla="*/ 0 h 1141953"/>
              <a:gd name="connsiteX5" fmla="*/ 5525311 w 12192000"/>
              <a:gd name="connsiteY5" fmla="*/ 0 h 1141953"/>
              <a:gd name="connsiteX6" fmla="*/ 5525311 w 12192000"/>
              <a:gd name="connsiteY6" fmla="*/ 1141952 h 1141953"/>
              <a:gd name="connsiteX7" fmla="*/ 0 w 12192000"/>
              <a:gd name="connsiteY7" fmla="*/ 1141952 h 1141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141953">
                <a:moveTo>
                  <a:pt x="11721830" y="1"/>
                </a:moveTo>
                <a:lnTo>
                  <a:pt x="12192000" y="1"/>
                </a:lnTo>
                <a:lnTo>
                  <a:pt x="12192000" y="1141953"/>
                </a:lnTo>
                <a:lnTo>
                  <a:pt x="11721830" y="1141953"/>
                </a:lnTo>
                <a:close/>
                <a:moveTo>
                  <a:pt x="0" y="0"/>
                </a:moveTo>
                <a:lnTo>
                  <a:pt x="5525311" y="0"/>
                </a:lnTo>
                <a:lnTo>
                  <a:pt x="5525311" y="1141952"/>
                </a:lnTo>
                <a:lnTo>
                  <a:pt x="0" y="1141952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  <a:alpha val="85000"/>
            </a:schemeClr>
          </a:solidFill>
        </p:spPr>
        <p:txBody>
          <a:bodyPr lIns="960120" tIns="137160" rIns="6400800" anchor="t"/>
          <a:lstStyle>
            <a:lvl1pPr marL="0" indent="0">
              <a:buNone/>
              <a:defRPr lang="en-US" sz="2000" b="0" i="0" spc="200" baseline="0" dirty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marL="228600" lvl="0" indent="-228600"/>
            <a:r>
              <a:rPr lang="en-US" dirty="0"/>
              <a:t>Click to add name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52883E-0EA3-4DCA-BB78-AD84BBE53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B49D4E01-BF7C-412C-B45C-B59751968386}" type="datetime1">
              <a:rPr lang="fr-FR" smtClean="0"/>
              <a:t>09/02/2026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1860F9-7B15-486D-B68B-1D5E02F61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0B89DE-8ADC-4391-8EAF-C713EA699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F91729D4-A164-47A3-830D-E792BCE699E4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063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886F38-E337-4504-BF25-D65176023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274260"/>
            <a:ext cx="12192000" cy="2583739"/>
          </a:xfrm>
          <a:prstGeom prst="rect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93D2BF-453A-45BE-9E29-EC3F8D9F55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9846" y="1487527"/>
            <a:ext cx="2581554" cy="1325563"/>
          </a:xfrm>
          <a:prstGeom prst="rect">
            <a:avLst/>
          </a:prstGeom>
        </p:spPr>
        <p:txBody>
          <a:bodyPr anchor="b"/>
          <a:lstStyle>
            <a:lvl1pPr algn="ctr">
              <a:defRPr sz="3200" cap="all" spc="200" baseline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1" name="Picture Placeholder 9">
            <a:extLst>
              <a:ext uri="{FF2B5EF4-FFF2-40B4-BE49-F238E27FC236}">
                <a16:creationId xmlns:a16="http://schemas.microsoft.com/office/drawing/2014/main" id="{C47B8159-559E-42C4-AA5B-7642DE42745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793630" y="677419"/>
            <a:ext cx="2357652" cy="1622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52" name="Text Placeholder 17">
            <a:extLst>
              <a:ext uri="{FF2B5EF4-FFF2-40B4-BE49-F238E27FC236}">
                <a16:creationId xmlns:a16="http://schemas.microsoft.com/office/drawing/2014/main" id="{9E9FA76D-767D-4F48-9238-F384F4D4169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93628" y="2299842"/>
            <a:ext cx="2357652" cy="475149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cap="all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53" name="Text Placeholder 17">
            <a:extLst>
              <a:ext uri="{FF2B5EF4-FFF2-40B4-BE49-F238E27FC236}">
                <a16:creationId xmlns:a16="http://schemas.microsoft.com/office/drawing/2014/main" id="{40F2B787-B1D2-493C-ABA2-D6E69C4800D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793628" y="2774990"/>
            <a:ext cx="2357652" cy="47514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i="0" cap="none" spc="200" baseline="0"/>
            </a:lvl1pPr>
          </a:lstStyle>
          <a:p>
            <a:pPr lvl="0"/>
            <a:r>
              <a:rPr lang="en-US" dirty="0"/>
              <a:t>Click to title</a:t>
            </a:r>
          </a:p>
        </p:txBody>
      </p:sp>
      <p:sp>
        <p:nvSpPr>
          <p:cNvPr id="54" name="Picture Placeholder 9">
            <a:extLst>
              <a:ext uri="{FF2B5EF4-FFF2-40B4-BE49-F238E27FC236}">
                <a16:creationId xmlns:a16="http://schemas.microsoft.com/office/drawing/2014/main" id="{7FCC4980-412C-49F7-BF30-8693DD9EAC03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431774" y="677419"/>
            <a:ext cx="2357652" cy="1622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55" name="Text Placeholder 17">
            <a:extLst>
              <a:ext uri="{FF2B5EF4-FFF2-40B4-BE49-F238E27FC236}">
                <a16:creationId xmlns:a16="http://schemas.microsoft.com/office/drawing/2014/main" id="{B9BD60DD-95CB-47D1-9C2F-5ACD388206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431772" y="2299842"/>
            <a:ext cx="2357652" cy="475149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cap="all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56" name="Text Placeholder 17">
            <a:extLst>
              <a:ext uri="{FF2B5EF4-FFF2-40B4-BE49-F238E27FC236}">
                <a16:creationId xmlns:a16="http://schemas.microsoft.com/office/drawing/2014/main" id="{19FF93B2-766D-4558-94BE-49F215C0FF7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31772" y="2774990"/>
            <a:ext cx="2357652" cy="47514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i="0" cap="none" spc="200" baseline="0"/>
            </a:lvl1pPr>
          </a:lstStyle>
          <a:p>
            <a:pPr lvl="0"/>
            <a:r>
              <a:rPr lang="en-US" dirty="0"/>
              <a:t>Click to title</a:t>
            </a:r>
          </a:p>
        </p:txBody>
      </p:sp>
      <p:sp>
        <p:nvSpPr>
          <p:cNvPr id="57" name="Picture Placeholder 9">
            <a:extLst>
              <a:ext uri="{FF2B5EF4-FFF2-40B4-BE49-F238E27FC236}">
                <a16:creationId xmlns:a16="http://schemas.microsoft.com/office/drawing/2014/main" id="{F16F9FCC-4EE2-4D18-8257-694E9C80F547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793630" y="3250138"/>
            <a:ext cx="2357652" cy="1622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58" name="Text Placeholder 17">
            <a:extLst>
              <a:ext uri="{FF2B5EF4-FFF2-40B4-BE49-F238E27FC236}">
                <a16:creationId xmlns:a16="http://schemas.microsoft.com/office/drawing/2014/main" id="{F434B9BC-2EC7-4433-BAA8-039EB5BED5C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793628" y="4872561"/>
            <a:ext cx="2357652" cy="475149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cap="all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6F08FB05-53FB-4C19-A35C-592C4DFDFF4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93628" y="5347709"/>
            <a:ext cx="2357652" cy="47514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 i="0" cap="none" spc="200" baseline="0"/>
            </a:lvl1pPr>
          </a:lstStyle>
          <a:p>
            <a:pPr lvl="0"/>
            <a:r>
              <a:rPr lang="en-US" dirty="0"/>
              <a:t>Click to title</a:t>
            </a:r>
          </a:p>
        </p:txBody>
      </p:sp>
      <p:sp>
        <p:nvSpPr>
          <p:cNvPr id="60" name="Picture Placeholder 9">
            <a:extLst>
              <a:ext uri="{FF2B5EF4-FFF2-40B4-BE49-F238E27FC236}">
                <a16:creationId xmlns:a16="http://schemas.microsoft.com/office/drawing/2014/main" id="{9589D7D2-07DF-415C-A139-E911869A1BCC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7431774" y="3250138"/>
            <a:ext cx="2357652" cy="1622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E622F2E3-2C07-4ABC-A803-40361BBB738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431772" y="4872561"/>
            <a:ext cx="2357652" cy="475149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cap="all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2" name="Text Placeholder 17">
            <a:extLst>
              <a:ext uri="{FF2B5EF4-FFF2-40B4-BE49-F238E27FC236}">
                <a16:creationId xmlns:a16="http://schemas.microsoft.com/office/drawing/2014/main" id="{B505FD93-2404-46B6-9EE0-9CABFC5233E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431772" y="5347709"/>
            <a:ext cx="2357652" cy="47514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i="0" cap="none" spc="200" baseline="0"/>
            </a:lvl1pPr>
          </a:lstStyle>
          <a:p>
            <a:pPr lvl="0"/>
            <a:r>
              <a:rPr lang="en-US" dirty="0"/>
              <a:t>Click to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91FF20-37AD-4448-896C-C37172D16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2A94E-FAD2-45FC-8424-FD599FF01D60}" type="datetime1">
              <a:rPr lang="fr-FR" smtClean="0"/>
              <a:t>09/02/2026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6AF771-F500-4564-96BB-2AC1F13F9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54F218-0E34-408C-AB25-76184E9AC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753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886F38-E337-4504-BF25-D65176023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274260"/>
            <a:ext cx="12192000" cy="2583739"/>
          </a:xfrm>
          <a:prstGeom prst="rect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0116A5-69B8-43BF-B141-AC2A4B6CEB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217" y="1207697"/>
            <a:ext cx="2970156" cy="1622912"/>
          </a:xfrm>
          <a:prstGeom prst="rect">
            <a:avLst/>
          </a:prstGeom>
        </p:spPr>
        <p:txBody>
          <a:bodyPr anchor="b"/>
          <a:lstStyle>
            <a:lvl1pPr algn="ctr">
              <a:defRPr sz="3200" cap="all" spc="200" baseline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D283EBF-8FBA-4A7A-9DCE-23E0BF7F6A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780553" y="1153717"/>
            <a:ext cx="1412050" cy="11472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8D76D02-A6E3-446F-B85B-CAD9ED06415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51733" y="2299842"/>
            <a:ext cx="2069690" cy="475149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400" cap="all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90954B1A-CAD7-4645-A1B3-1A5EFD54C97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51733" y="2774991"/>
            <a:ext cx="2069690" cy="67212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100" b="0" i="0" cap="none" spc="200" baseline="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D517EAC0-89E0-4247-B048-92F65C868A7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5891925" y="1153717"/>
            <a:ext cx="1412050" cy="11472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7F5710E0-5399-4C8A-9D92-390195CB6F2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563105" y="2299842"/>
            <a:ext cx="2069690" cy="475149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400" cap="all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019883F1-27DD-46A1-AD71-3AE14256007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563105" y="2774991"/>
            <a:ext cx="2069690" cy="67212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100" b="0" i="0" cap="none" spc="200" baseline="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7847BEB8-AC95-445E-AFB4-34B7658BB992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8003297" y="1153717"/>
            <a:ext cx="1412049" cy="11472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82B5CAB5-1932-4DC0-BBBD-8ABA7C5D5DE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74476" y="2299842"/>
            <a:ext cx="2069690" cy="475149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400" cap="all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E248F87C-2911-41CB-A4BD-6ECD4E13B8C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674476" y="2774991"/>
            <a:ext cx="2069690" cy="67212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100" b="0" i="0" cap="none" spc="200" baseline="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7" name="Picture Placeholder 9">
            <a:extLst>
              <a:ext uri="{FF2B5EF4-FFF2-40B4-BE49-F238E27FC236}">
                <a16:creationId xmlns:a16="http://schemas.microsoft.com/office/drawing/2014/main" id="{7B6B3681-1E21-44DA-AADA-F5E638A87423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10114667" y="1153717"/>
            <a:ext cx="1412049" cy="11472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2D88AD4B-15C6-42C2-B9A5-BD645DA67D7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785846" y="2299842"/>
            <a:ext cx="2069690" cy="475149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400" cap="all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D79E337C-DD94-4BC6-9F28-69AC04CD2B3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785846" y="2774991"/>
            <a:ext cx="2069690" cy="67212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100" b="0" i="0" cap="none" spc="200" baseline="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B50A84FF-F66B-4AB8-837C-E3025F19E9C0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3780553" y="3614936"/>
            <a:ext cx="1412050" cy="11472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540D9937-87C5-40B3-86E6-F1CBFCA40CA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51733" y="4767397"/>
            <a:ext cx="2069691" cy="476403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400" cap="all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C81570DE-3568-4F16-9DF8-269B29DDE60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51733" y="5242840"/>
            <a:ext cx="2069691" cy="69719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100" b="0" i="0" cap="none" spc="200" baseline="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41C26642-ECFF-4F11-B242-BBBA5D672DA0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5891925" y="3614936"/>
            <a:ext cx="1412050" cy="11472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E4E35F3-EC7A-489D-985F-0CA9F0402B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563105" y="4768651"/>
            <a:ext cx="2069691" cy="475149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400" cap="all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55AFBE6C-8E28-48EC-8798-5E463B8E47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563105" y="5243800"/>
            <a:ext cx="2069691" cy="69536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100" b="0" i="0" cap="none" spc="200" baseline="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BCC40003-8966-4A03-9C79-EB95966FFE0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8003297" y="3614936"/>
            <a:ext cx="1412049" cy="11472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023FE51B-CC62-42E7-BCF7-123DB0B9244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74476" y="4768651"/>
            <a:ext cx="2069690" cy="475149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400" cap="all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3CA6C07A-2E37-4897-AF99-5152B241E38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674476" y="5243800"/>
            <a:ext cx="2069690" cy="69536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100" b="0" i="0" cap="none" spc="200" baseline="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8" name="Picture Placeholder 9">
            <a:extLst>
              <a:ext uri="{FF2B5EF4-FFF2-40B4-BE49-F238E27FC236}">
                <a16:creationId xmlns:a16="http://schemas.microsoft.com/office/drawing/2014/main" id="{026B0125-C5D1-4397-BA37-9D1FCB7DA71E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10114667" y="3614936"/>
            <a:ext cx="1412049" cy="11472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A57BE95A-45E1-4F78-9162-0D9005657D7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785846" y="4768651"/>
            <a:ext cx="2069690" cy="475149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400" cap="all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EF2F2B86-E2A2-406A-9EED-2FBD6601798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785846" y="5243800"/>
            <a:ext cx="2069690" cy="69536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100" b="0" i="0" cap="none" spc="200" baseline="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91FF20-37AD-4448-896C-C37172D16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08EB9-54EE-4A7A-95A2-759CA0B1FB39}" type="datetime1">
              <a:rPr lang="fr-FR" smtClean="0"/>
              <a:t>09/02/2026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6AF771-F500-4564-96BB-2AC1F13F9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54F218-0E34-408C-AB25-76184E9AC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729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Launch">
    <p:bg>
      <p:bgPr>
        <a:solidFill>
          <a:schemeClr val="bg1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101351-79F8-4AD7-A22B-E7AFB1C69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274260"/>
            <a:ext cx="12192000" cy="2583739"/>
          </a:xfrm>
          <a:prstGeom prst="rect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9A49BC-8099-40DE-8210-5A1CBAA423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98928"/>
            <a:ext cx="10515600" cy="567872"/>
          </a:xfrm>
          <a:prstGeom prst="rect">
            <a:avLst/>
          </a:prstGeom>
        </p:spPr>
        <p:txBody>
          <a:bodyPr/>
          <a:lstStyle>
            <a:lvl1pPr algn="ctr">
              <a:defRPr sz="3200" cap="all" spc="200" baseline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B7BBE6-4278-4E33-9044-72A2E0C0E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8564" y="1585733"/>
            <a:ext cx="2065188" cy="3995918"/>
          </a:xfrm>
          <a:prstGeom prst="rect">
            <a:avLst/>
          </a:prstGeom>
          <a:solidFill>
            <a:srgbClr val="3E70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0E549E-0E7C-4599-B51C-97AA7E525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32832" y="1585733"/>
            <a:ext cx="2065188" cy="3995918"/>
          </a:xfrm>
          <a:prstGeom prst="rect">
            <a:avLst/>
          </a:prstGeom>
          <a:solidFill>
            <a:srgbClr val="93A5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7C507F-AD4D-47B6-88C3-C1D0154FB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63405" y="1585733"/>
            <a:ext cx="2065188" cy="3995918"/>
          </a:xfrm>
          <a:prstGeom prst="rect">
            <a:avLst/>
          </a:prstGeom>
          <a:solidFill>
            <a:srgbClr val="6272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0266B1-BBD1-44C0-8D4C-4E651D320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3980" y="1585733"/>
            <a:ext cx="2065188" cy="3995918"/>
          </a:xfrm>
          <a:prstGeom prst="rect">
            <a:avLst/>
          </a:prstGeom>
          <a:solidFill>
            <a:srgbClr val="BDA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1BB1CE-E3FA-4E7F-A54B-3FB675098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11052" y="1585733"/>
            <a:ext cx="2065188" cy="3995918"/>
          </a:xfrm>
          <a:prstGeom prst="rect">
            <a:avLst/>
          </a:prstGeom>
          <a:solidFill>
            <a:srgbClr val="6851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5D11F63-A3DB-4EB1-9148-6E8C6678D1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7843" y="2434147"/>
            <a:ext cx="1826631" cy="7762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96E63495-7407-4360-95F6-82D0C68813B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7843" y="3267049"/>
            <a:ext cx="1826631" cy="152768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spc="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3A879552-0B9C-48EC-8D07-A24DB252D63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52111" y="2443870"/>
            <a:ext cx="1826631" cy="7762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8337BD60-5C54-4FEC-A9D6-5C29EB94799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52111" y="3276772"/>
            <a:ext cx="1826631" cy="152768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spc="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25F7073D-87C3-473A-9A04-748C3F68265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82684" y="2434147"/>
            <a:ext cx="1826631" cy="7762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5" name="Text Placeholder 22">
            <a:extLst>
              <a:ext uri="{FF2B5EF4-FFF2-40B4-BE49-F238E27FC236}">
                <a16:creationId xmlns:a16="http://schemas.microsoft.com/office/drawing/2014/main" id="{5CB2BF3B-6E9D-4A28-A938-C9CC9E4964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2684" y="3267049"/>
            <a:ext cx="1826631" cy="152768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spc="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94E179CD-2F9C-44FA-813E-253ACC4A978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413259" y="2443870"/>
            <a:ext cx="1826631" cy="7762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34D58360-D7DD-4F33-A29E-5F4835C2DC5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413259" y="3276772"/>
            <a:ext cx="1826631" cy="152768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spc="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8" name="Text Placeholder 22">
            <a:extLst>
              <a:ext uri="{FF2B5EF4-FFF2-40B4-BE49-F238E27FC236}">
                <a16:creationId xmlns:a16="http://schemas.microsoft.com/office/drawing/2014/main" id="{AA5A81E7-83B9-4A30-9A57-98FFF271606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630331" y="2434147"/>
            <a:ext cx="1826631" cy="7762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9" name="Text Placeholder 22">
            <a:extLst>
              <a:ext uri="{FF2B5EF4-FFF2-40B4-BE49-F238E27FC236}">
                <a16:creationId xmlns:a16="http://schemas.microsoft.com/office/drawing/2014/main" id="{C45C6D3E-88B9-42D5-9A94-6D2B9CA3CDD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630331" y="3267049"/>
            <a:ext cx="1826631" cy="152768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spc="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43D60E-3024-42AA-9CF9-A44192AE7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2CEF-B361-4483-B411-6E22C24B45FD}" type="datetime1">
              <a:rPr lang="fr-FR" smtClean="0"/>
              <a:t>09/02/2026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2FBC6-68D1-4570-A549-C4A925FB8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E1DC1F-6117-4AB4-9BF1-878D4F820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537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8B9A4D3-8D91-4865-B422-5F60885A7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592874" y="3684898"/>
            <a:ext cx="9006253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0ECDAF5-DEB9-4A0C-9165-6ED23184A3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98928"/>
            <a:ext cx="10515600" cy="565435"/>
          </a:xfrm>
          <a:prstGeom prst="rect">
            <a:avLst/>
          </a:prstGeom>
        </p:spPr>
        <p:txBody>
          <a:bodyPr/>
          <a:lstStyle>
            <a:lvl1pPr algn="ctr">
              <a:defRPr sz="3200" cap="all" spc="200" baseline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FEA1AD-EC70-422F-BADD-FCA14BF9D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428750" y="3520775"/>
            <a:ext cx="328246" cy="32824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84996E-63EA-4C88-816A-3AE158BB5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80314" y="3520775"/>
            <a:ext cx="328246" cy="3282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A09893-F9A1-4FA2-A462-C1C443EC3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31878" y="3520775"/>
            <a:ext cx="328246" cy="328246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9FBC17-744B-4367-90B4-20C9CDBD1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83442" y="3520775"/>
            <a:ext cx="328246" cy="328246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FD6CCE-53EA-424C-A29B-35A77F7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35004" y="3520775"/>
            <a:ext cx="328246" cy="328246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ADC218-9303-4431-8BD2-4D5F9C19A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92873" y="2964383"/>
            <a:ext cx="0" cy="41571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F724929-97F8-4988-BD69-D86CAA6950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6001" y="2964383"/>
            <a:ext cx="0" cy="415716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0FEF08-1FB7-46B4-AB6B-D672A96A71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599127" y="2964383"/>
            <a:ext cx="0" cy="415716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8BA510CE-108D-434A-9BE7-BE67121752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5172" y="1627860"/>
            <a:ext cx="2251564" cy="498496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800" cap="all" baseline="0">
                <a:solidFill>
                  <a:schemeClr val="tx2"/>
                </a:solidFill>
                <a:latin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00414708-82D0-44BF-8CBD-2D165A38561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5172" y="2135346"/>
            <a:ext cx="2251564" cy="812407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sz="1400" spc="5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272F07D4-1C66-4FA2-8361-FC6267F177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70216" y="1637385"/>
            <a:ext cx="2251564" cy="498496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800" cap="all" baseline="0">
                <a:solidFill>
                  <a:schemeClr val="accent5">
                    <a:lumMod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432C0CF3-19F3-4C10-9EEC-BA5E5F3FD22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70216" y="2144871"/>
            <a:ext cx="2251564" cy="812407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sz="1400" spc="50" baseline="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4A3A0AFC-7EB9-4059-8C59-C42379BA923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73340" y="1637385"/>
            <a:ext cx="2251564" cy="498496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800" cap="all" baseline="0">
                <a:solidFill>
                  <a:schemeClr val="accent6">
                    <a:lumMod val="50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417F27A8-21AF-48E6-8A67-65C9920A307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73340" y="2144871"/>
            <a:ext cx="2251564" cy="812407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sz="1400" spc="5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26C8D2A-15B8-4AB1-83F7-74DB0A35CC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16736" y="4400252"/>
            <a:ext cx="2251562" cy="498496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800" cap="all" baseline="0">
                <a:solidFill>
                  <a:schemeClr val="accent2"/>
                </a:solidFill>
                <a:latin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07311D06-DEA1-4811-AC58-E3B935DC5A8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16736" y="4917263"/>
            <a:ext cx="2251562" cy="795563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sz="1400" spc="5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5" name="Text Placeholder 22">
            <a:extLst>
              <a:ext uri="{FF2B5EF4-FFF2-40B4-BE49-F238E27FC236}">
                <a16:creationId xmlns:a16="http://schemas.microsoft.com/office/drawing/2014/main" id="{23AC1CF6-E394-4A35-A634-F187E005A4F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21784" y="4400252"/>
            <a:ext cx="2251562" cy="498496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800" cap="all" baseline="0">
                <a:solidFill>
                  <a:schemeClr val="accent4">
                    <a:lumMod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9F72BEB0-9B11-4205-B9FC-10E5201C813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21784" y="4917263"/>
            <a:ext cx="2251562" cy="795563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sz="1400" spc="50" baseline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E574CD7-C8A6-4F56-81B4-F72FB22E0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844715" y="3977431"/>
            <a:ext cx="0" cy="41571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0FC7994-2504-4FF9-81F5-24405FEF0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47565" y="3977431"/>
            <a:ext cx="0" cy="41571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F63B8-F105-4AC4-889E-C12790C8E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97D59-8B66-49D2-A50D-BCCC1C721CE9}" type="datetime1">
              <a:rPr lang="fr-FR" smtClean="0"/>
              <a:t>09/02/2026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3AAE30-8A46-485A-BD2B-6ADB18563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159F9D-CDA1-4B51-B521-C243219B8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8376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48F598-64F2-429E-B3E0-FC31DC90A0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49956"/>
            <a:ext cx="10515600" cy="726137"/>
          </a:xfrm>
          <a:prstGeom prst="rect">
            <a:avLst/>
          </a:prstGeom>
        </p:spPr>
        <p:txBody>
          <a:bodyPr anchor="ctr"/>
          <a:lstStyle>
            <a:lvl1pPr algn="r">
              <a:defRPr sz="3200" cap="all" spc="200" baseline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B9DAAC-E781-43E6-913C-893B8D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530240"/>
            <a:ext cx="12192001" cy="889369"/>
          </a:xfrm>
          <a:prstGeom prst="rect">
            <a:avLst/>
          </a:prstGeom>
          <a:solidFill>
            <a:schemeClr val="accent6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1C78864A-44CD-4C12-B023-C16330014B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77759" y="2063838"/>
            <a:ext cx="4626764" cy="42236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 i="0" spc="200" baseline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Click to add subtitle here 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6D9CE0F4-78C6-4BD6-9C58-FDFC16FF09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77551" y="2486203"/>
            <a:ext cx="4626293" cy="33257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Segoe UI Light" panose="020B0502040204020203" pitchFamily="34" charset="0"/>
              <a:buNone/>
              <a:defRPr sz="1400" spc="50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B499BD94-B24B-4B23-9B87-81DF413EA4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51708" y="2063837"/>
            <a:ext cx="4626763" cy="42236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 i="0" spc="200" baseline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Click to add subtitle here 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6BC5A941-8EB4-4D4B-9671-6B8FA6447A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2188" y="2486202"/>
            <a:ext cx="4626293" cy="33257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Segoe UI Light" panose="020B0502040204020203" pitchFamily="34" charset="0"/>
              <a:buNone/>
              <a:defRPr sz="1400" spc="50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E3392-5868-4F6C-BFCC-ECCB66A3B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A2194-CF97-4393-AE9A-7E8204FD8AA9}" type="datetime1">
              <a:rPr lang="fr-FR" smtClean="0"/>
              <a:t>09/02/2026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975EE-261C-47D3-A9E5-7401C706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7BB3A-38A2-4A8E-88C2-55FAE758D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179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 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B3E9C-104B-4460-A48D-0C2C5329B8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40431"/>
            <a:ext cx="10515600" cy="726137"/>
          </a:xfrm>
          <a:prstGeom prst="rect">
            <a:avLst/>
          </a:prstGeom>
        </p:spPr>
        <p:txBody>
          <a:bodyPr anchor="ctr"/>
          <a:lstStyle>
            <a:lvl1pPr algn="r">
              <a:defRPr sz="3200" cap="all" spc="200" baseline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6DDC2F-7D33-44CF-9D9F-B342720BB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530240"/>
            <a:ext cx="12192000" cy="889369"/>
          </a:xfrm>
          <a:prstGeom prst="rect">
            <a:avLst/>
          </a:prstGeom>
          <a:solidFill>
            <a:schemeClr val="accent6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9A8189FC-92D4-447F-BE75-86F13BA33B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3140" y="2063838"/>
            <a:ext cx="3515704" cy="4223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 b="0" i="0" spc="200" baseline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Click to add subtitle here 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4FDAEC9F-05AF-4D5D-AD2C-537FF767ED6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2932" y="2523933"/>
            <a:ext cx="3515346" cy="33257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Segoe UI Light" panose="020B0502040204020203" pitchFamily="34" charset="0"/>
              <a:buNone/>
              <a:defRPr sz="1400" spc="50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2492CECA-D20C-47AF-A75A-44DFDE74D8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29790" y="2063838"/>
            <a:ext cx="3515704" cy="4223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 b="0" i="0" spc="200" baseline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Click to add subtitle here 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EEF915A4-555A-4718-876D-625A85FAB0C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29582" y="2523933"/>
            <a:ext cx="3515346" cy="33257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Segoe UI Light" panose="020B0502040204020203" pitchFamily="34" charset="0"/>
              <a:buNone/>
              <a:defRPr sz="1400" spc="50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7458D237-AB82-4392-B182-AAF3694FDB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75874" y="2063838"/>
            <a:ext cx="3515704" cy="4223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 b="0" i="0" spc="200" baseline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Click to add subtitle here 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AAA9CCE2-427A-46C0-A79B-0D01E8888EE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75666" y="2523933"/>
            <a:ext cx="3515346" cy="33257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Segoe UI Light" panose="020B0502040204020203" pitchFamily="34" charset="0"/>
              <a:buNone/>
              <a:defRPr sz="1400" spc="50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A30FE-146C-418D-B68F-9EBB829D0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6A0CB-8694-4207-AC5D-310A31E1035E}" type="datetime1">
              <a:rPr lang="fr-FR" smtClean="0"/>
              <a:t>09/02/2026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CBBE8-05C6-4946-80F5-DE319A6FC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839E0-080F-4A5D-99FB-FD1917E7F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888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C65D0-3E91-45C0-BC6C-CC7BFE58B0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4800" y="3429000"/>
            <a:ext cx="3097320" cy="978408"/>
          </a:xfrm>
          <a:prstGeom prst="rect">
            <a:avLst/>
          </a:prstGeom>
        </p:spPr>
        <p:txBody>
          <a:bodyPr anchor="ctr"/>
          <a:lstStyle>
            <a:lvl1pPr algn="l">
              <a:defRPr sz="3200" cap="all" spc="200" baseline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9651A5D-2C86-4900-A248-8559E39BDAC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20510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D5F84479-AB5A-4587-BAAF-A05E52224B4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35700" y="2854660"/>
            <a:ext cx="4749800" cy="212997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400" cap="none" spc="50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3D8D3253-3A08-4F2F-B6B3-607BBC6B33D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5788241"/>
            <a:ext cx="12192000" cy="10697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B75CEA-DDFB-4C62-B83F-6A0B86FA7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807B85C1-EB46-48F6-A70A-36C91D298E48}" type="datetime1">
              <a:rPr lang="fr-FR" smtClean="0"/>
              <a:t>09/02/2026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425E30-50C5-42DD-911D-36C0E732E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88C855-986C-4539-81CE-5421C8EB7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F91729D4-A164-47A3-830D-E792BCE699E4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2393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8F63EB3-EB79-4150-A7A5-F6756627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3237" y="1096375"/>
            <a:ext cx="4045527" cy="1590790"/>
          </a:xfrm>
          <a:prstGeom prst="rect">
            <a:avLst/>
          </a:prstGeom>
        </p:spPr>
        <p:txBody>
          <a:bodyPr anchor="b"/>
          <a:lstStyle>
            <a:lvl1pPr>
              <a:defRPr sz="3200" cap="all" spc="200" baseline="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89D0B50-E879-41B9-9B1B-EBB40605D1B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951274"/>
            <a:ext cx="2743201" cy="474756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B4D3EE7-1F3B-4AAB-A04D-3162C35A1A9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07354" y="2910720"/>
            <a:ext cx="4011410" cy="2061261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200000"/>
              </a:lnSpc>
              <a:spcBef>
                <a:spcPts val="0"/>
              </a:spcBef>
              <a:buFont typeface="Segoe UI Light" panose="020B0502040204020203" pitchFamily="34" charset="0"/>
              <a:buNone/>
              <a:defRPr sz="2000" b="0" i="0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2A57A12F-74B8-4CBC-816C-F2AC890D1B9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448800" y="951274"/>
            <a:ext cx="2743200" cy="474756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19A048-F803-428B-9A66-6DE56F4DE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1AD1E-7865-4945-A870-95529B81B595}" type="datetime1">
              <a:rPr lang="fr-FR" smtClean="0"/>
              <a:t>09/02/2026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42CDA7-93A6-45DB-9062-E70E51ACB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F08F63-561A-455E-8ED8-20CCE58E7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593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B4E19-B10C-43FA-AB4B-5D0396BD64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1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AC406-F2A8-409A-A664-807EF94B02D4}" type="datetime1">
              <a:rPr lang="fr-FR" smtClean="0"/>
              <a:t>09/02/2026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C552B-0CAD-4920-B258-233A9F86DF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1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83FFB-15A3-4B11-A130-4565577A3F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1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1729D4-A164-47A3-830D-E792BCE699E4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109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2" r:id="rId7"/>
    <p:sldLayoutId id="2147483663" r:id="rId8"/>
    <p:sldLayoutId id="2147483656" r:id="rId9"/>
    <p:sldLayoutId id="2147483657" r:id="rId10"/>
    <p:sldLayoutId id="2147483664" r:id="rId11"/>
    <p:sldLayoutId id="2147483658" r:id="rId12"/>
    <p:sldLayoutId id="2147483659" r:id="rId13"/>
    <p:sldLayoutId id="2147483660" r:id="rId14"/>
    <p:sldLayoutId id="2147483661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st.eu/uploads/2025/11/COST-TRR-Rules-2025-2026.pdf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eu-mace.eu/event/5862:training-school-2026-accelmaps-accelerating-energy-materials-development-from-legacy-labs-to-material-acceleration-platforms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hyperlink" Target="https://forms.office.com/Pages/ResponsePage.aspx?id=AbEFPv7G5UeC4cakELuVwCgJibv2FtVEiG3gZhT3YqlURVBYWTRZME5DWlJVOU9YQ01RUEcwQktRMS4u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forms.office.com/Pages/ResponsePage.aspx?id=9xZkbOgxIEWCTMuTP4OQuXsjyL-l515MkDTrXz9gtT5UMjVCNUNROVkyTlRKM0dHRTlFWDhRWVc2RS4u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D64C50-A740-468A-8AB6-F949358D8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120" y="947737"/>
            <a:ext cx="5278514" cy="3219065"/>
          </a:xfrm>
        </p:spPr>
        <p:txBody>
          <a:bodyPr/>
          <a:lstStyle/>
          <a:p>
            <a:pPr algn="ctr">
              <a:spcBef>
                <a:spcPts val="1800"/>
              </a:spcBef>
            </a:pPr>
            <a:r>
              <a:rPr lang="en-US" sz="3600" b="1" dirty="0"/>
              <a:t>CA22123 EU-MACE: </a:t>
            </a:r>
            <a:br>
              <a:rPr lang="en-US" sz="3600" b="1" dirty="0"/>
            </a:br>
            <a:br>
              <a:rPr lang="en-US" sz="1800" b="1" dirty="0"/>
            </a:br>
            <a:br>
              <a:rPr lang="en-US" sz="3200" b="1" dirty="0"/>
            </a:br>
            <a:br>
              <a:rPr lang="en-US" sz="1800" b="1" dirty="0"/>
            </a:br>
            <a:r>
              <a:rPr lang="en-US" sz="3200" b="1" dirty="0"/>
              <a:t>Core Group monthly update GP3 #4</a:t>
            </a:r>
            <a:endParaRPr lang="en-US" sz="32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F94A06-38B8-4C8F-ABF0-FB763704D0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5636" y="5341811"/>
            <a:ext cx="5857404" cy="1136902"/>
          </a:xfrm>
        </p:spPr>
        <p:txBody>
          <a:bodyPr/>
          <a:lstStyle/>
          <a:p>
            <a:r>
              <a:rPr lang="fr-FR" b="1" dirty="0"/>
              <a:t>Virtual</a:t>
            </a:r>
          </a:p>
          <a:p>
            <a:r>
              <a:rPr lang="fr-FR" b="1" dirty="0"/>
              <a:t>10/02/2026</a:t>
            </a:r>
            <a:endParaRPr lang="en-US" b="1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06CDEB7-77E8-4351-9B76-07896E7317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96075" y="0"/>
            <a:ext cx="2895600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0998" y="1898810"/>
            <a:ext cx="3200677" cy="216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569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75169" y="3443967"/>
            <a:ext cx="7128000" cy="1224000"/>
          </a:xfrm>
        </p:spPr>
        <p:txBody>
          <a:bodyPr/>
          <a:lstStyle/>
          <a:p>
            <a:r>
              <a:rPr lang="fr-FR" b="1" dirty="0"/>
              <a:t>Hello!</a:t>
            </a:r>
            <a:endParaRPr lang="en-US" b="1" dirty="0"/>
          </a:p>
        </p:txBody>
      </p:sp>
      <p:sp>
        <p:nvSpPr>
          <p:cNvPr id="2" name="ZoneTexte 1"/>
          <p:cNvSpPr txBox="1"/>
          <p:nvPr/>
        </p:nvSpPr>
        <p:spPr>
          <a:xfrm>
            <a:off x="1813388" y="1998323"/>
            <a:ext cx="79726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dirty="0" err="1">
                <a:solidFill>
                  <a:srgbClr val="FF0000"/>
                </a:solidFill>
                <a:latin typeface="Arial Black" panose="020B0A04020102020204" pitchFamily="34" charset="0"/>
              </a:rPr>
              <a:t>Today</a:t>
            </a:r>
            <a:r>
              <a:rPr lang="fr-FR" sz="4000" dirty="0">
                <a:solidFill>
                  <a:srgbClr val="FF0000"/>
                </a:solidFill>
                <a:latin typeface="Arial Black" panose="020B0A04020102020204" pitchFamily="34" charset="0"/>
              </a:rPr>
              <a:t>’ meeting </a:t>
            </a:r>
            <a:r>
              <a:rPr lang="fr-FR" sz="4000" dirty="0" err="1">
                <a:solidFill>
                  <a:srgbClr val="FF0000"/>
                </a:solidFill>
                <a:latin typeface="Arial Black" panose="020B0A04020102020204" pitchFamily="34" charset="0"/>
              </a:rPr>
              <a:t>is</a:t>
            </a:r>
            <a:r>
              <a:rPr lang="fr-FR" sz="4000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fr-FR" sz="4000" dirty="0" err="1">
                <a:solidFill>
                  <a:srgbClr val="FF0000"/>
                </a:solidFill>
                <a:latin typeface="Arial Black" panose="020B0A04020102020204" pitchFamily="34" charset="0"/>
              </a:rPr>
              <a:t>recorded</a:t>
            </a:r>
            <a:r>
              <a:rPr lang="fr-FR" sz="4000" dirty="0">
                <a:solidFill>
                  <a:srgbClr val="FF0000"/>
                </a:solidFill>
                <a:latin typeface="Arial Black" panose="020B0A04020102020204" pitchFamily="34" charset="0"/>
              </a:rPr>
              <a:t>!</a:t>
            </a:r>
            <a:endParaRPr lang="en-US" sz="4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357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3</a:t>
            </a:fld>
            <a:endParaRPr lang="en-US" dirty="0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7FDCC-F0BC-4DC5-940A-FB50D8C3BDC8}" type="datetime1">
              <a:rPr lang="fr-FR" smtClean="0"/>
              <a:t>09/02/2026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010194" y="816416"/>
            <a:ext cx="1017161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0.   welcome </a:t>
            </a:r>
          </a:p>
          <a:p>
            <a:pPr lvl="1"/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Preparing MC and WS</a:t>
            </a:r>
          </a:p>
          <a:p>
            <a:pPr marL="800100" lvl="1" indent="-342900">
              <a:buFont typeface="+mj-lt"/>
              <a:buAutoNum type="alphaLcParenR"/>
            </a:pPr>
            <a:r>
              <a:rPr lang="fr-FR" dirty="0" err="1"/>
              <a:t>Logistics</a:t>
            </a:r>
            <a:r>
              <a:rPr lang="fr-FR" dirty="0"/>
              <a:t> </a:t>
            </a:r>
          </a:p>
          <a:p>
            <a:pPr marL="800100" lvl="1" indent="-342900">
              <a:buFont typeface="+mj-lt"/>
              <a:buAutoNum type="alphaLcParenR"/>
            </a:pPr>
            <a:r>
              <a:rPr lang="fr-FR" dirty="0"/>
              <a:t>Tentative Agenda</a:t>
            </a:r>
          </a:p>
          <a:p>
            <a:pPr marL="800100" lvl="1" indent="-342900">
              <a:buFont typeface="+mj-lt"/>
              <a:buAutoNum type="alphaLcParenR"/>
            </a:pPr>
            <a:r>
              <a:rPr lang="fr-FR" dirty="0"/>
              <a:t>MC discussion points</a:t>
            </a:r>
          </a:p>
          <a:p>
            <a:pPr marL="1257300" lvl="2" indent="-342900">
              <a:buFont typeface="+mj-lt"/>
              <a:buAutoNum type="alphaLcParenR"/>
            </a:pPr>
            <a:r>
              <a:rPr lang="fr-FR" dirty="0"/>
              <a:t>MC </a:t>
            </a:r>
            <a:r>
              <a:rPr lang="fr-FR" dirty="0" err="1"/>
              <a:t>decisions</a:t>
            </a:r>
            <a:endParaRPr lang="fr-FR" dirty="0"/>
          </a:p>
          <a:p>
            <a:pPr marL="1257300" lvl="2" indent="-342900">
              <a:buFont typeface="+mj-lt"/>
              <a:buAutoNum type="alphaLcParenR"/>
            </a:pPr>
            <a:r>
              <a:rPr lang="fr-FR" dirty="0"/>
              <a:t>Training </a:t>
            </a:r>
            <a:r>
              <a:rPr lang="fr-FR" dirty="0" err="1"/>
              <a:t>school</a:t>
            </a:r>
            <a:endParaRPr lang="fr-FR" dirty="0"/>
          </a:p>
          <a:p>
            <a:pPr marL="800100" lvl="1" indent="-342900">
              <a:buFont typeface="+mj-lt"/>
              <a:buAutoNum type="alphaLcParenR"/>
            </a:pPr>
            <a:r>
              <a:rPr lang="fr-FR" dirty="0"/>
              <a:t>WS </a:t>
            </a:r>
            <a:r>
              <a:rPr lang="fr-FR" dirty="0" err="1"/>
              <a:t>organization</a:t>
            </a:r>
            <a:endParaRPr lang="fr-FR" dirty="0"/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Updates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tasks</a:t>
            </a:r>
            <a:endParaRPr lang="fr-FR" dirty="0"/>
          </a:p>
          <a:p>
            <a:pPr marL="800100" lvl="1" indent="-342900">
              <a:buFont typeface="+mj-lt"/>
              <a:buAutoNum type="alphaLcParenR"/>
            </a:pPr>
            <a:r>
              <a:rPr lang="fr-FR" dirty="0"/>
              <a:t>ERASMUS+ discussion meeting</a:t>
            </a:r>
          </a:p>
          <a:p>
            <a:pPr marL="800100" lvl="1" indent="-342900">
              <a:buFont typeface="+mj-lt"/>
              <a:buAutoNum type="alphaLcParenR"/>
            </a:pPr>
            <a:r>
              <a:rPr lang="fr-FR" dirty="0" err="1"/>
              <a:t>Legacy</a:t>
            </a:r>
            <a:r>
              <a:rPr lang="fr-FR" dirty="0"/>
              <a:t> </a:t>
            </a:r>
            <a:r>
              <a:rPr lang="fr-FR" dirty="0" err="1"/>
              <a:t>Lab</a:t>
            </a:r>
            <a:endParaRPr lang="fr-FR" dirty="0"/>
          </a:p>
          <a:p>
            <a:pPr marL="800100" lvl="1" indent="-342900">
              <a:buFont typeface="+mj-lt"/>
              <a:buAutoNum type="alphaLcParenR"/>
            </a:pPr>
            <a:r>
              <a:rPr lang="fr-FR" dirty="0"/>
              <a:t>Young EU-MACE/Expert &amp; MAP </a:t>
            </a:r>
            <a:r>
              <a:rPr lang="fr-FR" dirty="0" err="1"/>
              <a:t>list</a:t>
            </a:r>
            <a:endParaRPr lang="fr-FR" dirty="0"/>
          </a:p>
          <a:p>
            <a:r>
              <a:rPr lang="fr-FR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AOB</a:t>
            </a:r>
          </a:p>
          <a:p>
            <a:pPr marL="800100" lvl="1" indent="-342900">
              <a:buFont typeface="+mj-lt"/>
              <a:buAutoNum type="alphaLcParenR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042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1656080" y="3443967"/>
            <a:ext cx="10547089" cy="1224000"/>
          </a:xfrm>
        </p:spPr>
        <p:txBody>
          <a:bodyPr/>
          <a:lstStyle/>
          <a:p>
            <a:r>
              <a:rPr lang="fr-FR" b="1" dirty="0"/>
              <a:t>MC 1 &amp; </a:t>
            </a:r>
            <a:r>
              <a:rPr lang="fr-FR" b="1" dirty="0" err="1"/>
              <a:t>WorkShop</a:t>
            </a:r>
            <a:r>
              <a:rPr lang="fr-FR" b="1" dirty="0"/>
              <a:t> in </a:t>
            </a:r>
            <a:r>
              <a:rPr lang="fr-FR" b="1" dirty="0" err="1"/>
              <a:t>preparation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05993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432416A3-39EF-4CBE-943D-C79C22FD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9956"/>
            <a:ext cx="10515600" cy="726137"/>
          </a:xfrm>
        </p:spPr>
        <p:txBody>
          <a:bodyPr/>
          <a:lstStyle/>
          <a:p>
            <a:r>
              <a:rPr lang="en-US" sz="2800" dirty="0"/>
              <a:t>Tentative Agenda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5</a:t>
            </a:fld>
            <a:endParaRPr lang="en-US" dirty="0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2875B-F1BD-48CE-AB62-0BEC6D7E442C}" type="datetime1">
              <a:rPr lang="fr-FR" smtClean="0"/>
              <a:t>10/02/2026</a:t>
            </a:fld>
            <a:endParaRPr lang="en-US" dirty="0"/>
          </a:p>
        </p:txBody>
      </p:sp>
      <p:sp>
        <p:nvSpPr>
          <p:cNvPr id="12" name="ZoneTexte 11"/>
          <p:cNvSpPr txBox="1"/>
          <p:nvPr/>
        </p:nvSpPr>
        <p:spPr>
          <a:xfrm>
            <a:off x="320631" y="1560759"/>
            <a:ext cx="1174432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EU-MACE MC1 meeting &amp; </a:t>
            </a:r>
          </a:p>
          <a:p>
            <a:pPr algn="ctr"/>
            <a:r>
              <a:rPr lang="en-US" sz="24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Joint workshop (EERA-AMPEA&amp;E3S):</a:t>
            </a:r>
          </a:p>
          <a:p>
            <a:pPr algn="ctr"/>
            <a:r>
              <a:rPr lang="en-US" sz="24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Sustainability in next generation energy materials and technologies</a:t>
            </a:r>
          </a:p>
          <a:p>
            <a:pPr algn="ctr"/>
            <a:endParaRPr lang="en-US" sz="20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ctr"/>
            <a:r>
              <a:rPr lang="en-US" sz="20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  <a:p>
            <a:pPr algn="ctr"/>
            <a:r>
              <a:rPr lang="fr-FR" sz="1800" b="0" i="0" u="sng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When</a:t>
            </a:r>
            <a:r>
              <a:rPr lang="fr-FR" sz="1800" b="0" i="0" u="sng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:</a:t>
            </a:r>
            <a:r>
              <a:rPr lang="fr-FR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fr-FR" sz="18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February</a:t>
            </a:r>
            <a:r>
              <a:rPr lang="fr-FR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23-25, 2026 </a:t>
            </a:r>
          </a:p>
          <a:p>
            <a:pPr algn="ctr"/>
            <a:r>
              <a:rPr lang="fr-FR" sz="1800" b="0" i="0" u="sng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Where</a:t>
            </a:r>
            <a:r>
              <a:rPr lang="fr-FR" sz="1800" b="0" i="0" u="sng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: </a:t>
            </a:r>
            <a:r>
              <a:rPr lang="fr-FR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Maison Irène &amp; Frédéric Joliot Curie, Brussels (and online) </a:t>
            </a:r>
          </a:p>
          <a:p>
            <a:pPr algn="ctr"/>
            <a:r>
              <a:rPr lang="fr-FR" u="sng" dirty="0">
                <a:solidFill>
                  <a:srgbClr val="000000"/>
                </a:solidFill>
                <a:latin typeface="Calibri" panose="020F0502020204030204" pitchFamily="34" charset="0"/>
              </a:rPr>
              <a:t>Format</a:t>
            </a:r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</a:rPr>
              <a:t>: </a:t>
            </a:r>
            <a:r>
              <a:rPr lang="fr-FR" dirty="0" err="1">
                <a:solidFill>
                  <a:srgbClr val="000000"/>
                </a:solidFill>
                <a:latin typeface="Calibri" panose="020F0502020204030204" pitchFamily="34" charset="0"/>
              </a:rPr>
              <a:t>Hybrid</a:t>
            </a:r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</a:rPr>
              <a:t> (F2F: WS speakers, WG and </a:t>
            </a:r>
            <a:r>
              <a:rPr lang="fr-FR" dirty="0" err="1">
                <a:solidFill>
                  <a:srgbClr val="000000"/>
                </a:solidFill>
                <a:latin typeface="Calibri" panose="020F0502020204030204" pitchFamily="34" charset="0"/>
              </a:rPr>
              <a:t>Task</a:t>
            </a:r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</a:rPr>
              <a:t> leaders, </a:t>
            </a:r>
            <a:r>
              <a:rPr lang="fr-FR" dirty="0" err="1">
                <a:solidFill>
                  <a:srgbClr val="000000"/>
                </a:solidFill>
                <a:latin typeface="Calibri" panose="020F0502020204030204" pitchFamily="34" charset="0"/>
              </a:rPr>
              <a:t>organizers</a:t>
            </a:r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</a:rPr>
              <a:t> + few </a:t>
            </a:r>
            <a:r>
              <a:rPr lang="fr-FR" dirty="0" err="1">
                <a:solidFill>
                  <a:srgbClr val="000000"/>
                </a:solidFill>
                <a:latin typeface="Calibri" panose="020F0502020204030204" pitchFamily="34" charset="0"/>
              </a:rPr>
              <a:t>listeners</a:t>
            </a:r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</a:rPr>
              <a:t>; online: </a:t>
            </a:r>
            <a:r>
              <a:rPr lang="fr-FR" dirty="0" err="1">
                <a:solidFill>
                  <a:srgbClr val="000000"/>
                </a:solidFill>
                <a:latin typeface="Calibri" panose="020F0502020204030204" pitchFamily="34" charset="0"/>
              </a:rPr>
              <a:t>everyone</a:t>
            </a:r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Calibri" panose="020F0502020204030204" pitchFamily="34" charset="0"/>
              </a:rPr>
              <a:t>else</a:t>
            </a:r>
            <a:endParaRPr lang="fr-FR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ctr"/>
            <a:endParaRPr lang="fr-FR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fr-FR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Recall</a:t>
            </a:r>
            <a:r>
              <a:rPr lang="fr-FR" sz="1600" dirty="0">
                <a:solidFill>
                  <a:srgbClr val="000000"/>
                </a:solidFill>
                <a:latin typeface="Calibri" panose="020F0502020204030204" pitchFamily="34" charset="0"/>
              </a:rPr>
              <a:t>: </a:t>
            </a:r>
          </a:p>
          <a:p>
            <a:r>
              <a:rPr lang="fr-FR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Purpose</a:t>
            </a:r>
            <a:r>
              <a:rPr lang="fr-FR" sz="1600" dirty="0">
                <a:solidFill>
                  <a:srgbClr val="000000"/>
                </a:solidFill>
                <a:latin typeface="Calibri" panose="020F0502020204030204" pitchFamily="34" charset="0"/>
              </a:rPr>
              <a:t>: </a:t>
            </a:r>
            <a:r>
              <a:rPr lang="fr-FR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Create</a:t>
            </a:r>
            <a:r>
              <a:rPr lang="fr-FR" sz="1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fr-FR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synergy</a:t>
            </a:r>
            <a:r>
              <a:rPr lang="fr-FR" sz="1600" dirty="0">
                <a:solidFill>
                  <a:srgbClr val="000000"/>
                </a:solidFill>
                <a:latin typeface="Calibri" panose="020F0502020204030204" pitchFamily="34" charset="0"/>
              </a:rPr>
              <a:t> and </a:t>
            </a:r>
            <a:r>
              <a:rPr lang="fr-FR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initiate</a:t>
            </a:r>
            <a:r>
              <a:rPr lang="fr-FR" sz="1600" dirty="0">
                <a:solidFill>
                  <a:srgbClr val="000000"/>
                </a:solidFill>
                <a:latin typeface="Calibri" panose="020F0502020204030204" pitchFamily="34" charset="0"/>
              </a:rPr>
              <a:t> collaborations </a:t>
            </a:r>
            <a:r>
              <a:rPr lang="fr-FR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between</a:t>
            </a:r>
            <a:r>
              <a:rPr lang="fr-FR" sz="1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fr-FR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materials</a:t>
            </a:r>
            <a:r>
              <a:rPr lang="fr-FR" sz="1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fr-FR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scientists</a:t>
            </a:r>
            <a:r>
              <a:rPr lang="fr-FR" sz="1600" dirty="0">
                <a:solidFill>
                  <a:srgbClr val="000000"/>
                </a:solidFill>
                <a:latin typeface="Calibri" panose="020F0502020204030204" pitchFamily="34" charset="0"/>
              </a:rPr>
              <a:t> and </a:t>
            </a:r>
            <a:r>
              <a:rPr lang="fr-FR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sustainability</a:t>
            </a:r>
            <a:r>
              <a:rPr lang="fr-FR" sz="1600" dirty="0">
                <a:solidFill>
                  <a:srgbClr val="000000"/>
                </a:solidFill>
                <a:latin typeface="Calibri" panose="020F0502020204030204" pitchFamily="34" charset="0"/>
              </a:rPr>
              <a:t> experts (</a:t>
            </a:r>
            <a:r>
              <a:rPr lang="fr-FR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including</a:t>
            </a:r>
            <a:r>
              <a:rPr lang="fr-FR" sz="1600" dirty="0">
                <a:solidFill>
                  <a:srgbClr val="000000"/>
                </a:solidFill>
                <a:latin typeface="Calibri" panose="020F0502020204030204" pitchFamily="34" charset="0"/>
              </a:rPr>
              <a:t> social science </a:t>
            </a:r>
            <a:r>
              <a:rPr lang="fr-FR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field</a:t>
            </a:r>
            <a:r>
              <a:rPr lang="fr-FR" sz="1600" dirty="0">
                <a:solidFill>
                  <a:srgbClr val="000000"/>
                </a:solidFill>
                <a:latin typeface="Calibri" panose="020F0502020204030204" pitchFamily="34" charset="0"/>
              </a:rPr>
              <a:t>)</a:t>
            </a:r>
          </a:p>
          <a:p>
            <a:r>
              <a:rPr lang="fr-FR" sz="16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Organization</a:t>
            </a:r>
            <a:r>
              <a:rPr lang="fr-FR" sz="16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: </a:t>
            </a:r>
            <a:r>
              <a:rPr lang="fr-FR" sz="1600" dirty="0">
                <a:solidFill>
                  <a:srgbClr val="000000"/>
                </a:solidFill>
                <a:latin typeface="Calibri" panose="020F0502020204030204" pitchFamily="34" charset="0"/>
              </a:rPr>
              <a:t>HEU 2026-2027 CL4 &amp; CL5 calls </a:t>
            </a:r>
            <a:r>
              <a:rPr lang="fr-FR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were</a:t>
            </a:r>
            <a:r>
              <a:rPr lang="fr-FR" sz="1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fr-FR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used</a:t>
            </a:r>
            <a:r>
              <a:rPr lang="fr-FR" sz="1600" dirty="0">
                <a:solidFill>
                  <a:srgbClr val="000000"/>
                </a:solidFill>
                <a:latin typeface="Calibri" panose="020F0502020204030204" pitchFamily="34" charset="0"/>
              </a:rPr>
              <a:t> to structure the topic</a:t>
            </a:r>
          </a:p>
          <a:p>
            <a:r>
              <a:rPr lang="fr-FR" sz="16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Presentations</a:t>
            </a:r>
            <a:r>
              <a:rPr lang="fr-FR" sz="16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: </a:t>
            </a:r>
            <a:r>
              <a:rPr lang="fr-FR" sz="16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Research</a:t>
            </a:r>
            <a:r>
              <a:rPr lang="fr-FR" sz="16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fr-FR" sz="16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ideas</a:t>
            </a:r>
            <a:r>
              <a:rPr lang="fr-FR" sz="16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on </a:t>
            </a:r>
            <a:r>
              <a:rPr lang="fr-FR" sz="16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energy</a:t>
            </a:r>
            <a:r>
              <a:rPr lang="fr-FR" sz="16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fr-FR" sz="16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materials</a:t>
            </a:r>
            <a:r>
              <a:rPr lang="fr-FR" sz="16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fr-FR" sz="16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research</a:t>
            </a:r>
            <a:r>
              <a:rPr lang="fr-FR" sz="16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and </a:t>
            </a:r>
            <a:r>
              <a:rPr lang="fr-FR" sz="16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sustainability</a:t>
            </a:r>
            <a:r>
              <a:rPr lang="fr-FR" sz="16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fr-FR" sz="16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assessment</a:t>
            </a:r>
            <a:r>
              <a:rPr lang="fr-FR" sz="16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(</a:t>
            </a:r>
            <a:r>
              <a:rPr lang="fr-FR" sz="16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needs</a:t>
            </a:r>
            <a:r>
              <a:rPr lang="fr-FR" sz="16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and expertise propositions) </a:t>
            </a:r>
          </a:p>
          <a:p>
            <a:r>
              <a:rPr lang="fr-FR" sz="1600" dirty="0" err="1">
                <a:solidFill>
                  <a:srgbClr val="00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Registeration</a:t>
            </a:r>
            <a:r>
              <a:rPr lang="fr-FR" sz="1600" dirty="0">
                <a:solidFill>
                  <a:srgbClr val="00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: </a:t>
            </a:r>
            <a:r>
              <a:rPr lang="fr-FR" sz="16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20 </a:t>
            </a:r>
            <a:r>
              <a:rPr lang="fr-FR" sz="16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presentation</a:t>
            </a:r>
            <a:r>
              <a:rPr lang="fr-FR" sz="16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fr-FR" sz="16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interests</a:t>
            </a:r>
            <a:r>
              <a:rPr lang="fr-FR" sz="1600" dirty="0">
                <a:solidFill>
                  <a:srgbClr val="00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, 40 </a:t>
            </a:r>
            <a:r>
              <a:rPr lang="fr-FR" sz="1600" dirty="0" err="1">
                <a:solidFill>
                  <a:srgbClr val="00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listeners</a:t>
            </a:r>
            <a:r>
              <a:rPr lang="fr-FR" sz="1600" dirty="0">
                <a:solidFill>
                  <a:srgbClr val="00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6E1619-0281-41D6-BEDC-83C4C1EEF7D6}"/>
              </a:ext>
            </a:extLst>
          </p:cNvPr>
          <p:cNvSpPr/>
          <p:nvPr/>
        </p:nvSpPr>
        <p:spPr>
          <a:xfrm>
            <a:off x="1467912" y="5900409"/>
            <a:ext cx="962083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</a:rPr>
              <a:t>To non MC </a:t>
            </a:r>
            <a:r>
              <a:rPr lang="fr-FR" sz="2000" b="1" dirty="0" err="1">
                <a:solidFill>
                  <a:srgbClr val="FF0000"/>
                </a:solidFill>
              </a:rPr>
              <a:t>members</a:t>
            </a:r>
            <a:r>
              <a:rPr lang="fr-FR" sz="2000" b="1" dirty="0">
                <a:solidFill>
                  <a:srgbClr val="FF0000"/>
                </a:solidFill>
              </a:rPr>
              <a:t>: </a:t>
            </a:r>
            <a:r>
              <a:rPr lang="fr-FR" sz="2000" b="1" dirty="0" err="1">
                <a:solidFill>
                  <a:srgbClr val="FF0000"/>
                </a:solidFill>
              </a:rPr>
              <a:t>Please</a:t>
            </a:r>
            <a:r>
              <a:rPr lang="fr-FR" sz="2000" b="1" dirty="0">
                <a:solidFill>
                  <a:srgbClr val="FF0000"/>
                </a:solidFill>
              </a:rPr>
              <a:t> </a:t>
            </a:r>
            <a:r>
              <a:rPr lang="fr-FR" sz="2000" b="1" dirty="0" err="1">
                <a:solidFill>
                  <a:srgbClr val="FF0000"/>
                </a:solidFill>
              </a:rPr>
              <a:t>register</a:t>
            </a:r>
            <a:r>
              <a:rPr lang="fr-FR" sz="2000" b="1" dirty="0">
                <a:solidFill>
                  <a:srgbClr val="FF0000"/>
                </a:solidFill>
              </a:rPr>
              <a:t> to WS (as online </a:t>
            </a:r>
            <a:r>
              <a:rPr lang="fr-FR" sz="2000" b="1" dirty="0" err="1">
                <a:solidFill>
                  <a:srgbClr val="FF0000"/>
                </a:solidFill>
              </a:rPr>
              <a:t>listeners</a:t>
            </a:r>
            <a:r>
              <a:rPr lang="fr-FR" sz="2000" b="1" dirty="0">
                <a:solidFill>
                  <a:srgbClr val="FF0000"/>
                </a:solidFill>
              </a:rPr>
              <a:t> </a:t>
            </a:r>
            <a:r>
              <a:rPr lang="fr-FR" sz="2000" b="1" dirty="0" err="1">
                <a:solidFill>
                  <a:srgbClr val="FF0000"/>
                </a:solidFill>
              </a:rPr>
              <a:t>only</a:t>
            </a:r>
            <a:r>
              <a:rPr lang="fr-FR" sz="2000" b="1" dirty="0">
                <a:solidFill>
                  <a:srgbClr val="FF0000"/>
                </a:solidFill>
              </a:rPr>
              <a:t>) to </a:t>
            </a:r>
            <a:r>
              <a:rPr lang="fr-FR" sz="2000" b="1" dirty="0" err="1">
                <a:solidFill>
                  <a:srgbClr val="FF0000"/>
                </a:solidFill>
              </a:rPr>
              <a:t>receive</a:t>
            </a:r>
            <a:r>
              <a:rPr lang="fr-FR" sz="2000" b="1" dirty="0">
                <a:solidFill>
                  <a:srgbClr val="FF0000"/>
                </a:solidFill>
              </a:rPr>
              <a:t> invitation</a:t>
            </a:r>
          </a:p>
        </p:txBody>
      </p:sp>
    </p:spTree>
    <p:extLst>
      <p:ext uri="{BB962C8B-B14F-4D97-AF65-F5344CB8AC3E}">
        <p14:creationId xmlns:p14="http://schemas.microsoft.com/office/powerpoint/2010/main" val="2834770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432416A3-39EF-4CBE-943D-C79C22FD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9956"/>
            <a:ext cx="10515600" cy="726137"/>
          </a:xfrm>
        </p:spPr>
        <p:txBody>
          <a:bodyPr/>
          <a:lstStyle/>
          <a:p>
            <a:r>
              <a:rPr lang="en-US" sz="2800" dirty="0"/>
              <a:t>MC meeting &amp; workshop: logistics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6</a:t>
            </a:fld>
            <a:endParaRPr lang="en-US" dirty="0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2875B-F1BD-48CE-AB62-0BEC6D7E442C}" type="datetime1">
              <a:rPr lang="fr-FR" smtClean="0"/>
              <a:t>10/02/2026</a:t>
            </a:fld>
            <a:endParaRPr lang="en-US" dirty="0"/>
          </a:p>
        </p:txBody>
      </p:sp>
      <p:sp>
        <p:nvSpPr>
          <p:cNvPr id="12" name="ZoneTexte 11"/>
          <p:cNvSpPr txBox="1"/>
          <p:nvPr/>
        </p:nvSpPr>
        <p:spPr>
          <a:xfrm>
            <a:off x="590549" y="1649045"/>
            <a:ext cx="1128712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Feb 23-24-25 at Maison Irène &amp; Frédéric Joliot Curie, Brussels – L.O. = EERA (GHI)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MC meeting hybrid (mostly online) </a:t>
            </a: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25 MC members still have not replied on e-COST!! PLEASE DO!</a:t>
            </a:r>
            <a:endParaRPr lang="en-US" dirty="0">
              <a:solidFill>
                <a:srgbClr val="FF000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Lunch break </a:t>
            </a:r>
            <a:r>
              <a:rPr lang="en-US" dirty="0">
                <a:sym typeface="Wingdings" panose="05000000000000000000" pitchFamily="2" charset="2"/>
              </a:rPr>
              <a:t> must eat outside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Metro </a:t>
            </a:r>
            <a:r>
              <a:rPr lang="en-US" dirty="0" err="1">
                <a:sym typeface="Wingdings" panose="05000000000000000000" pitchFamily="2" charset="2"/>
              </a:rPr>
              <a:t>Trone</a:t>
            </a:r>
            <a:r>
              <a:rPr lang="en-US" dirty="0">
                <a:sym typeface="Wingdings" panose="05000000000000000000" pitchFamily="2" charset="2"/>
              </a:rPr>
              <a:t> = closest (8-10 min)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100 r du </a:t>
            </a:r>
            <a:r>
              <a:rPr lang="en-US" dirty="0" err="1">
                <a:sym typeface="Wingdings" panose="05000000000000000000" pitchFamily="2" charset="2"/>
              </a:rPr>
              <a:t>Trone</a:t>
            </a:r>
            <a:endParaRPr lang="en-US" dirty="0">
              <a:sym typeface="Wingdings" panose="05000000000000000000" pitchFamily="2" charset="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From Brussels Midi, line 2 &amp; 6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Enter building and ask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Arrival time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MC meeting 8:30 AM ~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WS  1:30 pm ~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Check your invitation</a:t>
            </a:r>
            <a:endParaRPr lang="en-US" dirty="0">
              <a:solidFill>
                <a:srgbClr val="FF0000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F2F attendees – </a:t>
            </a:r>
            <a:r>
              <a:rPr lang="en-US" b="1" dirty="0">
                <a:solidFill>
                  <a:srgbClr val="FF0000"/>
                </a:solidFill>
              </a:rPr>
              <a:t>Remember COST Rules for reimbursement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https://www.cost.eu/uploads/2025/11/COST-TRR-Rules-2025-2026.pdf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And the FULL COST Rules (link in the pdf)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ED02055-8EDC-4D6E-B1C3-D6DB7FEC43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1524" y="2412513"/>
            <a:ext cx="6512937" cy="292985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A39045D8-BE2A-494A-80F3-59F56E3667C3}"/>
              </a:ext>
            </a:extLst>
          </p:cNvPr>
          <p:cNvSpPr txBox="1"/>
          <p:nvPr/>
        </p:nvSpPr>
        <p:spPr>
          <a:xfrm>
            <a:off x="4852788" y="3877438"/>
            <a:ext cx="955711" cy="26161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fr-FR" sz="1100" b="1" dirty="0">
                <a:solidFill>
                  <a:srgbClr val="00B0F0"/>
                </a:solidFill>
              </a:rPr>
              <a:t>Brussels-Midi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1C05EB7-E26B-4073-A697-FBB819AA2C7D}"/>
              </a:ext>
            </a:extLst>
          </p:cNvPr>
          <p:cNvSpPr txBox="1"/>
          <p:nvPr/>
        </p:nvSpPr>
        <p:spPr>
          <a:xfrm>
            <a:off x="9854661" y="2856884"/>
            <a:ext cx="715260" cy="26161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fr-FR" sz="1100" b="1" dirty="0">
                <a:solidFill>
                  <a:srgbClr val="00B0F0"/>
                </a:solidFill>
              </a:rPr>
              <a:t>M: </a:t>
            </a:r>
            <a:r>
              <a:rPr lang="fr-FR" sz="1100" b="1" dirty="0" err="1">
                <a:solidFill>
                  <a:srgbClr val="00B0F0"/>
                </a:solidFill>
              </a:rPr>
              <a:t>Trone</a:t>
            </a:r>
            <a:endParaRPr lang="fr-FR" sz="1100" b="1" dirty="0">
              <a:solidFill>
                <a:srgbClr val="00B0F0"/>
              </a:solidFill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727F947-2301-4BE2-A8EC-967842146C5F}"/>
              </a:ext>
            </a:extLst>
          </p:cNvPr>
          <p:cNvSpPr txBox="1"/>
          <p:nvPr/>
        </p:nvSpPr>
        <p:spPr>
          <a:xfrm>
            <a:off x="8657532" y="3429000"/>
            <a:ext cx="779381" cy="26161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fr-FR" sz="1100" b="1" dirty="0">
                <a:solidFill>
                  <a:srgbClr val="00B0F0"/>
                </a:solidFill>
              </a:rPr>
              <a:t>M: Namur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4CE08B63-D84F-4127-ABF1-D4864483E1AC}"/>
              </a:ext>
            </a:extLst>
          </p:cNvPr>
          <p:cNvSpPr/>
          <p:nvPr/>
        </p:nvSpPr>
        <p:spPr>
          <a:xfrm>
            <a:off x="10373710" y="3559805"/>
            <a:ext cx="1269487" cy="87976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>
                <a:solidFill>
                  <a:srgbClr val="FF0000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4107521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432416A3-39EF-4CBE-943D-C79C22FD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9956"/>
            <a:ext cx="10515600" cy="726137"/>
          </a:xfrm>
        </p:spPr>
        <p:txBody>
          <a:bodyPr/>
          <a:lstStyle/>
          <a:p>
            <a:r>
              <a:rPr lang="en-US" sz="2800" dirty="0"/>
              <a:t>Day1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7</a:t>
            </a:fld>
            <a:endParaRPr lang="en-US" dirty="0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2875B-F1BD-48CE-AB62-0BEC6D7E442C}" type="datetime1">
              <a:rPr lang="fr-FR" smtClean="0"/>
              <a:t>10/02/2026</a:t>
            </a:fld>
            <a:endParaRPr lang="en-US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5C835CF-2ED0-4A6F-85FF-D420AD3B1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2617" y="1660090"/>
            <a:ext cx="8006576" cy="393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718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1656080" y="3443967"/>
            <a:ext cx="10547089" cy="1224000"/>
          </a:xfrm>
        </p:spPr>
        <p:txBody>
          <a:bodyPr/>
          <a:lstStyle/>
          <a:p>
            <a:r>
              <a:rPr lang="fr-FR" b="1" dirty="0"/>
              <a:t>MC 1 discussion points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11282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71F31725-A5FF-49F2-ABC0-CB7BD221E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76" y="797375"/>
            <a:ext cx="5845047" cy="54106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1" name="Title 20">
            <a:extLst>
              <a:ext uri="{FF2B5EF4-FFF2-40B4-BE49-F238E27FC236}">
                <a16:creationId xmlns:a16="http://schemas.microsoft.com/office/drawing/2014/main" id="{432416A3-39EF-4CBE-943D-C79C22FD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9956"/>
            <a:ext cx="10515600" cy="726137"/>
          </a:xfrm>
        </p:spPr>
        <p:txBody>
          <a:bodyPr/>
          <a:lstStyle/>
          <a:p>
            <a:r>
              <a:rPr lang="en-US" sz="2800" dirty="0"/>
              <a:t>MC meeting agenda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9</a:t>
            </a:fld>
            <a:endParaRPr lang="en-US" dirty="0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2875B-F1BD-48CE-AB62-0BEC6D7E442C}" type="datetime1">
              <a:rPr lang="fr-FR" smtClean="0"/>
              <a:t>10/02/2026</a:t>
            </a:fld>
            <a:endParaRPr lang="en-US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35AC1D4-27E7-453C-A523-71CF05C4EF1E}"/>
              </a:ext>
            </a:extLst>
          </p:cNvPr>
          <p:cNvSpPr txBox="1"/>
          <p:nvPr/>
        </p:nvSpPr>
        <p:spPr>
          <a:xfrm>
            <a:off x="7088177" y="1790078"/>
            <a:ext cx="467374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/>
              <a:t>Standard Format</a:t>
            </a:r>
          </a:p>
          <a:p>
            <a:endParaRPr lang="fr-F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Not </a:t>
            </a:r>
            <a:r>
              <a:rPr lang="fr-FR" sz="1400" dirty="0" err="1"/>
              <a:t>many</a:t>
            </a:r>
            <a:r>
              <a:rPr lang="fr-FR" sz="1400" dirty="0"/>
              <a:t> votes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Intervention by </a:t>
            </a:r>
            <a:r>
              <a:rPr lang="fr-FR" sz="1400" dirty="0" err="1"/>
              <a:t>task</a:t>
            </a:r>
            <a:r>
              <a:rPr lang="fr-FR" sz="1400" dirty="0"/>
              <a:t> leaders (5 – 10 minutes </a:t>
            </a:r>
            <a:r>
              <a:rPr lang="fr-FR" sz="1400" dirty="0" err="1"/>
              <a:t>each</a:t>
            </a:r>
            <a:r>
              <a:rPr lang="fr-FR" sz="1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 err="1"/>
              <a:t>Priority</a:t>
            </a:r>
            <a:r>
              <a:rPr lang="fr-FR" sz="1400" dirty="0"/>
              <a:t> </a:t>
            </a:r>
            <a:r>
              <a:rPr lang="fr-FR" sz="1400" dirty="0" err="1"/>
              <a:t>conferences</a:t>
            </a:r>
            <a:r>
              <a:rPr lang="fr-FR" sz="1400" dirty="0"/>
              <a:t>!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400" dirty="0"/>
              <a:t>Must </a:t>
            </a:r>
            <a:r>
              <a:rPr lang="fr-FR" sz="1400" dirty="0" err="1"/>
              <a:t>align</a:t>
            </a:r>
            <a:r>
              <a:rPr lang="fr-FR" sz="1400" dirty="0"/>
              <a:t> </a:t>
            </a:r>
            <a:r>
              <a:rPr lang="fr-FR" sz="1400" dirty="0" err="1"/>
              <a:t>with</a:t>
            </a:r>
            <a:r>
              <a:rPr lang="fr-FR" sz="1400" dirty="0"/>
              <a:t> the MAIN objectives of EU-MACE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47554204-3BCD-42A1-A3F8-DEBA24A20F8D}"/>
              </a:ext>
            </a:extLst>
          </p:cNvPr>
          <p:cNvSpPr/>
          <p:nvPr/>
        </p:nvSpPr>
        <p:spPr>
          <a:xfrm>
            <a:off x="5198822" y="2512040"/>
            <a:ext cx="1269487" cy="32575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BFC2B7A9-DD46-4713-831C-A5593AFFE015}"/>
              </a:ext>
            </a:extLst>
          </p:cNvPr>
          <p:cNvSpPr/>
          <p:nvPr/>
        </p:nvSpPr>
        <p:spPr>
          <a:xfrm>
            <a:off x="1105042" y="5483315"/>
            <a:ext cx="3132729" cy="32575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B0FCC329-49E5-412C-839B-936AD01C869E}"/>
              </a:ext>
            </a:extLst>
          </p:cNvPr>
          <p:cNvSpPr/>
          <p:nvPr/>
        </p:nvSpPr>
        <p:spPr>
          <a:xfrm>
            <a:off x="955209" y="2837794"/>
            <a:ext cx="2509182" cy="32575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4B1FB37-172D-4E25-81F4-01D968B95CC8}"/>
              </a:ext>
            </a:extLst>
          </p:cNvPr>
          <p:cNvSpPr txBox="1"/>
          <p:nvPr/>
        </p:nvSpPr>
        <p:spPr>
          <a:xfrm>
            <a:off x="7258443" y="5253937"/>
            <a:ext cx="450348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/>
              <a:t>https://forms.office.com/Pages/ResponsePage.aspx?id=9xZkbOgxIEWCTMuTP4OQuXsjyL-l515MkDTrXz9gtT5UNkU4S0xTMVk2Q0Y3WUI1SjlKUVFNSEMySy4u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40BB0B16-0756-4BB0-AD8F-B5A05C6722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3323379"/>
            <a:ext cx="1788967" cy="1660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761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1656080" y="3443967"/>
            <a:ext cx="10547089" cy="1224000"/>
          </a:xfrm>
        </p:spPr>
        <p:txBody>
          <a:bodyPr/>
          <a:lstStyle/>
          <a:p>
            <a:r>
              <a:rPr lang="fr-FR" b="1" dirty="0"/>
              <a:t>Joint workshop – « </a:t>
            </a:r>
            <a:r>
              <a:rPr lang="fr-FR" b="1" dirty="0" err="1"/>
              <a:t>sustainability</a:t>
            </a:r>
            <a:r>
              <a:rPr lang="fr-FR" b="1" dirty="0"/>
              <a:t> »</a:t>
            </a:r>
            <a:endParaRPr lang="en-US" b="1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7DAE345-70B3-46F7-9D21-6744703E4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578" y="509852"/>
            <a:ext cx="2415749" cy="2438611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713BC5C7-3961-4486-8452-21B65BEC455D}"/>
              </a:ext>
            </a:extLst>
          </p:cNvPr>
          <p:cNvSpPr txBox="1"/>
          <p:nvPr/>
        </p:nvSpPr>
        <p:spPr>
          <a:xfrm>
            <a:off x="3485756" y="5163471"/>
            <a:ext cx="61012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https://forms.office.com/Pages/ResponsePage.aspx?id=9xZkbOgxIEWCTMuTP4OQua30uxW7CP5Ki2iESeIBm99UNVFaOEZKSTRNT09LSEVWNUFaTjVXVUU1QS4u</a:t>
            </a:r>
          </a:p>
        </p:txBody>
      </p:sp>
    </p:spTree>
    <p:extLst>
      <p:ext uri="{BB962C8B-B14F-4D97-AF65-F5344CB8AC3E}">
        <p14:creationId xmlns:p14="http://schemas.microsoft.com/office/powerpoint/2010/main" val="1961693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432416A3-39EF-4CBE-943D-C79C22FD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9956"/>
            <a:ext cx="10515600" cy="726137"/>
          </a:xfrm>
        </p:spPr>
        <p:txBody>
          <a:bodyPr/>
          <a:lstStyle/>
          <a:p>
            <a:r>
              <a:rPr lang="en-US" sz="2800" dirty="0"/>
              <a:t>WS starts on Day1 at 2pm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11</a:t>
            </a:fld>
            <a:endParaRPr lang="en-US" dirty="0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2875B-F1BD-48CE-AB62-0BEC6D7E442C}" type="datetime1">
              <a:rPr lang="fr-FR" smtClean="0"/>
              <a:t>10/02/2026</a:t>
            </a:fld>
            <a:endParaRPr lang="en-US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5C835CF-2ED0-4A6F-85FF-D420AD3B1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78" y="1672703"/>
            <a:ext cx="8006576" cy="3933514"/>
          </a:xfrm>
          <a:prstGeom prst="rect">
            <a:avLst/>
          </a:prstGeom>
        </p:spPr>
      </p:pic>
      <p:sp>
        <p:nvSpPr>
          <p:cNvPr id="11" name="Accolade fermante 10">
            <a:extLst>
              <a:ext uri="{FF2B5EF4-FFF2-40B4-BE49-F238E27FC236}">
                <a16:creationId xmlns:a16="http://schemas.microsoft.com/office/drawing/2014/main" id="{C6DA0AFA-5855-409F-BA79-B4C9D6ED2E77}"/>
              </a:ext>
            </a:extLst>
          </p:cNvPr>
          <p:cNvSpPr/>
          <p:nvPr/>
        </p:nvSpPr>
        <p:spPr>
          <a:xfrm>
            <a:off x="8328458" y="4466389"/>
            <a:ext cx="313168" cy="781970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FDE19F4-AEAA-4E6D-8406-BEE6BDD9AC26}"/>
              </a:ext>
            </a:extLst>
          </p:cNvPr>
          <p:cNvSpPr txBox="1"/>
          <p:nvPr/>
        </p:nvSpPr>
        <p:spPr>
          <a:xfrm>
            <a:off x="8704668" y="3639460"/>
            <a:ext cx="343057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/>
              <a:t>Workshop </a:t>
            </a:r>
            <a:r>
              <a:rPr lang="fr-FR" sz="1400" b="1" dirty="0" err="1"/>
              <a:t>Plenary</a:t>
            </a:r>
            <a:r>
              <a:rPr lang="fr-FR" sz="1400" b="1" dirty="0"/>
              <a:t> session </a:t>
            </a:r>
            <a:r>
              <a:rPr lang="fr-FR" sz="1400" b="1" dirty="0" err="1"/>
              <a:t>with</a:t>
            </a:r>
            <a:r>
              <a:rPr lang="fr-FR" sz="1400" b="1" dirty="0"/>
              <a:t> </a:t>
            </a:r>
            <a:r>
              <a:rPr lang="fr-FR" sz="1400" b="1" dirty="0" err="1"/>
              <a:t>invited</a:t>
            </a:r>
            <a:r>
              <a:rPr lang="fr-FR" sz="1400" b="1" dirty="0"/>
              <a:t> speakers: </a:t>
            </a:r>
          </a:p>
          <a:p>
            <a:r>
              <a:rPr lang="fr-FR" sz="1400" u="sng" dirty="0"/>
              <a:t>Topics </a:t>
            </a:r>
            <a:r>
              <a:rPr lang="fr-FR" sz="1400" u="sng" dirty="0" err="1"/>
              <a:t>covered</a:t>
            </a:r>
            <a:r>
              <a:rPr lang="fr-FR" sz="14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SET-Plan (new </a:t>
            </a:r>
            <a:r>
              <a:rPr lang="fr-FR" sz="1400" dirty="0" err="1"/>
              <a:t>developments</a:t>
            </a:r>
            <a:r>
              <a:rPr lang="fr-FR" sz="1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About EERA (</a:t>
            </a:r>
            <a:r>
              <a:rPr lang="fr-FR" sz="1400" dirty="0" err="1"/>
              <a:t>what</a:t>
            </a:r>
            <a:r>
              <a:rPr lang="fr-FR" sz="1400" dirty="0"/>
              <a:t> </a:t>
            </a:r>
            <a:r>
              <a:rPr lang="fr-FR" sz="1400" dirty="0" err="1"/>
              <a:t>is</a:t>
            </a:r>
            <a:r>
              <a:rPr lang="fr-FR" sz="1400" dirty="0"/>
              <a:t> </a:t>
            </a:r>
            <a:r>
              <a:rPr lang="fr-FR" sz="1400" dirty="0" err="1"/>
              <a:t>it</a:t>
            </a:r>
            <a:r>
              <a:rPr lang="fr-FR" sz="1400" dirty="0"/>
              <a:t> and how to </a:t>
            </a:r>
            <a:r>
              <a:rPr lang="fr-FR" sz="1400" dirty="0" err="1"/>
              <a:t>join</a:t>
            </a:r>
            <a:r>
              <a:rPr lang="fr-FR" sz="1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IAM-I focus (</a:t>
            </a:r>
            <a:r>
              <a:rPr lang="fr-FR" sz="1400" dirty="0" err="1"/>
              <a:t>energy</a:t>
            </a:r>
            <a:r>
              <a:rPr lang="fr-FR" sz="1400" dirty="0"/>
              <a:t> </a:t>
            </a:r>
            <a:r>
              <a:rPr lang="fr-FR" sz="1400" dirty="0" err="1"/>
              <a:t>sector</a:t>
            </a:r>
            <a:r>
              <a:rPr lang="fr-FR" sz="1400" dirty="0"/>
              <a:t>, IAM4EU partnership in HEU programme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EU Energy Policy trends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 err="1"/>
              <a:t>Sustainability</a:t>
            </a:r>
            <a:r>
              <a:rPr lang="fr-FR" sz="1400" dirty="0"/>
              <a:t> in </a:t>
            </a:r>
            <a:r>
              <a:rPr lang="fr-FR" sz="1400" dirty="0" err="1"/>
              <a:t>energy</a:t>
            </a:r>
            <a:r>
              <a:rPr lang="fr-FR" sz="1400" dirty="0"/>
              <a:t> </a:t>
            </a:r>
            <a:r>
              <a:rPr lang="fr-FR" sz="1400" dirty="0" err="1"/>
              <a:t>materials</a:t>
            </a:r>
            <a:r>
              <a:rPr lang="fr-FR" sz="1400" dirty="0"/>
              <a:t> </a:t>
            </a:r>
            <a:r>
              <a:rPr lang="fr-FR" sz="1400" dirty="0" err="1"/>
              <a:t>research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600633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432416A3-39EF-4CBE-943D-C79C22FD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9956"/>
            <a:ext cx="10515600" cy="726137"/>
          </a:xfrm>
        </p:spPr>
        <p:txBody>
          <a:bodyPr/>
          <a:lstStyle/>
          <a:p>
            <a:r>
              <a:rPr lang="en-US" sz="2800" dirty="0"/>
              <a:t>Day 2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12</a:t>
            </a:fld>
            <a:endParaRPr lang="en-US" dirty="0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2875B-F1BD-48CE-AB62-0BEC6D7E442C}" type="datetime1">
              <a:rPr lang="fr-FR" smtClean="0"/>
              <a:t>10/02/2026</a:t>
            </a:fld>
            <a:endParaRPr lang="en-US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E29C148-DD75-42D0-91E3-4FCE47DB2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024" y="776345"/>
            <a:ext cx="7658764" cy="5494496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70F2E269-EF2B-498B-88D2-F1AF6AA8E480}"/>
              </a:ext>
            </a:extLst>
          </p:cNvPr>
          <p:cNvSpPr txBox="1"/>
          <p:nvPr/>
        </p:nvSpPr>
        <p:spPr>
          <a:xfrm>
            <a:off x="8370439" y="2305615"/>
            <a:ext cx="343057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/>
              <a:t>Format</a:t>
            </a:r>
          </a:p>
          <a:p>
            <a:r>
              <a:rPr lang="fr-FR" sz="1400" u="sng" dirty="0"/>
              <a:t>Short </a:t>
            </a:r>
            <a:r>
              <a:rPr lang="fr-FR" sz="1400" u="sng" dirty="0" err="1"/>
              <a:t>Presentations</a:t>
            </a:r>
            <a:r>
              <a:rPr lang="fr-FR" sz="1400" u="sng" dirty="0"/>
              <a:t> &amp; Long discussions </a:t>
            </a:r>
            <a:r>
              <a:rPr lang="fr-FR" sz="14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 err="1"/>
              <a:t>Facilitator</a:t>
            </a:r>
            <a:r>
              <a:rPr lang="fr-FR" sz="1400" dirty="0"/>
              <a:t> </a:t>
            </a:r>
            <a:r>
              <a:rPr lang="fr-FR" sz="1400" dirty="0" err="1"/>
              <a:t>presents</a:t>
            </a:r>
            <a:r>
              <a:rPr lang="fr-FR" sz="1400" dirty="0"/>
              <a:t> trends of EU </a:t>
            </a:r>
            <a:r>
              <a:rPr lang="fr-FR" sz="1400" dirty="0" err="1"/>
              <a:t>research</a:t>
            </a:r>
            <a:r>
              <a:rPr lang="fr-FR" sz="1400" dirty="0"/>
              <a:t> </a:t>
            </a:r>
            <a:r>
              <a:rPr lang="fr-FR" sz="1400" dirty="0" err="1"/>
              <a:t>through</a:t>
            </a:r>
            <a:r>
              <a:rPr lang="fr-FR" sz="1400" dirty="0"/>
              <a:t> HEU </a:t>
            </a:r>
            <a:r>
              <a:rPr lang="fr-FR" sz="1400" dirty="0" err="1"/>
              <a:t>promgrammes</a:t>
            </a:r>
            <a:endParaRPr lang="fr-F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1-3 </a:t>
            </a:r>
            <a:r>
              <a:rPr lang="fr-FR" sz="1400" dirty="0" err="1"/>
              <a:t>presentations</a:t>
            </a:r>
            <a:r>
              <a:rPr lang="fr-FR" sz="1400" dirty="0"/>
              <a:t> are </a:t>
            </a:r>
            <a:r>
              <a:rPr lang="fr-FR" sz="1400" dirty="0" err="1"/>
              <a:t>limited</a:t>
            </a:r>
            <a:r>
              <a:rPr lang="fr-FR" sz="1400" dirty="0"/>
              <a:t> to 10-12 minutes </a:t>
            </a:r>
            <a:r>
              <a:rPr lang="fr-FR" sz="1400" dirty="0" err="1"/>
              <a:t>each</a:t>
            </a:r>
            <a:r>
              <a:rPr lang="fr-FR" sz="1400" dirty="0"/>
              <a:t>, </a:t>
            </a:r>
            <a:r>
              <a:rPr lang="fr-FR" sz="1400" dirty="0" err="1"/>
              <a:t>followed</a:t>
            </a:r>
            <a:r>
              <a:rPr lang="fr-FR" sz="1400" dirty="0"/>
              <a:t> by 25-30 minute discussions for </a:t>
            </a:r>
            <a:r>
              <a:rPr lang="fr-FR" sz="1400" dirty="0" err="1"/>
              <a:t>exchanging</a:t>
            </a:r>
            <a:r>
              <a:rPr lang="fr-FR" sz="1400" dirty="0"/>
              <a:t> </a:t>
            </a:r>
            <a:r>
              <a:rPr lang="fr-FR" sz="1400" dirty="0" err="1"/>
              <a:t>ideas</a:t>
            </a:r>
            <a:endParaRPr lang="fr-F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 err="1"/>
              <a:t>Breakout</a:t>
            </a:r>
            <a:r>
              <a:rPr lang="fr-FR" sz="1400" dirty="0"/>
              <a:t> session </a:t>
            </a:r>
            <a:r>
              <a:rPr lang="fr-FR" sz="1400" dirty="0" err="1"/>
              <a:t>is</a:t>
            </a:r>
            <a:r>
              <a:rPr lang="fr-FR" sz="1400" dirty="0"/>
              <a:t> </a:t>
            </a:r>
            <a:r>
              <a:rPr lang="fr-FR" sz="1400" dirty="0" err="1"/>
              <a:t>foreseen</a:t>
            </a:r>
            <a:r>
              <a:rPr lang="fr-FR" sz="1400" dirty="0"/>
              <a:t> at the end of the </a:t>
            </a:r>
            <a:r>
              <a:rPr lang="fr-FR" sz="1400" dirty="0" err="1"/>
              <a:t>day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958619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432416A3-39EF-4CBE-943D-C79C22FD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9956"/>
            <a:ext cx="10515600" cy="726137"/>
          </a:xfrm>
        </p:spPr>
        <p:txBody>
          <a:bodyPr/>
          <a:lstStyle/>
          <a:p>
            <a:r>
              <a:rPr lang="en-US" sz="2800" dirty="0"/>
              <a:t>Day 3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13</a:t>
            </a:fld>
            <a:endParaRPr lang="en-US" dirty="0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2875B-F1BD-48CE-AB62-0BEC6D7E442C}" type="datetime1">
              <a:rPr lang="fr-FR" smtClean="0"/>
              <a:t>10/02/2026</a:t>
            </a:fld>
            <a:endParaRPr lang="en-US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EB3A70E-52BD-4099-80F9-BC8D8E897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602" y="804065"/>
            <a:ext cx="7597798" cy="5502117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635AC1D4-27E7-453C-A523-71CF05C4EF1E}"/>
              </a:ext>
            </a:extLst>
          </p:cNvPr>
          <p:cNvSpPr txBox="1"/>
          <p:nvPr/>
        </p:nvSpPr>
        <p:spPr>
          <a:xfrm>
            <a:off x="8483951" y="3163260"/>
            <a:ext cx="34305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/>
              <a:t>Format</a:t>
            </a:r>
          </a:p>
          <a:p>
            <a:r>
              <a:rPr lang="fr-FR" sz="1400" u="sng" dirty="0"/>
              <a:t>Short </a:t>
            </a:r>
            <a:r>
              <a:rPr lang="fr-FR" sz="1400" u="sng" dirty="0" err="1"/>
              <a:t>Presentations</a:t>
            </a:r>
            <a:r>
              <a:rPr lang="fr-FR" sz="1400" u="sng" dirty="0"/>
              <a:t> &amp; Long discussions </a:t>
            </a:r>
            <a:r>
              <a:rPr lang="fr-FR" sz="14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 err="1"/>
              <a:t>Same</a:t>
            </a:r>
            <a:r>
              <a:rPr lang="fr-FR" sz="1400" dirty="0"/>
              <a:t> as Day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+ WS conclusion/</a:t>
            </a:r>
            <a:r>
              <a:rPr lang="fr-FR" sz="1400" dirty="0" err="1"/>
              <a:t>way</a:t>
            </a:r>
            <a:r>
              <a:rPr lang="fr-FR" sz="1400" dirty="0"/>
              <a:t> </a:t>
            </a:r>
            <a:r>
              <a:rPr lang="fr-FR" sz="1400" dirty="0" err="1"/>
              <a:t>forward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11067182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1656080" y="3443967"/>
            <a:ext cx="10547089" cy="1224000"/>
          </a:xfrm>
        </p:spPr>
        <p:txBody>
          <a:bodyPr/>
          <a:lstStyle/>
          <a:p>
            <a:r>
              <a:rPr lang="fr-FR" b="1" dirty="0"/>
              <a:t>Updates </a:t>
            </a:r>
            <a:r>
              <a:rPr lang="fr-FR" b="1" dirty="0" err="1"/>
              <a:t>from</a:t>
            </a:r>
            <a:r>
              <a:rPr lang="fr-FR" b="1" dirty="0"/>
              <a:t> </a:t>
            </a:r>
            <a:r>
              <a:rPr lang="fr-FR" b="1" dirty="0" err="1"/>
              <a:t>tasks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30201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432416A3-39EF-4CBE-943D-C79C22FD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9956"/>
            <a:ext cx="10515600" cy="726137"/>
          </a:xfrm>
        </p:spPr>
        <p:txBody>
          <a:bodyPr/>
          <a:lstStyle/>
          <a:p>
            <a:r>
              <a:rPr lang="en-US" sz="2800" dirty="0" err="1"/>
              <a:t>AccelMAPS</a:t>
            </a:r>
            <a:r>
              <a:rPr lang="en-US" sz="2800" dirty="0"/>
              <a:t>/</a:t>
            </a:r>
            <a:r>
              <a:rPr lang="en-US" sz="2800" dirty="0" err="1"/>
              <a:t>LegacyLabs</a:t>
            </a:r>
            <a:r>
              <a:rPr lang="en-US" sz="2800" dirty="0"/>
              <a:t>/Erasmus/Young-EUMACE…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15</a:t>
            </a:fld>
            <a:endParaRPr lang="en-US" dirty="0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2875B-F1BD-48CE-AB62-0BEC6D7E442C}" type="datetime1">
              <a:rPr lang="fr-FR" smtClean="0"/>
              <a:t>10/02/2026</a:t>
            </a:fld>
            <a:endParaRPr lang="en-US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35AC1D4-27E7-453C-A523-71CF05C4EF1E}"/>
              </a:ext>
            </a:extLst>
          </p:cNvPr>
          <p:cNvSpPr txBox="1"/>
          <p:nvPr/>
        </p:nvSpPr>
        <p:spPr>
          <a:xfrm>
            <a:off x="1067851" y="1545118"/>
            <a:ext cx="821488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rgbClr val="FF0000"/>
                </a:solidFill>
              </a:rPr>
              <a:t>In-</a:t>
            </a:r>
            <a:r>
              <a:rPr lang="fr-FR" sz="2000" b="1" dirty="0" err="1">
                <a:solidFill>
                  <a:srgbClr val="FF0000"/>
                </a:solidFill>
              </a:rPr>
              <a:t>depth</a:t>
            </a:r>
            <a:r>
              <a:rPr lang="fr-FR" sz="2000" b="1" dirty="0">
                <a:solidFill>
                  <a:srgbClr val="FF0000"/>
                </a:solidFill>
              </a:rPr>
              <a:t> and </a:t>
            </a:r>
            <a:r>
              <a:rPr lang="fr-FR" sz="2000" b="1" dirty="0" err="1">
                <a:solidFill>
                  <a:srgbClr val="FF0000"/>
                </a:solidFill>
              </a:rPr>
              <a:t>detailed</a:t>
            </a:r>
            <a:r>
              <a:rPr lang="fr-FR" sz="2000" b="1" dirty="0">
                <a:solidFill>
                  <a:srgbClr val="FF0000"/>
                </a:solidFill>
              </a:rPr>
              <a:t> updates </a:t>
            </a:r>
            <a:r>
              <a:rPr lang="fr-FR" sz="2000" b="1" dirty="0" err="1">
                <a:solidFill>
                  <a:srgbClr val="FF0000"/>
                </a:solidFill>
              </a:rPr>
              <a:t>will</a:t>
            </a:r>
            <a:r>
              <a:rPr lang="fr-FR" sz="2000" b="1" dirty="0">
                <a:solidFill>
                  <a:srgbClr val="FF0000"/>
                </a:solidFill>
              </a:rPr>
              <a:t> </a:t>
            </a:r>
            <a:r>
              <a:rPr lang="fr-FR" sz="2000" b="1" dirty="0" err="1">
                <a:solidFill>
                  <a:srgbClr val="FF0000"/>
                </a:solidFill>
              </a:rPr>
              <a:t>be</a:t>
            </a:r>
            <a:r>
              <a:rPr lang="fr-FR" sz="2000" b="1" dirty="0">
                <a:solidFill>
                  <a:srgbClr val="FF0000"/>
                </a:solidFill>
              </a:rPr>
              <a:t> </a:t>
            </a:r>
            <a:r>
              <a:rPr lang="fr-FR" sz="2000" b="1" dirty="0" err="1">
                <a:solidFill>
                  <a:srgbClr val="FF0000"/>
                </a:solidFill>
              </a:rPr>
              <a:t>given</a:t>
            </a:r>
            <a:r>
              <a:rPr lang="fr-FR" sz="2000" b="1" dirty="0">
                <a:solidFill>
                  <a:srgbClr val="FF0000"/>
                </a:solidFill>
              </a:rPr>
              <a:t> </a:t>
            </a:r>
            <a:r>
              <a:rPr lang="fr-FR" sz="2000" b="1" dirty="0" err="1">
                <a:solidFill>
                  <a:srgbClr val="FF0000"/>
                </a:solidFill>
              </a:rPr>
              <a:t>during</a:t>
            </a:r>
            <a:r>
              <a:rPr lang="fr-FR" sz="2000" b="1" dirty="0">
                <a:solidFill>
                  <a:srgbClr val="FF0000"/>
                </a:solidFill>
              </a:rPr>
              <a:t> the MC meeting!</a:t>
            </a:r>
          </a:p>
          <a:p>
            <a:endParaRPr lang="fr-FR" sz="1400" u="sng" dirty="0"/>
          </a:p>
          <a:p>
            <a:r>
              <a:rPr lang="fr-FR" u="sng" dirty="0" err="1"/>
              <a:t>AcceLMAPs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Application </a:t>
            </a:r>
            <a:r>
              <a:rPr lang="fr-FR" dirty="0" err="1"/>
              <a:t>opened</a:t>
            </a:r>
            <a:r>
              <a:rPr lang="fr-FR" dirty="0"/>
              <a:t> ~20/01/2026 and open </a:t>
            </a:r>
            <a:r>
              <a:rPr lang="fr-FR" dirty="0" err="1"/>
              <a:t>until</a:t>
            </a:r>
            <a:r>
              <a:rPr lang="fr-FR" dirty="0"/>
              <a:t> </a:t>
            </a:r>
            <a:r>
              <a:rPr lang="fr-FR" dirty="0" err="1"/>
              <a:t>Feb</a:t>
            </a:r>
            <a:r>
              <a:rPr lang="fr-FR" dirty="0"/>
              <a:t> 28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 Link via EU-MACE </a:t>
            </a:r>
            <a:r>
              <a:rPr lang="fr-FR" dirty="0" err="1"/>
              <a:t>events</a:t>
            </a:r>
            <a:r>
              <a:rPr lang="fr-FR" dirty="0"/>
              <a:t>’ page - </a:t>
            </a:r>
            <a:r>
              <a:rPr lang="fr-FR" dirty="0">
                <a:hlinkClick r:id="rId3"/>
              </a:rPr>
              <a:t>https://eu-mace.eu/event/5862:training-school-2026-accelmaps-accelerating-energy-materials-development-from-legacy-labs-to-material-acceleration-platforms.html</a:t>
            </a:r>
            <a:r>
              <a:rPr lang="fr-FR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22 </a:t>
            </a:r>
            <a:r>
              <a:rPr lang="fr-FR" dirty="0" err="1"/>
              <a:t>scholarships</a:t>
            </a:r>
            <a:r>
              <a:rPr lang="fr-FR" dirty="0"/>
              <a:t> (</a:t>
            </a:r>
            <a:r>
              <a:rPr lang="fr-FR" dirty="0" err="1"/>
              <a:t>travel</a:t>
            </a:r>
            <a:r>
              <a:rPr lang="fr-FR" dirty="0"/>
              <a:t> 600€ and 160/</a:t>
            </a:r>
            <a:r>
              <a:rPr lang="fr-FR" dirty="0" err="1"/>
              <a:t>day</a:t>
            </a:r>
            <a:r>
              <a:rPr lang="fr-FR" dirty="0"/>
              <a:t> </a:t>
            </a:r>
            <a:r>
              <a:rPr lang="fr-FR" dirty="0" err="1"/>
              <a:t>allowance</a:t>
            </a:r>
            <a:r>
              <a:rPr lang="fr-F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FF0000"/>
                </a:solidFill>
              </a:rPr>
              <a:t>Apply </a:t>
            </a:r>
            <a:r>
              <a:rPr lang="fr-FR" dirty="0" err="1">
                <a:solidFill>
                  <a:srgbClr val="FF0000"/>
                </a:solidFill>
              </a:rPr>
              <a:t>today</a:t>
            </a:r>
            <a:r>
              <a:rPr lang="fr-FR" dirty="0">
                <a:solidFill>
                  <a:srgbClr val="FF0000"/>
                </a:solidFill>
              </a:rPr>
              <a:t>!!</a:t>
            </a:r>
          </a:p>
          <a:p>
            <a:endParaRPr lang="fr-FR" dirty="0"/>
          </a:p>
          <a:p>
            <a:r>
              <a:rPr lang="fr-FR" u="sng" dirty="0"/>
              <a:t>LegacyLabs2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First meeting </a:t>
            </a:r>
            <a:r>
              <a:rPr lang="fr-FR" dirty="0" err="1"/>
              <a:t>done</a:t>
            </a:r>
            <a:r>
              <a:rPr lang="fr-FR" dirty="0"/>
              <a:t>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Leaders = Ivy Tsang (PL) &amp; Max Wolf (AT)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Still</a:t>
            </a:r>
            <a:r>
              <a:rPr lang="fr-FR" dirty="0"/>
              <a:t> possible to </a:t>
            </a:r>
            <a:r>
              <a:rPr lang="fr-FR" dirty="0" err="1"/>
              <a:t>join</a:t>
            </a:r>
            <a:r>
              <a:rPr lang="fr-FR" dirty="0"/>
              <a:t>:  </a:t>
            </a:r>
            <a:r>
              <a:rPr lang="fr-FR" dirty="0">
                <a:hlinkClick r:id="rId4"/>
              </a:rPr>
              <a:t>https://forms.office.com/Pages/ResponsePage.aspx?id=AbEFPv7G5UeC4cakELuVwCgJibv2FtVEiG3gZhT3YqlURVBYWTRZME5DWlJVOU9YQ01RUEcwQktRMS4u</a:t>
            </a:r>
            <a:r>
              <a:rPr lang="fr-FR" dirty="0"/>
              <a:t> </a:t>
            </a:r>
          </a:p>
          <a:p>
            <a:endParaRPr lang="fr-FR" sz="14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767E8A4-61A7-4F2B-A6AE-A15AB65F89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2200" y="3972638"/>
            <a:ext cx="1805288" cy="212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2580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16</a:t>
            </a:fld>
            <a:endParaRPr lang="en-US" dirty="0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CF246-5C8D-49D8-9617-00E4212B7712}" type="datetime1">
              <a:rPr lang="fr-FR" smtClean="0"/>
              <a:t>10/02/2026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838200" y="3599949"/>
            <a:ext cx="4818468" cy="1750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u="sng" dirty="0"/>
              <a:t>Young EU-MACE seminar series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dirty="0"/>
              <a:t>2 speaker candidates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dirty="0"/>
              <a:t>Will re-start on March 10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dirty="0"/>
              <a:t>Want to propose a student/post-doc from your lab?  Contact Ivy!!</a:t>
            </a:r>
          </a:p>
        </p:txBody>
      </p:sp>
      <p:sp>
        <p:nvSpPr>
          <p:cNvPr id="10" name="Title 20">
            <a:extLst>
              <a:ext uri="{FF2B5EF4-FFF2-40B4-BE49-F238E27FC236}">
                <a16:creationId xmlns:a16="http://schemas.microsoft.com/office/drawing/2014/main" id="{432416A3-39EF-4CBE-943D-C79C22FDDC46}"/>
              </a:ext>
            </a:extLst>
          </p:cNvPr>
          <p:cNvSpPr txBox="1">
            <a:spLocks/>
          </p:cNvSpPr>
          <p:nvPr/>
        </p:nvSpPr>
        <p:spPr>
          <a:xfrm>
            <a:off x="452846" y="649956"/>
            <a:ext cx="10900954" cy="726137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all" spc="200" baseline="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Task update cont’d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F0217-95D0-4F04-93A4-0B8D6D380A0C}"/>
              </a:ext>
            </a:extLst>
          </p:cNvPr>
          <p:cNvSpPr/>
          <p:nvPr/>
        </p:nvSpPr>
        <p:spPr>
          <a:xfrm>
            <a:off x="6242176" y="3605360"/>
            <a:ext cx="5733310" cy="1750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u="sng" dirty="0" err="1"/>
              <a:t>ChainMap</a:t>
            </a:r>
            <a:r>
              <a:rPr lang="en-US" sz="2000" b="1" u="sng" dirty="0"/>
              <a:t> upgrade </a:t>
            </a:r>
            <a:endParaRPr lang="en-US" sz="2000" dirty="0"/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i="1" dirty="0"/>
              <a:t>Periodic Review reviewer examined </a:t>
            </a:r>
            <a:r>
              <a:rPr lang="en-US" i="1" dirty="0" err="1"/>
              <a:t>ChainMap</a:t>
            </a:r>
            <a:endParaRPr lang="en-US" i="1" dirty="0"/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i="1" dirty="0"/>
              <a:t>Will organize a meeting with </a:t>
            </a:r>
            <a:r>
              <a:rPr lang="en-US" i="1" dirty="0" err="1"/>
              <a:t>Kourosh</a:t>
            </a:r>
            <a:r>
              <a:rPr lang="en-US" i="1" dirty="0"/>
              <a:t>, </a:t>
            </a:r>
            <a:r>
              <a:rPr lang="en-US" i="1" dirty="0" err="1"/>
              <a:t>Iosif</a:t>
            </a:r>
            <a:r>
              <a:rPr lang="en-US" i="1" dirty="0"/>
              <a:t>, Monica, Saco &amp; Bogdan </a:t>
            </a:r>
            <a:r>
              <a:rPr lang="en-US" i="1" dirty="0">
                <a:sym typeface="Wingdings" panose="05000000000000000000" pitchFamily="2" charset="2"/>
              </a:rPr>
              <a:t> have not done!!! Sorry….</a:t>
            </a:r>
            <a:endParaRPr lang="en-US" i="1" dirty="0"/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dirty="0"/>
              <a:t>Willing to contribute? Email Saco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3E2A53C-3DA4-4E67-A485-5FB986F4A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0429" y="1612621"/>
            <a:ext cx="2000915" cy="1750800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1104D114-C368-4E29-8D57-0AC72373FA9B}"/>
              </a:ext>
            </a:extLst>
          </p:cNvPr>
          <p:cNvSpPr txBox="1"/>
          <p:nvPr/>
        </p:nvSpPr>
        <p:spPr>
          <a:xfrm>
            <a:off x="838200" y="1475457"/>
            <a:ext cx="609494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u="sng" dirty="0"/>
              <a:t>ERASMUS</a:t>
            </a:r>
            <a:endParaRPr lang="fr-FR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/>
              <a:t>First meeting </a:t>
            </a:r>
            <a:r>
              <a:rPr lang="fr-FR" sz="1800" dirty="0" err="1"/>
              <a:t>next</a:t>
            </a:r>
            <a:r>
              <a:rPr lang="fr-FR" sz="1800" dirty="0"/>
              <a:t> </a:t>
            </a:r>
            <a:r>
              <a:rPr lang="fr-FR" sz="1800" dirty="0" err="1"/>
              <a:t>week</a:t>
            </a:r>
            <a:r>
              <a:rPr lang="fr-FR" sz="1800" dirty="0"/>
              <a:t>! (10 </a:t>
            </a:r>
            <a:r>
              <a:rPr lang="fr-FR" sz="1800" dirty="0" err="1"/>
              <a:t>ppl</a:t>
            </a:r>
            <a:r>
              <a:rPr lang="fr-FR" sz="1800" dirty="0"/>
              <a:t> </a:t>
            </a:r>
            <a:r>
              <a:rPr lang="fr-FR" sz="1800" dirty="0" err="1"/>
              <a:t>signed</a:t>
            </a:r>
            <a:r>
              <a:rPr lang="fr-FR" sz="1800" dirty="0"/>
              <a:t> 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 err="1"/>
              <a:t>Still</a:t>
            </a:r>
            <a:r>
              <a:rPr lang="fr-FR" sz="1800" dirty="0"/>
              <a:t> possible to </a:t>
            </a:r>
            <a:r>
              <a:rPr lang="fr-FR" sz="1800" dirty="0" err="1"/>
              <a:t>join</a:t>
            </a:r>
            <a:r>
              <a:rPr lang="fr-FR" sz="1800" dirty="0"/>
              <a:t>: </a:t>
            </a:r>
            <a:r>
              <a:rPr lang="fr-FR" sz="1800" dirty="0">
                <a:hlinkClick r:id="rId4"/>
              </a:rPr>
              <a:t>https://forms.office.com/Pages/ResponsePage.aspx?id=9xZkbOgxIEWCTMuTP4OQuXsjyL-l515MkDTrXz9gtT5UMjVCNUNROVkyTlRKM0dHRTlFWDhRWVc2RS4u</a:t>
            </a:r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41884608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EU-MACE CG update meeting GP3 - 2</a:t>
            </a:r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t>17</a:t>
            </a:fld>
            <a:endParaRPr lang="en-US" dirty="0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C45C8-519C-4F52-B513-207291255590}" type="datetime1">
              <a:rPr lang="fr-FR" smtClean="0"/>
              <a:t>10/02/2026</a:t>
            </a:fld>
            <a:endParaRPr lang="en-US" dirty="0"/>
          </a:p>
        </p:txBody>
      </p:sp>
      <p:sp>
        <p:nvSpPr>
          <p:cNvPr id="10" name="Title 20">
            <a:extLst>
              <a:ext uri="{FF2B5EF4-FFF2-40B4-BE49-F238E27FC236}">
                <a16:creationId xmlns:a16="http://schemas.microsoft.com/office/drawing/2014/main" id="{432416A3-39EF-4CBE-943D-C79C22FDDC46}"/>
              </a:ext>
            </a:extLst>
          </p:cNvPr>
          <p:cNvSpPr txBox="1">
            <a:spLocks/>
          </p:cNvSpPr>
          <p:nvPr/>
        </p:nvSpPr>
        <p:spPr>
          <a:xfrm>
            <a:off x="452846" y="649956"/>
            <a:ext cx="10900954" cy="726137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all" spc="200" baseline="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AOB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3D2A27A-2BCF-4295-BA52-1319CA12DC3A}"/>
              </a:ext>
            </a:extLst>
          </p:cNvPr>
          <p:cNvSpPr txBox="1"/>
          <p:nvPr/>
        </p:nvSpPr>
        <p:spPr>
          <a:xfrm>
            <a:off x="514728" y="1555036"/>
            <a:ext cx="573977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Open discussion</a:t>
            </a:r>
          </a:p>
          <a:p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Questions??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r>
              <a:rPr lang="fr-FR" b="1" dirty="0"/>
              <a:t>NEXT </a:t>
            </a:r>
            <a:r>
              <a:rPr lang="fr-FR" b="1" dirty="0" err="1"/>
              <a:t>monthly</a:t>
            </a:r>
            <a:r>
              <a:rPr lang="fr-FR" b="1" dirty="0"/>
              <a:t> update meetings:  Second Tuesday at 3pm</a:t>
            </a:r>
          </a:p>
          <a:p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trike="sngStrike" dirty="0" err="1"/>
              <a:t>Feb</a:t>
            </a:r>
            <a:r>
              <a:rPr lang="fr-FR" strike="sngStrike" dirty="0"/>
              <a:t> 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March 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April 14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May 12</a:t>
            </a:r>
          </a:p>
          <a:p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F81708-2356-4573-ADAE-5B94D96D1A34}"/>
              </a:ext>
            </a:extLst>
          </p:cNvPr>
          <p:cNvSpPr/>
          <p:nvPr/>
        </p:nvSpPr>
        <p:spPr>
          <a:xfrm>
            <a:off x="2209800" y="4571246"/>
            <a:ext cx="83067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b="1" dirty="0" err="1">
                <a:solidFill>
                  <a:srgbClr val="FF0000"/>
                </a:solidFill>
              </a:rPr>
              <a:t>See</a:t>
            </a:r>
            <a:r>
              <a:rPr lang="fr-FR" sz="2000" b="1" dirty="0">
                <a:solidFill>
                  <a:srgbClr val="FF0000"/>
                </a:solidFill>
              </a:rPr>
              <a:t> </a:t>
            </a:r>
            <a:r>
              <a:rPr lang="fr-FR" sz="2000" b="1" dirty="0" err="1">
                <a:solidFill>
                  <a:srgbClr val="FF0000"/>
                </a:solidFill>
              </a:rPr>
              <a:t>you</a:t>
            </a:r>
            <a:r>
              <a:rPr lang="fr-FR" sz="2000" b="1" dirty="0">
                <a:solidFill>
                  <a:srgbClr val="FF0000"/>
                </a:solidFill>
              </a:rPr>
              <a:t> all at MC meeting and Workshop!  Don’t </a:t>
            </a:r>
            <a:r>
              <a:rPr lang="fr-FR" sz="2000" b="1" dirty="0" err="1">
                <a:solidFill>
                  <a:srgbClr val="FF0000"/>
                </a:solidFill>
              </a:rPr>
              <a:t>forget</a:t>
            </a:r>
            <a:r>
              <a:rPr lang="fr-FR" sz="2000" b="1" dirty="0">
                <a:solidFill>
                  <a:srgbClr val="FF0000"/>
                </a:solidFill>
              </a:rPr>
              <a:t> to </a:t>
            </a:r>
            <a:r>
              <a:rPr lang="fr-FR" sz="2000" b="1" dirty="0" err="1">
                <a:solidFill>
                  <a:srgbClr val="FF0000"/>
                </a:solidFill>
              </a:rPr>
              <a:t>register</a:t>
            </a:r>
            <a:r>
              <a:rPr lang="fr-FR" sz="2000" b="1" dirty="0">
                <a:solidFill>
                  <a:srgbClr val="FF0000"/>
                </a:solidFill>
              </a:rPr>
              <a:t> </a:t>
            </a:r>
            <a:r>
              <a:rPr lang="fr-FR" sz="2000" b="1" dirty="0" err="1">
                <a:solidFill>
                  <a:srgbClr val="FF0000"/>
                </a:solidFill>
              </a:rPr>
              <a:t>today</a:t>
            </a:r>
            <a:r>
              <a:rPr lang="fr-FR" sz="2000" b="1" dirty="0">
                <a:solidFill>
                  <a:srgbClr val="FF0000"/>
                </a:solidFill>
              </a:rPr>
              <a:t>!!!!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AF0C13E1-CBBC-4650-8167-1D72E9076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5366" y="1676500"/>
            <a:ext cx="2415749" cy="2438611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66DFC73B-A52A-424D-85A7-DAEE82C9812F}"/>
              </a:ext>
            </a:extLst>
          </p:cNvPr>
          <p:cNvSpPr txBox="1"/>
          <p:nvPr/>
        </p:nvSpPr>
        <p:spPr>
          <a:xfrm>
            <a:off x="3485756" y="5163471"/>
            <a:ext cx="61012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0070C0"/>
                </a:solidFill>
              </a:rPr>
              <a:t>https://forms.office.com/Pages/ResponsePage.aspx?id=9xZkbOgxIEWCTMuTP4OQua30uxW7CP5Ki2iESeIBm99UNVFaOEZKSTRNT09LSEVWNUFaTjVXVUU1QS4u</a:t>
            </a:r>
          </a:p>
        </p:txBody>
      </p:sp>
    </p:spTree>
    <p:extLst>
      <p:ext uri="{BB962C8B-B14F-4D97-AF65-F5344CB8AC3E}">
        <p14:creationId xmlns:p14="http://schemas.microsoft.com/office/powerpoint/2010/main" val="908452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ED6DA"/>
      </a:accent1>
      <a:accent2>
        <a:srgbClr val="3E7090"/>
      </a:accent2>
      <a:accent3>
        <a:srgbClr val="93A5A8"/>
      </a:accent3>
      <a:accent4>
        <a:srgbClr val="627272"/>
      </a:accent4>
      <a:accent5>
        <a:srgbClr val="BDA07D"/>
      </a:accent5>
      <a:accent6>
        <a:srgbClr val="D8CAB7"/>
      </a:accent6>
      <a:hlink>
        <a:srgbClr val="0563C1"/>
      </a:hlink>
      <a:folHlink>
        <a:srgbClr val="954F72"/>
      </a:folHlink>
    </a:clrScheme>
    <a:fontScheme name="Custom 24">
      <a:majorFont>
        <a:latin typeface="Segoe UI Ligh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astal_Presentation_TM33468121_Win32_JC_SL_v3" id="{5CC0C496-FD8A-42BF-932F-4FD62E56F269}" vid="{DBEAE538-0105-45CF-A6D4-E0B303E187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3EF380A-18DE-4A59-8A28-3F29B5D010E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2AF5DA8-6387-4138-BF96-B65D39F2FC21}">
  <ds:schemaRefs>
    <ds:schemaRef ds:uri="http://purl.org/dc/terms/"/>
    <ds:schemaRef ds:uri="16c05727-aa75-4e4a-9b5f-8a80a1165891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http://schemas.microsoft.com/sharepoint/v3"/>
    <ds:schemaRef ds:uri="230e9df3-be65-4c73-a93b-d1236ebd677e"/>
    <ds:schemaRef ds:uri="71af3243-3dd4-4a8d-8c0d-dd76da1f02a5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279BBA1-1277-4614-8DDE-B2EB2275122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903</Words>
  <Application>Microsoft Office PowerPoint</Application>
  <PresentationFormat>Grand écran</PresentationFormat>
  <Paragraphs>173</Paragraphs>
  <Slides>17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3" baseType="lpstr">
      <vt:lpstr>Arial</vt:lpstr>
      <vt:lpstr>Arial Black</vt:lpstr>
      <vt:lpstr>Calibri</vt:lpstr>
      <vt:lpstr>Segoe UI</vt:lpstr>
      <vt:lpstr>Segoe UI Light</vt:lpstr>
      <vt:lpstr>Office Theme</vt:lpstr>
      <vt:lpstr>CA22123 EU-MACE:     Core Group monthly update GP3 #4</vt:lpstr>
      <vt:lpstr>Hello!</vt:lpstr>
      <vt:lpstr>Présentation PowerPoint</vt:lpstr>
      <vt:lpstr>MC 1 &amp; WorkShop in preparation</vt:lpstr>
      <vt:lpstr>Tentative Agenda</vt:lpstr>
      <vt:lpstr>MC meeting &amp; workshop: logistics</vt:lpstr>
      <vt:lpstr>Day1</vt:lpstr>
      <vt:lpstr>MC 1 discussion points</vt:lpstr>
      <vt:lpstr>MC meeting agenda</vt:lpstr>
      <vt:lpstr>Joint workshop – « sustainability »</vt:lpstr>
      <vt:lpstr>WS starts on Day1 at 2pm</vt:lpstr>
      <vt:lpstr>Day 2</vt:lpstr>
      <vt:lpstr>Day 3</vt:lpstr>
      <vt:lpstr>Updates from tasks</vt:lpstr>
      <vt:lpstr>AccelMAPS/LegacyLabs/Erasmus/Young-EUMACE…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2021-05-30T14:58:49Z</dcterms:created>
  <dcterms:modified xsi:type="dcterms:W3CDTF">2026-02-10T16:28:41Z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