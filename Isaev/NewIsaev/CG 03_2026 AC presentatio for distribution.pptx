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 bookmarkIdSeed="2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327" r:id="rId6"/>
    <p:sldId id="257" r:id="rId7"/>
    <p:sldId id="328" r:id="rId8"/>
    <p:sldId id="403" r:id="rId9"/>
    <p:sldId id="343" r:id="rId10"/>
    <p:sldId id="344" r:id="rId11"/>
    <p:sldId id="447" r:id="rId12"/>
    <p:sldId id="483" r:id="rId13"/>
    <p:sldId id="489" r:id="rId14"/>
    <p:sldId id="508" r:id="rId15"/>
    <p:sldId id="487" r:id="rId16"/>
    <p:sldId id="841" r:id="rId17"/>
    <p:sldId id="492" r:id="rId18"/>
    <p:sldId id="406" r:id="rId19"/>
    <p:sldId id="843" r:id="rId20"/>
    <p:sldId id="844" r:id="rId21"/>
    <p:sldId id="488" r:id="rId22"/>
    <p:sldId id="845" r:id="rId23"/>
    <p:sldId id="846" r:id="rId24"/>
    <p:sldId id="842" r:id="rId25"/>
    <p:sldId id="847" r:id="rId26"/>
    <p:sldId id="386" r:id="rId27"/>
    <p:sldId id="417" r:id="rId28"/>
    <p:sldId id="481" r:id="rId29"/>
    <p:sldId id="47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9F9"/>
    <a:srgbClr val="627272"/>
    <a:srgbClr val="FF6600"/>
    <a:srgbClr val="3E7090"/>
    <a:srgbClr val="685135"/>
    <a:srgbClr val="BDA07D"/>
    <a:srgbClr val="93A5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087" autoAdjust="0"/>
  </p:normalViewPr>
  <p:slideViewPr>
    <p:cSldViewPr snapToGrid="0">
      <p:cViewPr varScale="1">
        <p:scale>
          <a:sx n="152" d="100"/>
          <a:sy n="152" d="100"/>
        </p:scale>
        <p:origin x="2820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4866"/>
    </p:cViewPr>
  </p:sorterViewPr>
  <p:notesViewPr>
    <p:cSldViewPr snapToGrid="0">
      <p:cViewPr varScale="1">
        <p:scale>
          <a:sx n="125" d="100"/>
          <a:sy n="125" d="100"/>
        </p:scale>
        <p:origin x="486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A4CE-17BB-4BB2-AC7B-97495293E2AC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EF92D-82DD-4142-BCE8-036B91487D2E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6C8F5-2FDA-4718-81AA-24F4816BBD56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C616-C518-4358-9496-6C33B2F5FA5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910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1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28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666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37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30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399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851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447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658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9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573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70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769" y="2683895"/>
            <a:ext cx="5278514" cy="28622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50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636" y="5568698"/>
            <a:ext cx="5278514" cy="6181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43875" y="947737"/>
            <a:ext cx="4048124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1278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C813-EE84-4C00-BDF7-2FD444FA42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1580" y="942423"/>
            <a:ext cx="4694420" cy="1124392"/>
          </a:xfrm>
          <a:prstGeom prst="rect">
            <a:avLst/>
          </a:prstGeom>
        </p:spPr>
        <p:txBody>
          <a:bodyPr anchor="b"/>
          <a:lstStyle>
            <a:lvl1pPr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41FB44AB-9520-4C96-A83D-2FABD15CBE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0587" y="2329867"/>
            <a:ext cx="4058872" cy="315653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sz="2000" cap="none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B1A04-4BA1-4FCF-B19E-6A052911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D33EA-800C-403C-867B-B4178A7C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285C91D-2914-4BB9-A857-7DFA168C76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83361" y="0"/>
            <a:ext cx="3598052" cy="32581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96BB5-7888-43CA-A76C-BF7DE06DF2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83361" y="3599895"/>
            <a:ext cx="3598052" cy="32581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8D158-80CE-4259-AE40-6EC8A072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C8E4-E66E-43DD-B7F9-77510035A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7600" y="2921000"/>
            <a:ext cx="4749800" cy="527050"/>
          </a:xfrm>
          <a:prstGeom prst="rect">
            <a:avLst/>
          </a:prstGeom>
        </p:spPr>
        <p:txBody>
          <a:bodyPr anchor="b"/>
          <a:lstStyle>
            <a:lvl1pPr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DA549A2-F99E-46CF-BFF2-0F2D5834E1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0" y="492125"/>
            <a:ext cx="4114800" cy="537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8E76B184-0041-41D4-948C-64DE4AB097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7600" y="3429000"/>
            <a:ext cx="4749800" cy="21299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50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B09CA-52A5-4AB5-AF1F-8A219418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5B9A3-008F-4631-AAAD-66E8363F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47ADF-979E-4B05-BD10-4C2F2796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36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ry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8C8EB8A-A968-4E47-AE69-9A01E7717E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8402" y="598401"/>
            <a:ext cx="9645056" cy="56611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198BF-0DCC-40E9-B9E5-892F3CCF5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978" y="3443968"/>
            <a:ext cx="6022021" cy="882499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tIns="457200" anchor="ctr" anchorCtr="0"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AD04F8B-0B18-4B5F-B3A8-8EEDC439F5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9979" y="4326467"/>
            <a:ext cx="6022021" cy="830414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bIns="365760" anchor="ctr"/>
          <a:lstStyle>
            <a:lvl1pPr marL="0" indent="0" algn="l">
              <a:buNone/>
              <a:defRPr sz="2000" i="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9307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ly Perform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EE33C-7BB8-4644-AC43-EAFCF071A5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9663" y="498928"/>
            <a:ext cx="9972675" cy="567873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A6D30-3C9B-4105-8529-1FC3C479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6CE03B-D3BE-49C6-B2A4-0E17803F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B961D-2B84-4E52-A71A-1C55CFFD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27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eas of 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A794-F088-4753-95A0-021064EE6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4166"/>
            <a:ext cx="10515600" cy="567873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3E83D-2F76-4F03-9EF6-81DED406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99F77-FE1A-4CD5-8B1C-50D8981A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CA1C4-7C3D-4FAE-B5FC-D235F6D9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48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8E96375-73CE-4ED7-90B6-293AB27ED0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E8AED7C-EFC3-4427-AD37-E7AA4AF0C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181910"/>
            <a:ext cx="12192000" cy="3352227"/>
          </a:xfrm>
          <a:custGeom>
            <a:avLst/>
            <a:gdLst>
              <a:gd name="connsiteX0" fmla="*/ 11721830 w 12192000"/>
              <a:gd name="connsiteY0" fmla="*/ 0 h 3352227"/>
              <a:gd name="connsiteX1" fmla="*/ 12192000 w 12192000"/>
              <a:gd name="connsiteY1" fmla="*/ 0 h 3352227"/>
              <a:gd name="connsiteX2" fmla="*/ 12192000 w 12192000"/>
              <a:gd name="connsiteY2" fmla="*/ 3352227 h 3352227"/>
              <a:gd name="connsiteX3" fmla="*/ 11721830 w 12192000"/>
              <a:gd name="connsiteY3" fmla="*/ 3352227 h 3352227"/>
              <a:gd name="connsiteX4" fmla="*/ 0 w 12192000"/>
              <a:gd name="connsiteY4" fmla="*/ 0 h 3352227"/>
              <a:gd name="connsiteX5" fmla="*/ 5525311 w 12192000"/>
              <a:gd name="connsiteY5" fmla="*/ 0 h 3352227"/>
              <a:gd name="connsiteX6" fmla="*/ 5525311 w 12192000"/>
              <a:gd name="connsiteY6" fmla="*/ 3352227 h 3352227"/>
              <a:gd name="connsiteX7" fmla="*/ 0 w 12192000"/>
              <a:gd name="connsiteY7" fmla="*/ 3352227 h 335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352227">
                <a:moveTo>
                  <a:pt x="11721830" y="0"/>
                </a:moveTo>
                <a:lnTo>
                  <a:pt x="12192000" y="0"/>
                </a:lnTo>
                <a:lnTo>
                  <a:pt x="12192000" y="3352227"/>
                </a:lnTo>
                <a:lnTo>
                  <a:pt x="11721830" y="3352227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3352227"/>
                </a:lnTo>
                <a:lnTo>
                  <a:pt x="0" y="335222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rIns="7315200" anchor="b"/>
          <a:lstStyle>
            <a:lvl1pPr>
              <a:defRPr lang="en-US" sz="3200" cap="all" spc="200" baseline="0" dirty="0"/>
            </a:lvl1pPr>
          </a:lstStyle>
          <a:p>
            <a:pPr marL="0" lvl="0"/>
            <a:r>
              <a:rPr lang="en-US" dirty="0"/>
              <a:t>Click to add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2FF0B66-A4D6-423A-AC8B-48E8CD7DF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4534137"/>
            <a:ext cx="12192000" cy="1141953"/>
          </a:xfrm>
          <a:custGeom>
            <a:avLst/>
            <a:gdLst>
              <a:gd name="connsiteX0" fmla="*/ 11721830 w 12192000"/>
              <a:gd name="connsiteY0" fmla="*/ 1 h 1141953"/>
              <a:gd name="connsiteX1" fmla="*/ 12192000 w 12192000"/>
              <a:gd name="connsiteY1" fmla="*/ 1 h 1141953"/>
              <a:gd name="connsiteX2" fmla="*/ 12192000 w 12192000"/>
              <a:gd name="connsiteY2" fmla="*/ 1141953 h 1141953"/>
              <a:gd name="connsiteX3" fmla="*/ 11721830 w 12192000"/>
              <a:gd name="connsiteY3" fmla="*/ 1141953 h 1141953"/>
              <a:gd name="connsiteX4" fmla="*/ 0 w 12192000"/>
              <a:gd name="connsiteY4" fmla="*/ 0 h 1141953"/>
              <a:gd name="connsiteX5" fmla="*/ 5525311 w 12192000"/>
              <a:gd name="connsiteY5" fmla="*/ 0 h 1141953"/>
              <a:gd name="connsiteX6" fmla="*/ 5525311 w 12192000"/>
              <a:gd name="connsiteY6" fmla="*/ 1141952 h 1141953"/>
              <a:gd name="connsiteX7" fmla="*/ 0 w 12192000"/>
              <a:gd name="connsiteY7" fmla="*/ 1141952 h 114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41953">
                <a:moveTo>
                  <a:pt x="11721830" y="1"/>
                </a:moveTo>
                <a:lnTo>
                  <a:pt x="12192000" y="1"/>
                </a:lnTo>
                <a:lnTo>
                  <a:pt x="12192000" y="1141953"/>
                </a:lnTo>
                <a:lnTo>
                  <a:pt x="11721830" y="1141953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1141952"/>
                </a:lnTo>
                <a:lnTo>
                  <a:pt x="0" y="114195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tIns="137160" rIns="6400800" anchor="t"/>
          <a:lstStyle>
            <a:lvl1pPr marL="0" indent="0">
              <a:buNone/>
              <a:defRPr lang="en-US" sz="2000" b="0" i="0" spc="200" baseline="0" dirty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en-US" dirty="0"/>
              <a:t>Click to add name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2883E-0EA3-4DCA-BB78-AD84BBE5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860F9-7B15-486D-B68B-1D5E02F6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B89DE-8ADC-4391-8EAF-C713EA69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3D2BF-453A-45BE-9E29-EC3F8D9F5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846" y="1487527"/>
            <a:ext cx="2581554" cy="1325563"/>
          </a:xfrm>
          <a:prstGeom prst="rect">
            <a:avLst/>
          </a:prstGeom>
        </p:spPr>
        <p:txBody>
          <a:bodyPr anchor="b"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1" name="Picture Placeholder 9">
            <a:extLst>
              <a:ext uri="{FF2B5EF4-FFF2-40B4-BE49-F238E27FC236}">
                <a16:creationId xmlns:a16="http://schemas.microsoft.com/office/drawing/2014/main" id="{C47B8159-559E-42C4-AA5B-7642DE42745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3630" y="677419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9E9FA76D-767D-4F48-9238-F384F4D41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3628" y="2299842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3" name="Text Placeholder 17">
            <a:extLst>
              <a:ext uri="{FF2B5EF4-FFF2-40B4-BE49-F238E27FC236}">
                <a16:creationId xmlns:a16="http://schemas.microsoft.com/office/drawing/2014/main" id="{40F2B787-B1D2-493C-ABA2-D6E69C4800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93628" y="2774990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54" name="Picture Placeholder 9">
            <a:extLst>
              <a:ext uri="{FF2B5EF4-FFF2-40B4-BE49-F238E27FC236}">
                <a16:creationId xmlns:a16="http://schemas.microsoft.com/office/drawing/2014/main" id="{7FCC4980-412C-49F7-BF30-8693DD9EAC0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31774" y="677419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5" name="Text Placeholder 17">
            <a:extLst>
              <a:ext uri="{FF2B5EF4-FFF2-40B4-BE49-F238E27FC236}">
                <a16:creationId xmlns:a16="http://schemas.microsoft.com/office/drawing/2014/main" id="{B9BD60DD-95CB-47D1-9C2F-5ACD388206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1772" y="2299842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19FF93B2-766D-4558-94BE-49F215C0FF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1772" y="2774990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57" name="Picture Placeholder 9">
            <a:extLst>
              <a:ext uri="{FF2B5EF4-FFF2-40B4-BE49-F238E27FC236}">
                <a16:creationId xmlns:a16="http://schemas.microsoft.com/office/drawing/2014/main" id="{F16F9FCC-4EE2-4D18-8257-694E9C80F54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93630" y="3250138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F434B9BC-2EC7-4433-BAA8-039EB5BED5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93628" y="4872561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6F08FB05-53FB-4C19-A35C-592C4DFDFF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3628" y="5347709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60" name="Picture Placeholder 9">
            <a:extLst>
              <a:ext uri="{FF2B5EF4-FFF2-40B4-BE49-F238E27FC236}">
                <a16:creationId xmlns:a16="http://schemas.microsoft.com/office/drawing/2014/main" id="{9589D7D2-07DF-415C-A139-E911869A1BC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431774" y="3250138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E622F2E3-2C07-4ABC-A803-40361BBB73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31772" y="4872561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B505FD93-2404-46B6-9EE0-9CABFC5233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31772" y="5347709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75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116A5-69B8-43BF-B141-AC2A4B6CE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217" y="1207697"/>
            <a:ext cx="2970156" cy="1622912"/>
          </a:xfrm>
          <a:prstGeom prst="rect">
            <a:avLst/>
          </a:prstGeom>
        </p:spPr>
        <p:txBody>
          <a:bodyPr anchor="b"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D283EBF-8FBA-4A7A-9DCE-23E0BF7F6A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80553" y="1153717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D76D02-A6E3-446F-B85B-CAD9ED06415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51733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54B1A-CAD7-4645-A1B3-1A5EFD54C9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51733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517EAC0-89E0-4247-B048-92F65C868A7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891925" y="1153717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F5710E0-5399-4C8A-9D92-390195CB6F2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63105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19883F1-27DD-46A1-AD71-3AE1425600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63105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7847BEB8-AC95-445E-AFB4-34B7658BB99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003297" y="1153717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82B5CAB5-1932-4DC0-BBBD-8ABA7C5D5D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74476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E248F87C-2911-41CB-A4BD-6ECD4E13B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74476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7B6B3681-1E21-44DA-AADA-F5E638A8742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0114667" y="1153717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2D88AD4B-15C6-42C2-B9A5-BD645DA67D7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85846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D79E337C-DD94-4BC6-9F28-69AC04CD2B3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85846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B50A84FF-F66B-4AB8-837C-E3025F19E9C0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780553" y="3614936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540D9937-87C5-40B3-86E6-F1CBFCA40C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51733" y="476739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81570DE-3568-4F16-9DF8-269B29DDE6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51733" y="5242840"/>
            <a:ext cx="2069691" cy="69719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C26642-ECFF-4F11-B242-BBBA5D672DA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891925" y="3614936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E4E35F3-EC7A-489D-985F-0CA9F0402B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63105" y="4768651"/>
            <a:ext cx="2069691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55AFBE6C-8E28-48EC-8798-5E463B8E47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3105" y="5243800"/>
            <a:ext cx="2069691" cy="69536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BCC40003-8966-4A03-9C79-EB95966FFE0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3297" y="3614936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023FE51B-CC62-42E7-BCF7-123DB0B9244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74476" y="4768651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CA6C07A-2E37-4897-AF99-5152B241E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74476" y="5243800"/>
            <a:ext cx="2069690" cy="69536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026B0125-C5D1-4397-BA37-9D1FCB7DA71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0114667" y="3614936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A57BE95A-45E1-4F78-9162-0D9005657D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85846" y="4768651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EF2F2B86-E2A2-406A-9EED-2FBD6601798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85846" y="5243800"/>
            <a:ext cx="2069690" cy="69536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72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Launch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101351-79F8-4AD7-A22B-E7AFB1C69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9A49BC-8099-40DE-8210-5A1CBAA42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8928"/>
            <a:ext cx="10515600" cy="567872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B7BBE6-4278-4E33-9044-72A2E0C0E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8564" y="1585733"/>
            <a:ext cx="2065188" cy="3995918"/>
          </a:xfrm>
          <a:prstGeom prst="rect">
            <a:avLst/>
          </a:prstGeom>
          <a:solidFill>
            <a:srgbClr val="3E70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549E-0E7C-4599-B51C-97AA7E52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2832" y="1585733"/>
            <a:ext cx="2065188" cy="3995918"/>
          </a:xfrm>
          <a:prstGeom prst="rect">
            <a:avLst/>
          </a:prstGeom>
          <a:solidFill>
            <a:srgbClr val="93A5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7C507F-AD4D-47B6-88C3-C1D0154FB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63405" y="1585733"/>
            <a:ext cx="2065188" cy="3995918"/>
          </a:xfrm>
          <a:prstGeom prst="rect">
            <a:avLst/>
          </a:prstGeom>
          <a:solidFill>
            <a:srgbClr val="6272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266B1-BBD1-44C0-8D4C-4E651D320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3980" y="1585733"/>
            <a:ext cx="2065188" cy="3995918"/>
          </a:xfrm>
          <a:prstGeom prst="rect">
            <a:avLst/>
          </a:prstGeom>
          <a:solidFill>
            <a:srgbClr val="BDA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1BB1CE-E3FA-4E7F-A54B-3FB675098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1052" y="1585733"/>
            <a:ext cx="2065188" cy="3995918"/>
          </a:xfrm>
          <a:prstGeom prst="rect">
            <a:avLst/>
          </a:prstGeom>
          <a:solidFill>
            <a:srgbClr val="6851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5D11F63-A3DB-4EB1-9148-6E8C6678D1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7843" y="2434147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96E63495-7407-4360-95F6-82D0C68813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843" y="3267049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A879552-0B9C-48EC-8D07-A24DB252D6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52111" y="2443870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8337BD60-5C54-4FEC-A9D6-5C29EB9479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2111" y="3276772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25F7073D-87C3-473A-9A04-748C3F6826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82684" y="2434147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5CB2BF3B-6E9D-4A28-A938-C9CC9E4964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2684" y="3267049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94E179CD-2F9C-44FA-813E-253ACC4A97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13259" y="2443870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34D58360-D7DD-4F33-A29E-5F4835C2DC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13259" y="3276772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A5A81E7-83B9-4A30-9A57-98FFF27160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30331" y="2434147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C45C6D3E-88B9-42D5-9A94-6D2B9CA3CD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30331" y="3267049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3D60E-3024-42AA-9CF9-A44192AE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2FBC6-68D1-4570-A549-C4A925FB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1DC1F-6117-4AB4-9BF1-878D4F82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53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8B9A4D3-8D91-4865-B422-5F60885A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592874" y="3684898"/>
            <a:ext cx="9006253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0ECDAF5-DEB9-4A0C-9165-6ED23184A3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8928"/>
            <a:ext cx="10515600" cy="565435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FEA1AD-EC70-422F-BADD-FCA14BF9D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28750" y="3520775"/>
            <a:ext cx="328246" cy="3282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4996E-63EA-4C88-816A-3AE158BB5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80314" y="3520775"/>
            <a:ext cx="328246" cy="3282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09893-F9A1-4FA2-A462-C1C443EC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31878" y="3520775"/>
            <a:ext cx="328246" cy="32824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FBC17-744B-4367-90B4-20C9CDBD1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3442" y="3520775"/>
            <a:ext cx="328246" cy="32824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FD6CCE-53EA-424C-A29B-35A77F7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35004" y="3520775"/>
            <a:ext cx="328246" cy="32824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ADC218-9303-4431-8BD2-4D5F9C19A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92873" y="296438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724929-97F8-4988-BD69-D86CAA695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1" y="2964383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0FEF08-1FB7-46B4-AB6B-D672A96A7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599127" y="2964383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8BA510CE-108D-434A-9BE7-BE6712175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72" y="1627860"/>
            <a:ext cx="2251564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tx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0414708-82D0-44BF-8CBD-2D165A3856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172" y="2135346"/>
            <a:ext cx="2251564" cy="8124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272F07D4-1C66-4FA2-8361-FC6267F177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0216" y="1637385"/>
            <a:ext cx="2251564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5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432C0CF3-19F3-4C10-9EEC-BA5E5F3FD2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70216" y="2144871"/>
            <a:ext cx="2251564" cy="8124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4A3A0AFC-7EB9-4059-8C59-C42379BA92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73340" y="1637385"/>
            <a:ext cx="2251564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17F27A8-21AF-48E6-8A67-65C9920A30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3340" y="2144871"/>
            <a:ext cx="2251564" cy="8124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26C8D2A-15B8-4AB1-83F7-74DB0A35CC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16736" y="4400252"/>
            <a:ext cx="2251562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07311D06-DEA1-4811-AC58-E3B935DC5A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6736" y="4917263"/>
            <a:ext cx="2251562" cy="79556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23AC1CF6-E394-4A35-A634-F187E005A4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21784" y="4400252"/>
            <a:ext cx="2251562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9F72BEB0-9B11-4205-B9FC-10E5201C8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21784" y="4917263"/>
            <a:ext cx="2251562" cy="79556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E574CD7-C8A6-4F56-81B4-F72FB22E0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844715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0FC7994-2504-4FF9-81F5-24405FEF0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47565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F63B8-F105-4AC4-889E-C12790C8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AAE30-8A46-485A-BD2B-6ADB1856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59F9D-CDA1-4B51-B521-C243219B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37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48F598-64F2-429E-B3E0-FC31DC90A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9956"/>
            <a:ext cx="10515600" cy="726137"/>
          </a:xfrm>
          <a:prstGeom prst="rect">
            <a:avLst/>
          </a:prstGeom>
        </p:spPr>
        <p:txBody>
          <a:bodyPr anchor="ctr"/>
          <a:lstStyle>
            <a:lvl1pPr algn="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B9DAAC-E781-43E6-913C-893B8D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0"/>
            <a:ext cx="12192001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78864A-44CD-4C12-B023-C16330014B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7759" y="2063838"/>
            <a:ext cx="4626764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D9CE0F4-78C6-4BD6-9C58-FDFC16FF09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7551" y="2486203"/>
            <a:ext cx="4626293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499BD94-B24B-4B23-9B87-81DF413EA4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51708" y="2063837"/>
            <a:ext cx="4626763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6BC5A941-8EB4-4D4B-9671-6B8FA6447A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2188" y="2486202"/>
            <a:ext cx="4626293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3392-5868-4F6C-BFCC-ECCB66A3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975EE-261C-47D3-A9E5-7401C706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BB3A-38A2-4A8E-88C2-55FAE758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179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3E9C-104B-4460-A48D-0C2C5329B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0431"/>
            <a:ext cx="10515600" cy="726137"/>
          </a:xfrm>
          <a:prstGeom prst="rect">
            <a:avLst/>
          </a:prstGeom>
        </p:spPr>
        <p:txBody>
          <a:bodyPr anchor="ctr"/>
          <a:lstStyle>
            <a:lvl1pPr algn="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6DDC2F-7D33-44CF-9D9F-B342720BB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0"/>
            <a:ext cx="12192000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A8189FC-92D4-447F-BE75-86F13BA33B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3140" y="2063838"/>
            <a:ext cx="3515704" cy="4223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4FDAEC9F-05AF-4D5D-AD2C-537FF767ED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932" y="2523933"/>
            <a:ext cx="351534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492CECA-D20C-47AF-A75A-44DFDE74D8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9790" y="2063838"/>
            <a:ext cx="3515704" cy="4223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EF915A4-555A-4718-876D-625A85FAB0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9582" y="2523933"/>
            <a:ext cx="351534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7458D237-AB82-4392-B182-AAF3694FDB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5874" y="2063838"/>
            <a:ext cx="3515704" cy="4223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AAA9CCE2-427A-46C0-A79B-0D01E8888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5666" y="2523933"/>
            <a:ext cx="351534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A30FE-146C-418D-B68F-9EBB829D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CBBE8-05C6-4946-80F5-DE319A6FC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39E0-080F-4A5D-99FB-FD1917E7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8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C65D0-3E91-45C0-BC6C-CC7BFE58B0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800" y="3429000"/>
            <a:ext cx="3097320" cy="978408"/>
          </a:xfrm>
          <a:prstGeom prst="rect">
            <a:avLst/>
          </a:prstGeom>
        </p:spPr>
        <p:txBody>
          <a:bodyPr anchor="ctr"/>
          <a:lstStyle>
            <a:lvl1pPr algn="l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651A5D-2C86-4900-A248-8559E39BDA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051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5F84479-AB5A-4587-BAAF-A05E52224B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700" y="2854660"/>
            <a:ext cx="4749800" cy="21299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50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3D8D3253-3A08-4F2F-B6B3-607BBC6B3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788241"/>
            <a:ext cx="12192000" cy="1069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75CEA-DDFB-4C62-B83F-6A0B86FA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25E30-50C5-42DD-911D-36C0E732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8C855-986C-4539-81CE-5421C8EB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239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F63EB3-EB79-4150-A7A5-F6756627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237" y="1096375"/>
            <a:ext cx="4045527" cy="1590790"/>
          </a:xfrm>
          <a:prstGeom prst="rect">
            <a:avLst/>
          </a:prstGeom>
        </p:spPr>
        <p:txBody>
          <a:bodyPr anchor="b"/>
          <a:lstStyle>
            <a:lvl1pPr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9D0B50-E879-41B9-9B1B-EBB40605D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951274"/>
            <a:ext cx="2743201" cy="47475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B4D3EE7-1F3B-4AAB-A04D-3162C35A1A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7354" y="2910720"/>
            <a:ext cx="4011410" cy="2061261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2A57A12F-74B8-4CBC-816C-F2AC890D1B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48800" y="951274"/>
            <a:ext cx="2743200" cy="47475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9A048-F803-428B-9A66-6DE56F4D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2CDA7-93A6-45DB-9062-E70E51AC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08F63-561A-455E-8ED8-20CCE58E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593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C26F-4351-4DAE-94CB-A0B25BAAA9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B4E19-B10C-43FA-AB4B-5D0396BD6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C552B-0CAD-4920-B258-233A9F86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3FFB-15A3-4B11-A130-4565577A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1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63" r:id="rId8"/>
    <p:sldLayoutId id="2147483656" r:id="rId9"/>
    <p:sldLayoutId id="2147483657" r:id="rId10"/>
    <p:sldLayoutId id="2147483664" r:id="rId11"/>
    <p:sldLayoutId id="2147483658" r:id="rId12"/>
    <p:sldLayoutId id="2147483659" r:id="rId13"/>
    <p:sldLayoutId id="2147483660" r:id="rId14"/>
    <p:sldLayoutId id="2147483661" r:id="rId15"/>
    <p:sldLayoutId id="2147483666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e/3gArV3xVnC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e/2b0DmVgyAV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forms.office.com/e/3gArV3xVnC" TargetMode="External"/><Relationship Id="rId4" Type="http://schemas.openxmlformats.org/officeDocument/2006/relationships/hyperlink" Target="https://forms.office.com/e/E0CEWhJWb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Pages/ResponsePage.aspx?id=AbEFPv7G5UeC4cakELuVwCgJibv2FtVEiG3gZhT3YqlURVBYWTRZME5DWlJVOU9YQ01RUEcwQktRMS4u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forms.office.com/Pages/ResponsePage.aspx?id=9xZkbOgxIEWCTMuTP4OQuXsjyL-l515MkDTrXz9gtT5UMjVCNUNROVkyTlRKM0dHRTlFWDhRWVc2RS4u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D64C50-A740-468A-8AB6-F949358D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20" y="947737"/>
            <a:ext cx="5278514" cy="3219065"/>
          </a:xfrm>
        </p:spPr>
        <p:txBody>
          <a:bodyPr/>
          <a:lstStyle/>
          <a:p>
            <a:pPr algn="ctr">
              <a:spcBef>
                <a:spcPts val="1800"/>
              </a:spcBef>
            </a:pPr>
            <a:r>
              <a:rPr lang="en-US" sz="3600" b="1" dirty="0"/>
              <a:t>CA22123 EU-MACE: </a:t>
            </a:r>
            <a:br>
              <a:rPr lang="en-US" sz="3600" b="1" dirty="0"/>
            </a:br>
            <a:br>
              <a:rPr lang="en-US" sz="1800" b="1" dirty="0"/>
            </a:br>
            <a:br>
              <a:rPr lang="en-US" sz="3200" b="1" dirty="0"/>
            </a:br>
            <a:br>
              <a:rPr lang="en-US" sz="1800" b="1" dirty="0"/>
            </a:br>
            <a:r>
              <a:rPr lang="en-US" sz="3200" b="1" dirty="0"/>
              <a:t>Core Group monthly update GP3 #5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F94A06-38B8-4C8F-ABF0-FB763704D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636" y="5341811"/>
            <a:ext cx="5857404" cy="1136902"/>
          </a:xfrm>
        </p:spPr>
        <p:txBody>
          <a:bodyPr/>
          <a:lstStyle/>
          <a:p>
            <a:r>
              <a:rPr lang="fr-FR" b="1" dirty="0"/>
              <a:t>Virtual</a:t>
            </a:r>
          </a:p>
          <a:p>
            <a:r>
              <a:rPr lang="fr-FR" b="1" dirty="0"/>
              <a:t>10/03/2026</a:t>
            </a:r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6CDEB7-77E8-4351-9B76-07896E731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6075" y="0"/>
            <a:ext cx="2895600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98" y="1898810"/>
            <a:ext cx="3200677" cy="21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69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75169" y="3443967"/>
            <a:ext cx="7128000" cy="1224000"/>
          </a:xfrm>
        </p:spPr>
        <p:txBody>
          <a:bodyPr/>
          <a:lstStyle/>
          <a:p>
            <a:r>
              <a:rPr lang="fr-FR" b="1" dirty="0"/>
              <a:t>Hello!</a:t>
            </a:r>
            <a:endParaRPr lang="en-US" b="1" dirty="0"/>
          </a:p>
        </p:txBody>
      </p:sp>
      <p:sp>
        <p:nvSpPr>
          <p:cNvPr id="2" name="ZoneTexte 1"/>
          <p:cNvSpPr txBox="1"/>
          <p:nvPr/>
        </p:nvSpPr>
        <p:spPr>
          <a:xfrm>
            <a:off x="1813388" y="1998323"/>
            <a:ext cx="79726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err="1">
                <a:solidFill>
                  <a:srgbClr val="FF0000"/>
                </a:solidFill>
                <a:latin typeface="Arial Black" panose="020B0A04020102020204" pitchFamily="34" charset="0"/>
              </a:rPr>
              <a:t>Today</a:t>
            </a:r>
            <a:r>
              <a:rPr lang="fr-FR" sz="4000" dirty="0">
                <a:solidFill>
                  <a:srgbClr val="FF0000"/>
                </a:solidFill>
                <a:latin typeface="Arial Black" panose="020B0A04020102020204" pitchFamily="34" charset="0"/>
              </a:rPr>
              <a:t>’ meeting </a:t>
            </a:r>
            <a:r>
              <a:rPr lang="fr-FR" sz="4000" dirty="0" err="1">
                <a:solidFill>
                  <a:srgbClr val="FF0000"/>
                </a:solidFill>
                <a:latin typeface="Arial Black" panose="020B0A04020102020204" pitchFamily="34" charset="0"/>
              </a:rPr>
              <a:t>is</a:t>
            </a:r>
            <a:r>
              <a:rPr lang="fr-FR" sz="40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4000" dirty="0" err="1">
                <a:solidFill>
                  <a:srgbClr val="FF0000"/>
                </a:solidFill>
                <a:latin typeface="Arial Black" panose="020B0A04020102020204" pitchFamily="34" charset="0"/>
              </a:rPr>
              <a:t>recorded</a:t>
            </a:r>
            <a:r>
              <a:rPr lang="fr-FR" sz="4000" dirty="0">
                <a:solidFill>
                  <a:srgbClr val="FF0000"/>
                </a:solidFill>
                <a:latin typeface="Arial Black" panose="020B0A04020102020204" pitchFamily="34" charset="0"/>
              </a:rPr>
              <a:t>!</a:t>
            </a:r>
            <a:endParaRPr lang="en-US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35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10194" y="816416"/>
            <a:ext cx="1017161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0.   welcome </a:t>
            </a:r>
          </a:p>
          <a:p>
            <a:pPr lvl="1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Summary from MC and WS</a:t>
            </a:r>
            <a:r>
              <a:rPr lang="fr-FR" dirty="0"/>
              <a:t> 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Agenda &amp; MC </a:t>
            </a:r>
            <a:r>
              <a:rPr lang="fr-FR" dirty="0" err="1"/>
              <a:t>decisions</a:t>
            </a:r>
            <a:endParaRPr lang="fr-FR" dirty="0"/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WS </a:t>
            </a:r>
            <a:r>
              <a:rPr lang="fr-FR" dirty="0" err="1"/>
              <a:t>take</a:t>
            </a:r>
            <a:r>
              <a:rPr lang="fr-FR" dirty="0"/>
              <a:t>-home messages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/>
              <a:t>Periodic</a:t>
            </a:r>
            <a:r>
              <a:rPr lang="fr-FR" dirty="0"/>
              <a:t> Report </a:t>
            </a:r>
            <a:r>
              <a:rPr lang="fr-FR" dirty="0" err="1"/>
              <a:t>Review</a:t>
            </a:r>
            <a:r>
              <a:rPr lang="fr-FR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Updates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tasks</a:t>
            </a:r>
            <a:endParaRPr lang="fr-FR" dirty="0"/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ERASMUS+ </a:t>
            </a:r>
            <a:r>
              <a:rPr lang="fr-FR" dirty="0" err="1"/>
              <a:t>other</a:t>
            </a:r>
            <a:r>
              <a:rPr lang="fr-FR" dirty="0"/>
              <a:t> training program building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 err="1"/>
              <a:t>Legacy</a:t>
            </a:r>
            <a:r>
              <a:rPr lang="fr-FR" dirty="0"/>
              <a:t> Lab2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Young EU-MACE/Expert 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MAP </a:t>
            </a:r>
            <a:r>
              <a:rPr lang="fr-FR" dirty="0" err="1"/>
              <a:t>list</a:t>
            </a:r>
            <a:endParaRPr lang="fr-FR" dirty="0"/>
          </a:p>
          <a:p>
            <a:endParaRPr lang="fr-FR" dirty="0"/>
          </a:p>
          <a:p>
            <a:r>
              <a:rPr lang="fr-FR" dirty="0"/>
              <a:t>Next meeting dates</a:t>
            </a:r>
          </a:p>
          <a:p>
            <a:pPr marL="800100" lvl="1" indent="-342900">
              <a:buFont typeface="+mj-lt"/>
              <a:buAutoNum type="alphaLcParenR"/>
            </a:pPr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BF537DD-BCAA-4738-B848-45CB6298DBF5}"/>
              </a:ext>
            </a:extLst>
          </p:cNvPr>
          <p:cNvSpPr txBox="1"/>
          <p:nvPr/>
        </p:nvSpPr>
        <p:spPr>
          <a:xfrm>
            <a:off x="3905250" y="5586930"/>
            <a:ext cx="54219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Young EU-MACE webinar GP3 n°1: </a:t>
            </a:r>
            <a:r>
              <a:rPr lang="fr-FR" sz="2000" b="1" dirty="0">
                <a:solidFill>
                  <a:srgbClr val="FF0000"/>
                </a:solidFill>
              </a:rPr>
              <a:t>Michal </a:t>
            </a:r>
            <a:r>
              <a:rPr lang="fr-FR" sz="2000" b="1" dirty="0" err="1">
                <a:solidFill>
                  <a:srgbClr val="FF0000"/>
                </a:solidFill>
              </a:rPr>
              <a:t>Strozik</a:t>
            </a:r>
            <a:endParaRPr lang="fr-F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04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/>
              <a:t>MC 1 &amp; </a:t>
            </a:r>
            <a:r>
              <a:rPr lang="fr-FR" b="1" dirty="0" err="1"/>
              <a:t>WorkShop</a:t>
            </a:r>
            <a:r>
              <a:rPr lang="fr-FR" b="1" dirty="0"/>
              <a:t>: </a:t>
            </a:r>
            <a:r>
              <a:rPr lang="fr-FR" b="1" dirty="0" err="1"/>
              <a:t>summary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599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 err="1"/>
              <a:t>agnda</a:t>
            </a:r>
            <a:endParaRPr lang="en-US" sz="280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320631" y="1560759"/>
            <a:ext cx="117443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EU-MACE MC1 meeting &amp; </a:t>
            </a:r>
          </a:p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Joint workshop (EERA-AMPEA&amp;E3S):</a:t>
            </a:r>
          </a:p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Sustainability in next generation energy materials and technologies</a:t>
            </a:r>
          </a:p>
          <a:p>
            <a:pPr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algn="ctr"/>
            <a:r>
              <a:rPr lang="fr-FR" sz="1800" b="0" i="0" u="sng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When</a:t>
            </a:r>
            <a:r>
              <a:rPr lang="fr-FR" sz="1800" b="0" i="0" u="sng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  <a:r>
              <a:rPr lang="fr-F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February</a:t>
            </a:r>
            <a:r>
              <a:rPr lang="fr-F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23-25, 2026 </a:t>
            </a:r>
          </a:p>
          <a:p>
            <a:pPr algn="ctr"/>
            <a:r>
              <a:rPr lang="fr-FR" sz="1800" b="0" i="0" u="sng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Where</a:t>
            </a:r>
            <a:r>
              <a:rPr lang="fr-FR" sz="1800" b="0" i="0" u="sng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fr-F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Maison Irène &amp; Frédéric Joliot Curie, Brussels (and online) </a:t>
            </a:r>
          </a:p>
          <a:p>
            <a:pPr algn="ctr"/>
            <a:r>
              <a:rPr lang="fr-FR" u="sng" dirty="0">
                <a:solidFill>
                  <a:srgbClr val="000000"/>
                </a:solidFill>
                <a:latin typeface="Calibri" panose="020F0502020204030204" pitchFamily="34" charset="0"/>
              </a:rPr>
              <a:t>Format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fr-FR" dirty="0" err="1">
                <a:solidFill>
                  <a:srgbClr val="000000"/>
                </a:solidFill>
                <a:latin typeface="Calibri" panose="020F0502020204030204" pitchFamily="34" charset="0"/>
              </a:rPr>
              <a:t>Hybrid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 - 52 </a:t>
            </a:r>
            <a:r>
              <a:rPr lang="fr-FR" dirty="0" err="1">
                <a:solidFill>
                  <a:srgbClr val="000000"/>
                </a:solidFill>
                <a:latin typeface="Calibri" panose="020F0502020204030204" pitchFamily="34" charset="0"/>
              </a:rPr>
              <a:t>attendees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 (F2F: 26 &amp; online: 26)</a:t>
            </a:r>
          </a:p>
          <a:p>
            <a:pPr algn="ctr"/>
            <a:endParaRPr lang="fr-FR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fr-FR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fr-FR" sz="16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Purpose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Create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synergy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initiate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collaborations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between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materials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scientists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sustainability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experts (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including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social science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field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  <a:p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Organization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HEU 2026-2027 CL4 &amp; CL5 calls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were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used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to structure the topic</a:t>
            </a:r>
          </a:p>
          <a:p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Presentations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Research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ideas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on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energy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materials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research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sustainability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assessment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(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needs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expertise propositions) 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Registeration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: 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20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presentation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interests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40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listeners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4770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C26F-4351-4DAE-94CB-A0B25BAAA91A}" type="slidenum">
              <a:rPr lang="en-US" smtClean="0"/>
              <a:t>6</a:t>
            </a:fld>
            <a:endParaRPr lang="en-US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215"/>
            <a:ext cx="1794856" cy="1211529"/>
          </a:xfrm>
          <a:prstGeom prst="rect">
            <a:avLst/>
          </a:prstGeom>
        </p:spPr>
      </p:pic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A2A630-6503-429F-AC98-4C366C28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133" y="460964"/>
            <a:ext cx="9655011" cy="5762172"/>
          </a:xfrm>
          <a:prstGeom prst="rect">
            <a:avLst/>
          </a:prstGeom>
        </p:spPr>
      </p:pic>
      <p:sp>
        <p:nvSpPr>
          <p:cNvPr id="2" name="Accolade ouvrante 1">
            <a:extLst>
              <a:ext uri="{FF2B5EF4-FFF2-40B4-BE49-F238E27FC236}">
                <a16:creationId xmlns:a16="http://schemas.microsoft.com/office/drawing/2014/main" id="{C3BCC097-F2B0-4773-9F87-2D7BB92F1B63}"/>
              </a:ext>
            </a:extLst>
          </p:cNvPr>
          <p:cNvSpPr/>
          <p:nvPr/>
        </p:nvSpPr>
        <p:spPr>
          <a:xfrm>
            <a:off x="1238250" y="3714750"/>
            <a:ext cx="438150" cy="2508386"/>
          </a:xfrm>
          <a:prstGeom prst="leftBrac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5323C13-C531-4076-913E-0EF0CDEDD069}"/>
              </a:ext>
            </a:extLst>
          </p:cNvPr>
          <p:cNvSpPr txBox="1"/>
          <p:nvPr/>
        </p:nvSpPr>
        <p:spPr>
          <a:xfrm>
            <a:off x="160017" y="4648884"/>
            <a:ext cx="102367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b="1" dirty="0" err="1"/>
              <a:t>Invited</a:t>
            </a:r>
            <a:r>
              <a:rPr lang="fr-FR" b="1" dirty="0"/>
              <a:t> </a:t>
            </a:r>
          </a:p>
          <a:p>
            <a:r>
              <a:rPr lang="fr-FR" b="1" dirty="0"/>
              <a:t>speakers</a:t>
            </a:r>
          </a:p>
        </p:txBody>
      </p:sp>
    </p:spTree>
    <p:extLst>
      <p:ext uri="{BB962C8B-B14F-4D97-AF65-F5344CB8AC3E}">
        <p14:creationId xmlns:p14="http://schemas.microsoft.com/office/powerpoint/2010/main" val="96443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0">
            <a:extLst>
              <a:ext uri="{FF2B5EF4-FFF2-40B4-BE49-F238E27FC236}">
                <a16:creationId xmlns:a16="http://schemas.microsoft.com/office/drawing/2014/main" id="{C9A8184A-613B-485B-99F9-83EAD473DC6A}"/>
              </a:ext>
            </a:extLst>
          </p:cNvPr>
          <p:cNvSpPr txBox="1"/>
          <p:nvPr/>
        </p:nvSpPr>
        <p:spPr>
          <a:xfrm>
            <a:off x="12588" y="3648073"/>
            <a:ext cx="209995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E3S &amp; </a:t>
            </a:r>
            <a:r>
              <a:rPr lang="fr-FR" b="1" dirty="0" err="1"/>
              <a:t>sustainability</a:t>
            </a:r>
            <a:r>
              <a:rPr lang="fr-FR" b="1" dirty="0"/>
              <a:t> </a:t>
            </a:r>
          </a:p>
          <a:p>
            <a:r>
              <a:rPr lang="fr-FR" b="1" dirty="0" err="1"/>
              <a:t>researchers</a:t>
            </a:r>
            <a:endParaRPr lang="fr-FR" b="1" dirty="0"/>
          </a:p>
          <a:p>
            <a:r>
              <a:rPr lang="fr-FR" b="1" dirty="0"/>
              <a:t>speakers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A766F51-6D52-4CDB-90FF-E9BF2AD3D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027" y="5513085"/>
            <a:ext cx="8424000" cy="606125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C26F-4351-4DAE-94CB-A0B25BAAA91A}" type="slidenum">
              <a:rPr lang="en-US" smtClean="0"/>
              <a:t>7</a:t>
            </a:fld>
            <a:endParaRPr lang="en-US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215"/>
            <a:ext cx="1794856" cy="1211529"/>
          </a:xfrm>
          <a:prstGeom prst="rect">
            <a:avLst/>
          </a:prstGeom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F64B46A-EA55-43E5-ACEF-AC9771E5D2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82"/>
          <a:stretch/>
        </p:blipFill>
        <p:spPr>
          <a:xfrm>
            <a:off x="2289027" y="136525"/>
            <a:ext cx="8470867" cy="5445581"/>
          </a:xfrm>
          <a:prstGeom prst="rect">
            <a:avLst/>
          </a:prstGeom>
        </p:spPr>
      </p:pic>
      <p:sp>
        <p:nvSpPr>
          <p:cNvPr id="10" name="Accolade ouvrante 9">
            <a:extLst>
              <a:ext uri="{FF2B5EF4-FFF2-40B4-BE49-F238E27FC236}">
                <a16:creationId xmlns:a16="http://schemas.microsoft.com/office/drawing/2014/main" id="{A46188BF-A5DF-4E9A-B1D3-542EA07E6553}"/>
              </a:ext>
            </a:extLst>
          </p:cNvPr>
          <p:cNvSpPr/>
          <p:nvPr/>
        </p:nvSpPr>
        <p:spPr>
          <a:xfrm>
            <a:off x="2125133" y="3648073"/>
            <a:ext cx="138719" cy="981075"/>
          </a:xfrm>
          <a:prstGeom prst="leftBrac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3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28F918DC-8A92-4C57-A27F-0787DB2B5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367" y="3823913"/>
            <a:ext cx="6439970" cy="2657628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C26F-4351-4DAE-94CB-A0B25BAAA91A}" type="slidenum">
              <a:rPr lang="en-US" smtClean="0"/>
              <a:t>8</a:t>
            </a:fld>
            <a:endParaRPr lang="en-US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215"/>
            <a:ext cx="1794856" cy="1211529"/>
          </a:xfrm>
          <a:prstGeom prst="rect">
            <a:avLst/>
          </a:prstGeom>
        </p:spPr>
      </p:pic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CF16B76-BCC2-44FE-A630-9B3458971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758" y="136525"/>
            <a:ext cx="6483189" cy="422363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AC1EED7-C158-4A31-A853-F5A5A3006E7A}"/>
              </a:ext>
            </a:extLst>
          </p:cNvPr>
          <p:cNvSpPr txBox="1"/>
          <p:nvPr/>
        </p:nvSpPr>
        <p:spPr>
          <a:xfrm>
            <a:off x="414642" y="1681384"/>
            <a:ext cx="209995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E3S &amp; </a:t>
            </a:r>
            <a:r>
              <a:rPr lang="fr-FR" b="1" dirty="0" err="1"/>
              <a:t>sustainability</a:t>
            </a:r>
            <a:r>
              <a:rPr lang="fr-FR" b="1" dirty="0"/>
              <a:t> </a:t>
            </a:r>
          </a:p>
          <a:p>
            <a:r>
              <a:rPr lang="fr-FR" b="1" dirty="0" err="1"/>
              <a:t>researchers</a:t>
            </a:r>
            <a:endParaRPr lang="fr-FR" b="1" dirty="0"/>
          </a:p>
        </p:txBody>
      </p: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EA7715A4-7102-4F01-9B04-F444FC036E9C}"/>
              </a:ext>
            </a:extLst>
          </p:cNvPr>
          <p:cNvCxnSpPr/>
          <p:nvPr/>
        </p:nvCxnSpPr>
        <p:spPr>
          <a:xfrm flipV="1">
            <a:off x="2514600" y="1066800"/>
            <a:ext cx="2714625" cy="496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842A0C8-9A96-47C4-AAAE-1600AC9FB1EB}"/>
              </a:ext>
            </a:extLst>
          </p:cNvPr>
          <p:cNvCxnSpPr>
            <a:cxnSpLocks/>
          </p:cNvCxnSpPr>
          <p:nvPr/>
        </p:nvCxnSpPr>
        <p:spPr>
          <a:xfrm>
            <a:off x="2503071" y="2445356"/>
            <a:ext cx="283092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448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MC meeting agenda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AEB911D-0795-4693-8335-A97C22185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69" y="649956"/>
            <a:ext cx="6107259" cy="5502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E57B715D-6724-42AC-BB67-D8E5F5C2A754}"/>
              </a:ext>
            </a:extLst>
          </p:cNvPr>
          <p:cNvSpPr txBox="1"/>
          <p:nvPr/>
        </p:nvSpPr>
        <p:spPr>
          <a:xfrm>
            <a:off x="8079740" y="1926584"/>
            <a:ext cx="274320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Abadi" panose="020B0604020104020204" pitchFamily="34" charset="0"/>
                <a:sym typeface="Wingdings" panose="05000000000000000000" pitchFamily="2" charset="2"/>
              </a:rPr>
              <a:t>Quorum not </a:t>
            </a:r>
            <a:r>
              <a:rPr lang="fr-FR" dirty="0" err="1">
                <a:latin typeface="Abadi" panose="020B0604020104020204" pitchFamily="34" charset="0"/>
                <a:sym typeface="Wingdings" panose="05000000000000000000" pitchFamily="2" charset="2"/>
              </a:rPr>
              <a:t>reached</a:t>
            </a:r>
            <a:r>
              <a:rPr lang="fr-FR" dirty="0">
                <a:latin typeface="Abadi" panose="020B0604020104020204" pitchFamily="34" charset="0"/>
                <a:sym typeface="Wingdings" panose="05000000000000000000" pitchFamily="2" charset="2"/>
              </a:rPr>
              <a:t> </a:t>
            </a:r>
          </a:p>
          <a:p>
            <a:r>
              <a:rPr lang="fr-FR" dirty="0">
                <a:latin typeface="Abadi" panose="020B0604020104020204" pitchFamily="34" charset="0"/>
                <a:sym typeface="Wingdings" panose="05000000000000000000" pitchFamily="2" charset="2"/>
              </a:rPr>
              <a:t>3 e-VOTES to </a:t>
            </a:r>
            <a:r>
              <a:rPr lang="fr-FR" dirty="0" err="1">
                <a:latin typeface="Abadi" panose="020B0604020104020204" pitchFamily="34" charset="0"/>
                <a:sym typeface="Wingdings" panose="05000000000000000000" pitchFamily="2" charset="2"/>
              </a:rPr>
              <a:t>be</a:t>
            </a:r>
            <a:r>
              <a:rPr lang="fr-FR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fr-FR" dirty="0" err="1">
                <a:latin typeface="Abadi" panose="020B0604020104020204" pitchFamily="34" charset="0"/>
                <a:sym typeface="Wingdings" panose="05000000000000000000" pitchFamily="2" charset="2"/>
              </a:rPr>
              <a:t>launched</a:t>
            </a:r>
            <a:r>
              <a:rPr lang="fr-FR" dirty="0">
                <a:latin typeface="Abadi" panose="020B0604020104020204" pitchFamily="34" charset="0"/>
                <a:sym typeface="Wingdings" panose="05000000000000000000" pitchFamily="2" charset="2"/>
              </a:rPr>
              <a:t> for MC </a:t>
            </a:r>
            <a:r>
              <a:rPr lang="fr-FR" dirty="0" err="1">
                <a:latin typeface="Abadi" panose="020B0604020104020204" pitchFamily="34" charset="0"/>
                <a:sym typeface="Wingdings" panose="05000000000000000000" pitchFamily="2" charset="2"/>
              </a:rPr>
              <a:t>approval</a:t>
            </a:r>
            <a:endParaRPr lang="fr-FR" dirty="0">
              <a:latin typeface="Abadi" panose="020B0604020104020204" pitchFamily="34" charset="0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743D3C53-EFB9-4C05-A19B-2069C4793D6E}"/>
              </a:ext>
            </a:extLst>
          </p:cNvPr>
          <p:cNvSpPr/>
          <p:nvPr/>
        </p:nvSpPr>
        <p:spPr>
          <a:xfrm>
            <a:off x="3597910" y="971198"/>
            <a:ext cx="1019175" cy="3378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AD24736-459B-4B9D-A99C-F6D43651B3B5}"/>
              </a:ext>
            </a:extLst>
          </p:cNvPr>
          <p:cNvSpPr/>
          <p:nvPr/>
        </p:nvSpPr>
        <p:spPr>
          <a:xfrm>
            <a:off x="1369060" y="5514623"/>
            <a:ext cx="2964815" cy="3378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6326343-6136-4B2D-A1EE-0E16E132735E}"/>
              </a:ext>
            </a:extLst>
          </p:cNvPr>
          <p:cNvSpPr/>
          <p:nvPr/>
        </p:nvSpPr>
        <p:spPr>
          <a:xfrm>
            <a:off x="3845560" y="2459368"/>
            <a:ext cx="3315568" cy="3378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8DD373A-353C-4C3B-91E3-C1DA33A1C50A}"/>
              </a:ext>
            </a:extLst>
          </p:cNvPr>
          <p:cNvSpPr txBox="1"/>
          <p:nvPr/>
        </p:nvSpPr>
        <p:spPr>
          <a:xfrm>
            <a:off x="7793990" y="3976311"/>
            <a:ext cx="355981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Abadi" panose="020B0604020104020204" pitchFamily="34" charset="0"/>
                <a:sym typeface="Wingdings" panose="05000000000000000000" pitchFamily="2" charset="2"/>
              </a:rPr>
              <a:t>All </a:t>
            </a:r>
            <a:r>
              <a:rPr lang="fr-FR" dirty="0" err="1">
                <a:latin typeface="Abadi" panose="020B0604020104020204" pitchFamily="34" charset="0"/>
                <a:sym typeface="Wingdings" panose="05000000000000000000" pitchFamily="2" charset="2"/>
              </a:rPr>
              <a:t>presentation</a:t>
            </a:r>
            <a:r>
              <a:rPr lang="fr-FR" dirty="0">
                <a:latin typeface="Abadi" panose="020B0604020104020204" pitchFamily="34" charset="0"/>
                <a:sym typeface="Wingdings" panose="05000000000000000000" pitchFamily="2" charset="2"/>
              </a:rPr>
              <a:t> files + meeting minutes are </a:t>
            </a:r>
            <a:r>
              <a:rPr lang="fr-FR" dirty="0" err="1">
                <a:latin typeface="Abadi" panose="020B0604020104020204" pitchFamily="34" charset="0"/>
                <a:sym typeface="Wingdings" panose="05000000000000000000" pitchFamily="2" charset="2"/>
              </a:rPr>
              <a:t>shared</a:t>
            </a:r>
            <a:r>
              <a:rPr lang="fr-FR" dirty="0">
                <a:latin typeface="Abadi" panose="020B0604020104020204" pitchFamily="34" charset="0"/>
                <a:sym typeface="Wingdings" panose="05000000000000000000" pitchFamily="2" charset="2"/>
              </a:rPr>
              <a:t>  PLEASE </a:t>
            </a:r>
            <a:r>
              <a:rPr lang="fr-FR" dirty="0" err="1">
                <a:latin typeface="Abadi" panose="020B0604020104020204" pitchFamily="34" charset="0"/>
                <a:sym typeface="Wingdings" panose="05000000000000000000" pitchFamily="2" charset="2"/>
              </a:rPr>
              <a:t>Review</a:t>
            </a:r>
            <a:r>
              <a:rPr lang="fr-FR" dirty="0">
                <a:latin typeface="Abadi" panose="020B0604020104020204" pitchFamily="34" charset="0"/>
                <a:sym typeface="Wingdings" panose="05000000000000000000" pitchFamily="2" charset="2"/>
              </a:rPr>
              <a:t>!!</a:t>
            </a:r>
            <a:endParaRPr lang="fr-FR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521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Key messages and inputs needed 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10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DBDEFA4-420E-4CA4-97B3-376444E90896}"/>
              </a:ext>
            </a:extLst>
          </p:cNvPr>
          <p:cNvSpPr txBox="1"/>
          <p:nvPr/>
        </p:nvSpPr>
        <p:spPr>
          <a:xfrm>
            <a:off x="365289" y="1742563"/>
            <a:ext cx="114614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Conference</a:t>
            </a:r>
            <a:r>
              <a:rPr lang="fr-FR" dirty="0"/>
              <a:t> </a:t>
            </a:r>
            <a:r>
              <a:rPr lang="fr-FR" dirty="0" err="1"/>
              <a:t>grants</a:t>
            </a:r>
            <a:r>
              <a:rPr lang="fr-FR" dirty="0"/>
              <a:t>: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choose</a:t>
            </a:r>
            <a:r>
              <a:rPr lang="fr-FR" dirty="0"/>
              <a:t> « </a:t>
            </a:r>
            <a:r>
              <a:rPr lang="fr-FR" dirty="0" err="1"/>
              <a:t>priority</a:t>
            </a:r>
            <a:r>
              <a:rPr lang="fr-FR" dirty="0"/>
              <a:t> </a:t>
            </a:r>
            <a:r>
              <a:rPr lang="fr-FR" dirty="0" err="1"/>
              <a:t>conferences</a:t>
            </a:r>
            <a:r>
              <a:rPr lang="fr-FR" dirty="0"/>
              <a:t> »!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NuMat2026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MSE2026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3Nano2026   </a:t>
            </a:r>
          </a:p>
          <a:p>
            <a:pPr lvl="1"/>
            <a:r>
              <a:rPr lang="fr-FR" dirty="0"/>
              <a:t>….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discuss</a:t>
            </a:r>
            <a:r>
              <a:rPr lang="fr-FR" dirty="0"/>
              <a:t> </a:t>
            </a:r>
            <a:r>
              <a:rPr lang="fr-FR" dirty="0" err="1"/>
              <a:t>among</a:t>
            </a:r>
            <a:r>
              <a:rPr lang="fr-FR" dirty="0"/>
              <a:t> Grant </a:t>
            </a:r>
            <a:r>
              <a:rPr lang="fr-FR" dirty="0" err="1"/>
              <a:t>Award</a:t>
            </a:r>
            <a:r>
              <a:rPr lang="fr-FR" dirty="0"/>
              <a:t> </a:t>
            </a:r>
            <a:r>
              <a:rPr lang="fr-FR" dirty="0" err="1"/>
              <a:t>committee</a:t>
            </a:r>
            <a:r>
              <a:rPr lang="fr-FR" dirty="0"/>
              <a:t>: Peter Tatarko, Monica F., </a:t>
            </a:r>
            <a:r>
              <a:rPr lang="fr-FR" dirty="0" err="1"/>
              <a:t>Antonio.P</a:t>
            </a:r>
            <a:r>
              <a:rPr lang="fr-FR" dirty="0"/>
              <a:t>. G., </a:t>
            </a:r>
            <a:r>
              <a:rPr lang="fr-FR" dirty="0" err="1"/>
              <a:t>Tugba</a:t>
            </a:r>
            <a:r>
              <a:rPr lang="fr-FR" dirty="0"/>
              <a:t> L. and me in the </a:t>
            </a:r>
            <a:r>
              <a:rPr lang="fr-FR" dirty="0" err="1"/>
              <a:t>next</a:t>
            </a:r>
            <a:r>
              <a:rPr lang="fr-FR" dirty="0"/>
              <a:t> </a:t>
            </a:r>
            <a:r>
              <a:rPr lang="fr-FR" dirty="0" err="1"/>
              <a:t>fiew</a:t>
            </a:r>
            <a:r>
              <a:rPr lang="fr-FR" dirty="0"/>
              <a:t> </a:t>
            </a:r>
            <a:r>
              <a:rPr lang="fr-FR" dirty="0" err="1"/>
              <a:t>days</a:t>
            </a:r>
            <a:r>
              <a:rPr lang="fr-FR" dirty="0"/>
              <a:t>! And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announced</a:t>
            </a:r>
            <a:r>
              <a:rPr lang="fr-FR" dirty="0"/>
              <a:t> and Grant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opened</a:t>
            </a:r>
            <a:r>
              <a:rPr lang="fr-FR" dirty="0"/>
              <a:t> for application.  </a:t>
            </a:r>
            <a:r>
              <a:rPr lang="fr-FR" dirty="0" err="1"/>
              <a:t>Please</a:t>
            </a:r>
            <a:r>
              <a:rPr lang="fr-FR" dirty="0"/>
              <a:t> </a:t>
            </a:r>
            <a:r>
              <a:rPr lang="fr-FR" dirty="0" err="1"/>
              <a:t>hurry</a:t>
            </a:r>
            <a:r>
              <a:rPr lang="fr-FR" dirty="0"/>
              <a:t>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Inter-COST Actions: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Norbert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assembling</a:t>
            </a:r>
            <a:r>
              <a:rPr lang="fr-FR" dirty="0"/>
              <a:t> a team for </a:t>
            </a:r>
            <a:r>
              <a:rPr lang="fr-FR" dirty="0" err="1"/>
              <a:t>liaising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Action </a:t>
            </a:r>
            <a:r>
              <a:rPr lang="fr-FR" dirty="0" err="1"/>
              <a:t>member</a:t>
            </a:r>
            <a:r>
              <a:rPr lang="fr-FR" dirty="0"/>
              <a:t> 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 err="1">
                <a:sym typeface="Wingdings" panose="05000000000000000000" pitchFamily="2" charset="2"/>
              </a:rPr>
              <a:t>see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presentation</a:t>
            </a:r>
            <a:r>
              <a:rPr lang="fr-FR" dirty="0">
                <a:sym typeface="Wingdings" panose="05000000000000000000" pitchFamily="2" charset="2"/>
              </a:rPr>
              <a:t> file for more </a:t>
            </a:r>
            <a:r>
              <a:rPr lang="fr-FR" dirty="0" err="1">
                <a:sym typeface="Wingdings" panose="05000000000000000000" pitchFamily="2" charset="2"/>
              </a:rPr>
              <a:t>detail</a:t>
            </a:r>
            <a:endParaRPr lang="fr-FR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To </a:t>
            </a:r>
            <a:r>
              <a:rPr lang="fr-FR" dirty="0" err="1">
                <a:sym typeface="Wingdings" panose="05000000000000000000" pitchFamily="2" charset="2"/>
              </a:rPr>
              <a:t>join</a:t>
            </a:r>
            <a:r>
              <a:rPr lang="fr-FR" dirty="0">
                <a:sym typeface="Wingdings" panose="05000000000000000000" pitchFamily="2" charset="2"/>
              </a:rPr>
              <a:t>: </a:t>
            </a:r>
            <a:r>
              <a:rPr lang="fr-FR" b="1" dirty="0">
                <a:sym typeface="Wingdings" panose="05000000000000000000" pitchFamily="2" charset="2"/>
                <a:hlinkClick r:id="rId3"/>
              </a:rPr>
              <a:t>https://forms.office.com/e/3gArV3xVnC</a:t>
            </a:r>
            <a:endParaRPr lang="fr-FR" b="1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Young EU-MACE webinar </a:t>
            </a:r>
            <a:r>
              <a:rPr lang="fr-FR" dirty="0" err="1">
                <a:sym typeface="Wingdings" panose="05000000000000000000" pitchFamily="2" charset="2"/>
              </a:rPr>
              <a:t>series</a:t>
            </a:r>
            <a:r>
              <a:rPr lang="fr-FR" dirty="0">
                <a:sym typeface="Wingdings" panose="05000000000000000000" pitchFamily="2" charset="2"/>
              </a:rPr>
              <a:t> (leader = Ivy T.)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Re-</a:t>
            </a:r>
            <a:r>
              <a:rPr lang="fr-FR" dirty="0" err="1">
                <a:sym typeface="Wingdings" panose="05000000000000000000" pitchFamily="2" charset="2"/>
              </a:rPr>
              <a:t>starting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today</a:t>
            </a:r>
            <a:r>
              <a:rPr lang="fr-FR" dirty="0">
                <a:sym typeface="Wingdings" panose="05000000000000000000" pitchFamily="2" charset="2"/>
              </a:rPr>
              <a:t>! March/April/May speakers </a:t>
            </a:r>
            <a:r>
              <a:rPr lang="fr-FR" dirty="0" err="1">
                <a:sym typeface="Wingdings" panose="05000000000000000000" pitchFamily="2" charset="2"/>
              </a:rPr>
              <a:t>identified</a:t>
            </a:r>
            <a:endParaRPr lang="fr-FR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sym typeface="Wingdings" panose="05000000000000000000" pitchFamily="2" charset="2"/>
              </a:rPr>
              <a:t>Announced</a:t>
            </a:r>
            <a:r>
              <a:rPr lang="fr-FR" dirty="0">
                <a:sym typeface="Wingdings" panose="05000000000000000000" pitchFamily="2" charset="2"/>
              </a:rPr>
              <a:t> on </a:t>
            </a:r>
            <a:r>
              <a:rPr lang="fr-FR" dirty="0" err="1">
                <a:sym typeface="Wingdings" panose="05000000000000000000" pitchFamily="2" charset="2"/>
              </a:rPr>
              <a:t>our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website</a:t>
            </a:r>
            <a:r>
              <a:rPr lang="fr-FR" dirty="0">
                <a:sym typeface="Wingdings" panose="05000000000000000000" pitchFamily="2" charset="2"/>
              </a:rPr>
              <a:t> and LinkedIn + Slack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sym typeface="Wingdings" panose="05000000000000000000" pitchFamily="2" charset="2"/>
              </a:rPr>
              <a:t>Gives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visibility</a:t>
            </a:r>
            <a:r>
              <a:rPr lang="fr-FR" dirty="0">
                <a:sym typeface="Wingdings" panose="05000000000000000000" pitchFamily="2" charset="2"/>
              </a:rPr>
              <a:t> and encourages future collaborations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sym typeface="Wingdings" panose="05000000000000000000" pitchFamily="2" charset="2"/>
              </a:rPr>
              <a:t>Want</a:t>
            </a:r>
            <a:r>
              <a:rPr lang="fr-FR" dirty="0">
                <a:sym typeface="Wingdings" panose="05000000000000000000" pitchFamily="2" charset="2"/>
              </a:rPr>
              <a:t> to </a:t>
            </a:r>
            <a:r>
              <a:rPr lang="fr-FR" dirty="0" err="1">
                <a:sym typeface="Wingdings" panose="05000000000000000000" pitchFamily="2" charset="2"/>
              </a:rPr>
              <a:t>present</a:t>
            </a:r>
            <a:r>
              <a:rPr lang="fr-FR" dirty="0">
                <a:sym typeface="Wingdings" panose="05000000000000000000" pitchFamily="2" charset="2"/>
              </a:rPr>
              <a:t>? </a:t>
            </a:r>
            <a:r>
              <a:rPr lang="fr-FR" dirty="0" err="1">
                <a:sym typeface="Wingdings" panose="05000000000000000000" pitchFamily="2" charset="2"/>
              </a:rPr>
              <a:t>Enlist</a:t>
            </a:r>
            <a:r>
              <a:rPr lang="fr-FR" dirty="0">
                <a:sym typeface="Wingdings" panose="05000000000000000000" pitchFamily="2" charset="2"/>
              </a:rPr>
              <a:t> YRI </a:t>
            </a:r>
            <a:r>
              <a:rPr lang="fr-FR" dirty="0" err="1">
                <a:sym typeface="Wingdings" panose="05000000000000000000" pitchFamily="2" charset="2"/>
              </a:rPr>
              <a:t>from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your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lab</a:t>
            </a:r>
            <a:r>
              <a:rPr lang="fr-FR" dirty="0">
                <a:sym typeface="Wingdings" panose="05000000000000000000" pitchFamily="2" charset="2"/>
              </a:rPr>
              <a:t>  contact Ivy T. &lt;Min.Ying.Tsang@port.lukasiewicz.gov.pl&gt;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02941CD-E3F5-4F56-9A6E-DF6E796CD3C6}"/>
              </a:ext>
            </a:extLst>
          </p:cNvPr>
          <p:cNvSpPr txBox="1"/>
          <p:nvPr/>
        </p:nvSpPr>
        <p:spPr>
          <a:xfrm>
            <a:off x="6753225" y="17425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https://forms.office.com/e/0XmDMGzdFQ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07FB6FD-E5A5-4BC3-A16A-55B2E5BAE0C1}"/>
              </a:ext>
            </a:extLst>
          </p:cNvPr>
          <p:cNvSpPr txBox="1"/>
          <p:nvPr/>
        </p:nvSpPr>
        <p:spPr>
          <a:xfrm>
            <a:off x="1600200" y="5894685"/>
            <a:ext cx="97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For all </a:t>
            </a:r>
            <a:r>
              <a:rPr lang="fr-FR" b="1" dirty="0" err="1">
                <a:solidFill>
                  <a:srgbClr val="FF0000"/>
                </a:solidFill>
              </a:rPr>
              <a:t>other</a:t>
            </a:r>
            <a:r>
              <a:rPr lang="fr-FR" b="1" dirty="0">
                <a:solidFill>
                  <a:srgbClr val="FF0000"/>
                </a:solidFill>
              </a:rPr>
              <a:t> discussion/</a:t>
            </a:r>
            <a:r>
              <a:rPr lang="fr-FR" b="1" dirty="0" err="1">
                <a:solidFill>
                  <a:srgbClr val="FF0000"/>
                </a:solidFill>
              </a:rPr>
              <a:t>presentation</a:t>
            </a:r>
            <a:r>
              <a:rPr lang="fr-FR" b="1" dirty="0">
                <a:solidFill>
                  <a:srgbClr val="FF0000"/>
                </a:solidFill>
              </a:rPr>
              <a:t> items, </a:t>
            </a:r>
            <a:r>
              <a:rPr lang="fr-FR" b="1" dirty="0" err="1">
                <a:solidFill>
                  <a:srgbClr val="FF0000"/>
                </a:solidFill>
              </a:rPr>
              <a:t>please</a:t>
            </a:r>
            <a:r>
              <a:rPr lang="fr-FR" b="1" dirty="0">
                <a:solidFill>
                  <a:srgbClr val="FF0000"/>
                </a:solidFill>
              </a:rPr>
              <a:t> download and </a:t>
            </a:r>
            <a:r>
              <a:rPr lang="fr-FR" b="1" dirty="0" err="1">
                <a:solidFill>
                  <a:srgbClr val="FF0000"/>
                </a:solidFill>
              </a:rPr>
              <a:t>see</a:t>
            </a:r>
            <a:r>
              <a:rPr lang="fr-FR" b="1" dirty="0">
                <a:solidFill>
                  <a:srgbClr val="FF0000"/>
                </a:solidFill>
              </a:rPr>
              <a:t> minutes &amp; </a:t>
            </a:r>
            <a:r>
              <a:rPr lang="fr-FR" b="1" dirty="0" err="1">
                <a:solidFill>
                  <a:srgbClr val="FF0000"/>
                </a:solidFill>
              </a:rPr>
              <a:t>presentation</a:t>
            </a:r>
            <a:r>
              <a:rPr lang="fr-FR" b="1" dirty="0">
                <a:solidFill>
                  <a:srgbClr val="FF0000"/>
                </a:solidFill>
              </a:rPr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3640761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6" y="649956"/>
            <a:ext cx="11349294" cy="726137"/>
          </a:xfrm>
        </p:spPr>
        <p:txBody>
          <a:bodyPr/>
          <a:lstStyle/>
          <a:p>
            <a:r>
              <a:rPr lang="en-US" sz="2800" dirty="0"/>
              <a:t>Membership ‘acceptance’ criteria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36046" y="213987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215"/>
            <a:ext cx="1794856" cy="1211529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45BEF-B9A4-4E15-94A5-4CDF7EFA67FE}"/>
              </a:ext>
            </a:extLst>
          </p:cNvPr>
          <p:cNvSpPr/>
          <p:nvPr/>
        </p:nvSpPr>
        <p:spPr>
          <a:xfrm>
            <a:off x="715759" y="1376093"/>
            <a:ext cx="1117377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ea typeface="Yu Gothic" panose="020B0400000000000000" pitchFamily="34" charset="-128"/>
              </a:rPr>
              <a:t>Avoid geographical over-</a:t>
            </a:r>
            <a:r>
              <a:rPr lang="en-US" sz="2000" b="1" dirty="0" err="1">
                <a:ea typeface="Yu Gothic" panose="020B0400000000000000" pitchFamily="34" charset="-128"/>
              </a:rPr>
              <a:t>representaiton</a:t>
            </a:r>
            <a:endParaRPr lang="en-US" sz="2000" b="1" dirty="0">
              <a:ea typeface="Yu Gothic" panose="020B04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ea typeface="Yu Gothic" panose="020B0400000000000000" pitchFamily="34" charset="-128"/>
              </a:rPr>
              <a:t>Limit a single-country percentage to 20%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ea typeface="Yu Gothic" panose="020B0400000000000000" pitchFamily="34" charset="-128"/>
              </a:rPr>
              <a:t>Exceptions:</a:t>
            </a:r>
            <a:r>
              <a:rPr lang="en-US" sz="2000" dirty="0">
                <a:ea typeface="Yu Gothic" panose="020B0400000000000000" pitchFamily="34" charset="-128"/>
              </a:rPr>
              <a:t> Invited speakers, or those with strong alignment with the Action &amp; contribution potential </a:t>
            </a:r>
            <a:r>
              <a:rPr lang="en-US" sz="2000" dirty="0">
                <a:ea typeface="Yu Gothic" panose="020B0400000000000000" pitchFamily="34" charset="-128"/>
                <a:sym typeface="Wingdings" panose="05000000000000000000" pitchFamily="2" charset="2"/>
              </a:rPr>
              <a:t> </a:t>
            </a:r>
            <a:r>
              <a:rPr lang="en-US" sz="2000" dirty="0">
                <a:solidFill>
                  <a:srgbClr val="FF0000"/>
                </a:solidFill>
                <a:ea typeface="Yu Gothic" panose="020B0400000000000000" pitchFamily="34" charset="-128"/>
                <a:sym typeface="Wingdings" panose="05000000000000000000" pitchFamily="2" charset="2"/>
              </a:rPr>
              <a:t>to be consulted with the MC members of the respective countries</a:t>
            </a:r>
            <a:endParaRPr lang="en-US" sz="2000" dirty="0">
              <a:solidFill>
                <a:srgbClr val="FF0000"/>
              </a:solidFill>
              <a:ea typeface="Yu Gothic" panose="020B04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ea typeface="Yu Gothic" panose="020B0400000000000000" pitchFamily="34" charset="-128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000" b="1" dirty="0">
                <a:ea typeface="Yu Gothic" panose="020B0400000000000000" pitchFamily="34" charset="-128"/>
              </a:rPr>
              <a:t>Stop COST Action ‘</a:t>
            </a:r>
            <a:r>
              <a:rPr lang="fr-FR" sz="2000" b="1" dirty="0" err="1">
                <a:ea typeface="Yu Gothic" panose="020B0400000000000000" pitchFamily="34" charset="-128"/>
              </a:rPr>
              <a:t>predetors</a:t>
            </a:r>
            <a:r>
              <a:rPr lang="fr-FR" sz="2000" b="1" dirty="0">
                <a:ea typeface="Yu Gothic" panose="020B0400000000000000" pitchFamily="34" charset="-128"/>
              </a:rPr>
              <a:t>’ </a:t>
            </a:r>
            <a:endParaRPr lang="en-US" sz="2000" b="1" dirty="0">
              <a:ea typeface="Yu Gothic" panose="020B04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FF0000"/>
                </a:solidFill>
                <a:ea typeface="Yu Gothic" panose="020B0400000000000000" pitchFamily="34" charset="-128"/>
              </a:rPr>
              <a:t>Limit max </a:t>
            </a:r>
            <a:r>
              <a:rPr lang="fr-FR" sz="2000" dirty="0" err="1">
                <a:solidFill>
                  <a:srgbClr val="FF0000"/>
                </a:solidFill>
                <a:ea typeface="Yu Gothic" panose="020B0400000000000000" pitchFamily="34" charset="-128"/>
              </a:rPr>
              <a:t>number</a:t>
            </a:r>
            <a:r>
              <a:rPr lang="fr-FR" sz="2000" dirty="0">
                <a:solidFill>
                  <a:srgbClr val="FF0000"/>
                </a:solidFill>
                <a:ea typeface="Yu Gothic" panose="020B0400000000000000" pitchFamily="34" charset="-128"/>
              </a:rPr>
              <a:t> of COST Action per </a:t>
            </a:r>
            <a:r>
              <a:rPr lang="fr-FR" sz="2000" dirty="0" err="1">
                <a:solidFill>
                  <a:srgbClr val="FF0000"/>
                </a:solidFill>
                <a:ea typeface="Yu Gothic" panose="020B0400000000000000" pitchFamily="34" charset="-128"/>
              </a:rPr>
              <a:t>person</a:t>
            </a:r>
            <a:r>
              <a:rPr lang="fr-FR" sz="2000" dirty="0">
                <a:solidFill>
                  <a:srgbClr val="FF0000"/>
                </a:solidFill>
                <a:ea typeface="Yu Gothic" panose="020B0400000000000000" pitchFamily="34" charset="-128"/>
              </a:rPr>
              <a:t>: </a:t>
            </a:r>
            <a:r>
              <a:rPr lang="fr-FR" sz="2000" b="1" dirty="0">
                <a:solidFill>
                  <a:srgbClr val="FF0000"/>
                </a:solidFill>
                <a:ea typeface="Yu Gothic" panose="020B0400000000000000" pitchFamily="34" charset="-128"/>
              </a:rPr>
              <a:t>max set to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ea typeface="Yu Gothic" panose="020B04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a typeface="Yu Gothic" panose="020B0400000000000000" pitchFamily="34" charset="-128"/>
              </a:rPr>
              <a:t>Set max member to 450 </a:t>
            </a:r>
            <a:r>
              <a:rPr lang="en-US" sz="2000" b="1" dirty="0">
                <a:ea typeface="Yu Gothic" panose="020B0400000000000000" pitchFamily="34" charset="-128"/>
                <a:sym typeface="Wingdings" panose="05000000000000000000" pitchFamily="2" charset="2"/>
              </a:rPr>
              <a:t> not included in the vote</a:t>
            </a:r>
            <a:endParaRPr lang="en-US" sz="2000" b="1" dirty="0">
              <a:ea typeface="Yu Gothic" panose="020B0400000000000000" pitchFamily="34" charset="-128"/>
            </a:endParaRPr>
          </a:p>
          <a:p>
            <a:pPr lvl="1"/>
            <a:endParaRPr lang="en-US" sz="2000" b="1" dirty="0">
              <a:ea typeface="Yu Gothic" panose="020B04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ea typeface="Yu Gothic" panose="020B0400000000000000" pitchFamily="34" charset="-128"/>
              </a:rPr>
              <a:t>Screening</a:t>
            </a:r>
            <a:r>
              <a:rPr lang="en-US" sz="2000" b="1" dirty="0">
                <a:ea typeface="Yu Gothic" panose="020B0400000000000000" pitchFamily="34" charset="-128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ea typeface="Yu Gothic" panose="020B0400000000000000" pitchFamily="34" charset="-128"/>
              </a:rPr>
              <a:t>Careful examination of each application takes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ea typeface="Yu Gothic" panose="020B0400000000000000" pitchFamily="34" charset="-128"/>
              </a:rPr>
              <a:t>1</a:t>
            </a:r>
            <a:r>
              <a:rPr lang="en-US" sz="2000" b="1" baseline="30000" dirty="0">
                <a:solidFill>
                  <a:srgbClr val="FF0000"/>
                </a:solidFill>
                <a:ea typeface="Yu Gothic" panose="020B0400000000000000" pitchFamily="34" charset="-128"/>
              </a:rPr>
              <a:t>st</a:t>
            </a:r>
            <a:r>
              <a:rPr lang="en-US" sz="2000" b="1" dirty="0">
                <a:solidFill>
                  <a:srgbClr val="FF0000"/>
                </a:solidFill>
                <a:ea typeface="Yu Gothic" panose="020B0400000000000000" pitchFamily="34" charset="-128"/>
              </a:rPr>
              <a:t> layer Screening with Keywords: acceleration, automation, sustainability, digitalization… (in addition to energy materials) by AC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ea typeface="Yu Gothic" panose="020B0400000000000000" pitchFamily="34" charset="-128"/>
              </a:rPr>
              <a:t>2</a:t>
            </a:r>
            <a:r>
              <a:rPr lang="en-US" sz="2000" b="1" baseline="30000" dirty="0">
                <a:solidFill>
                  <a:srgbClr val="FF0000"/>
                </a:solidFill>
                <a:ea typeface="Yu Gothic" panose="020B0400000000000000" pitchFamily="34" charset="-128"/>
              </a:rPr>
              <a:t>nd</a:t>
            </a:r>
            <a:r>
              <a:rPr lang="en-US" sz="2000" b="1" dirty="0">
                <a:solidFill>
                  <a:srgbClr val="FF0000"/>
                </a:solidFill>
                <a:ea typeface="Yu Gothic" panose="020B0400000000000000" pitchFamily="34" charset="-128"/>
              </a:rPr>
              <a:t> screening by MC members of the respective countries</a:t>
            </a:r>
          </a:p>
        </p:txBody>
      </p:sp>
    </p:spTree>
    <p:extLst>
      <p:ext uri="{BB962C8B-B14F-4D97-AF65-F5344CB8AC3E}">
        <p14:creationId xmlns:p14="http://schemas.microsoft.com/office/powerpoint/2010/main" val="2085525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/>
              <a:t>Workshop </a:t>
            </a:r>
            <a:r>
              <a:rPr lang="fr-FR" b="1" dirty="0" err="1"/>
              <a:t>take</a:t>
            </a:r>
            <a:r>
              <a:rPr lang="fr-FR" b="1" dirty="0"/>
              <a:t>-home messages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11282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400" cap="small" dirty="0"/>
              <a:t>Following 19 presentations and discussions…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13</a:t>
            </a:fld>
            <a:endParaRPr lang="en-US" dirty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215"/>
            <a:ext cx="1794856" cy="121152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17114" y="1360442"/>
            <a:ext cx="1117377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ea typeface="Yu Gothic" panose="020B0400000000000000" pitchFamily="34" charset="-128"/>
              </a:rPr>
              <a:t>A group on ‘batteries’ topic formed (facilitator = B. </a:t>
            </a:r>
            <a:r>
              <a:rPr lang="en-US" b="1" dirty="0" err="1">
                <a:ea typeface="Yu Gothic" panose="020B0400000000000000" pitchFamily="34" charset="-128"/>
              </a:rPr>
              <a:t>Cimatti</a:t>
            </a:r>
            <a:r>
              <a:rPr lang="en-US" b="1" dirty="0">
                <a:ea typeface="Yu Gothic" panose="020B0400000000000000" pitchFamily="34" charset="-128"/>
              </a:rPr>
              <a:t> (</a:t>
            </a:r>
            <a:r>
              <a:rPr lang="en-US" b="1" dirty="0" err="1">
                <a:ea typeface="Yu Gothic" panose="020B0400000000000000" pitchFamily="34" charset="-128"/>
              </a:rPr>
              <a:t>UniBo</a:t>
            </a:r>
            <a:r>
              <a:rPr lang="en-US" b="1" dirty="0">
                <a:ea typeface="Yu Gothic" panose="020B0400000000000000" pitchFamily="34" charset="-128"/>
              </a:rPr>
              <a:t>))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dirty="0">
              <a:ea typeface="Yu Gothic" panose="020B0400000000000000" pitchFamily="34" charset="-128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ea typeface="Yu Gothic" panose="020B0400000000000000" pitchFamily="34" charset="-128"/>
              </a:rPr>
              <a:t>Feedback surveys/ co-work style </a:t>
            </a:r>
            <a:r>
              <a:rPr lang="en-US" b="1" dirty="0">
                <a:ea typeface="Yu Gothic" panose="020B0400000000000000" pitchFamily="34" charset="-128"/>
                <a:sym typeface="Wingdings" panose="05000000000000000000" pitchFamily="2" charset="2"/>
              </a:rPr>
              <a:t> Max Wolf (AIT) prepare </a:t>
            </a:r>
            <a:r>
              <a:rPr lang="en-US" b="1" dirty="0" err="1">
                <a:ea typeface="Yu Gothic" panose="020B0400000000000000" pitchFamily="34" charset="-128"/>
                <a:sym typeface="Wingdings" panose="05000000000000000000" pitchFamily="2" charset="2"/>
              </a:rPr>
              <a:t>Airtable</a:t>
            </a:r>
            <a:r>
              <a:rPr lang="en-US" b="1" dirty="0">
                <a:ea typeface="Yu Gothic" panose="020B0400000000000000" pitchFamily="34" charset="-128"/>
                <a:sym typeface="Wingdings" panose="05000000000000000000" pitchFamily="2" charset="2"/>
              </a:rPr>
              <a:t> database for follow-up communications</a:t>
            </a:r>
            <a:endParaRPr lang="en-US" b="1" dirty="0">
              <a:ea typeface="Yu Gothic" panose="020B04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ea typeface="Yu Gothic" panose="020B0400000000000000" pitchFamily="34" charset="-128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b="1" dirty="0" err="1">
                <a:ea typeface="Yu Gothic" panose="020B0400000000000000" pitchFamily="34" charset="-128"/>
              </a:rPr>
              <a:t>Recordings</a:t>
            </a:r>
            <a:r>
              <a:rPr lang="fr-FR" b="1" dirty="0">
                <a:ea typeface="Yu Gothic" panose="020B0400000000000000" pitchFamily="34" charset="-128"/>
              </a:rPr>
              <a:t> and </a:t>
            </a:r>
            <a:r>
              <a:rPr lang="fr-FR" b="1" dirty="0" err="1">
                <a:ea typeface="Yu Gothic" panose="020B0400000000000000" pitchFamily="34" charset="-128"/>
              </a:rPr>
              <a:t>presentation</a:t>
            </a:r>
            <a:r>
              <a:rPr lang="fr-FR" b="1" dirty="0">
                <a:ea typeface="Yu Gothic" panose="020B0400000000000000" pitchFamily="34" charset="-128"/>
              </a:rPr>
              <a:t>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ea typeface="Yu Gothic" panose="020B0400000000000000" pitchFamily="34" charset="-128"/>
              </a:rPr>
              <a:t>Recordings</a:t>
            </a:r>
            <a:r>
              <a:rPr lang="fr-FR" dirty="0">
                <a:ea typeface="Yu Gothic" panose="020B0400000000000000" pitchFamily="34" charset="-128"/>
              </a:rPr>
              <a:t> are </a:t>
            </a:r>
            <a:r>
              <a:rPr lang="fr-FR" dirty="0" err="1">
                <a:ea typeface="Yu Gothic" panose="020B0400000000000000" pitchFamily="34" charset="-128"/>
              </a:rPr>
              <a:t>being</a:t>
            </a:r>
            <a:r>
              <a:rPr lang="fr-FR" dirty="0">
                <a:ea typeface="Yu Gothic" panose="020B0400000000000000" pitchFamily="34" charset="-128"/>
              </a:rPr>
              <a:t> </a:t>
            </a:r>
            <a:r>
              <a:rPr lang="fr-FR" dirty="0" err="1">
                <a:ea typeface="Yu Gothic" panose="020B0400000000000000" pitchFamily="34" charset="-128"/>
              </a:rPr>
              <a:t>compiled</a:t>
            </a:r>
            <a:r>
              <a:rPr lang="fr-FR" dirty="0">
                <a:ea typeface="Yu Gothic" panose="020B0400000000000000" pitchFamily="34" charset="-128"/>
              </a:rPr>
              <a:t>. </a:t>
            </a:r>
            <a:r>
              <a:rPr lang="fr-FR" dirty="0" err="1">
                <a:ea typeface="Yu Gothic" panose="020B0400000000000000" pitchFamily="34" charset="-128"/>
              </a:rPr>
              <a:t>Both</a:t>
            </a:r>
            <a:r>
              <a:rPr lang="fr-FR" dirty="0">
                <a:ea typeface="Yu Gothic" panose="020B0400000000000000" pitchFamily="34" charset="-128"/>
              </a:rPr>
              <a:t> </a:t>
            </a:r>
            <a:r>
              <a:rPr lang="fr-FR" dirty="0" err="1">
                <a:ea typeface="Yu Gothic" panose="020B0400000000000000" pitchFamily="34" charset="-128"/>
              </a:rPr>
              <a:t>will</a:t>
            </a:r>
            <a:r>
              <a:rPr lang="fr-FR" dirty="0">
                <a:ea typeface="Yu Gothic" panose="020B0400000000000000" pitchFamily="34" charset="-128"/>
              </a:rPr>
              <a:t> </a:t>
            </a:r>
            <a:r>
              <a:rPr lang="fr-FR" dirty="0" err="1">
                <a:ea typeface="Yu Gothic" panose="020B0400000000000000" pitchFamily="34" charset="-128"/>
              </a:rPr>
              <a:t>be</a:t>
            </a:r>
            <a:r>
              <a:rPr lang="fr-FR" dirty="0">
                <a:ea typeface="Yu Gothic" panose="020B0400000000000000" pitchFamily="34" charset="-128"/>
              </a:rPr>
              <a:t> </a:t>
            </a:r>
            <a:r>
              <a:rPr lang="fr-FR" dirty="0" err="1">
                <a:ea typeface="Yu Gothic" panose="020B0400000000000000" pitchFamily="34" charset="-128"/>
              </a:rPr>
              <a:t>shared</a:t>
            </a:r>
            <a:r>
              <a:rPr lang="fr-FR" dirty="0">
                <a:ea typeface="Yu Gothic" panose="020B0400000000000000" pitchFamily="34" charset="-128"/>
              </a:rPr>
              <a:t> via WS mailing </a:t>
            </a:r>
            <a:r>
              <a:rPr lang="fr-FR" dirty="0" err="1">
                <a:ea typeface="Yu Gothic" panose="020B0400000000000000" pitchFamily="34" charset="-128"/>
              </a:rPr>
              <a:t>list</a:t>
            </a:r>
            <a:r>
              <a:rPr lang="fr-FR" dirty="0">
                <a:ea typeface="Yu Gothic" panose="020B0400000000000000" pitchFamily="34" charset="-128"/>
              </a:rPr>
              <a:t> (non-</a:t>
            </a:r>
            <a:r>
              <a:rPr lang="fr-FR" dirty="0" err="1">
                <a:ea typeface="Yu Gothic" panose="020B0400000000000000" pitchFamily="34" charset="-128"/>
              </a:rPr>
              <a:t>transferable</a:t>
            </a:r>
            <a:r>
              <a:rPr lang="fr-FR" dirty="0">
                <a:ea typeface="Yu Gothic" panose="020B0400000000000000" pitchFamily="34" charset="-128"/>
              </a:rPr>
              <a:t>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ea typeface="Yu Gothic" panose="020B0400000000000000" pitchFamily="34" charset="-128"/>
              </a:rPr>
              <a:t>Want</a:t>
            </a:r>
            <a:r>
              <a:rPr lang="fr-FR" dirty="0">
                <a:ea typeface="Yu Gothic" panose="020B0400000000000000" pitchFamily="34" charset="-128"/>
              </a:rPr>
              <a:t> to </a:t>
            </a:r>
            <a:r>
              <a:rPr lang="fr-FR" dirty="0" err="1">
                <a:ea typeface="Yu Gothic" panose="020B0400000000000000" pitchFamily="34" charset="-128"/>
              </a:rPr>
              <a:t>access</a:t>
            </a:r>
            <a:r>
              <a:rPr lang="fr-FR" dirty="0">
                <a:ea typeface="Yu Gothic" panose="020B0400000000000000" pitchFamily="34" charset="-128"/>
              </a:rPr>
              <a:t>? Email GHM «d.koren@eera-set.eu »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ea typeface="Yu Gothic" panose="020B04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>
                <a:ea typeface="Yu Gothic" panose="020B0400000000000000" pitchFamily="34" charset="-128"/>
              </a:rPr>
              <a:t>Brokerage</a:t>
            </a:r>
            <a:r>
              <a:rPr lang="fr-FR" b="1" dirty="0">
                <a:ea typeface="Yu Gothic" panose="020B0400000000000000" pitchFamily="34" charset="-128"/>
              </a:rPr>
              <a:t> </a:t>
            </a:r>
            <a:r>
              <a:rPr lang="fr-FR" b="1" dirty="0" err="1">
                <a:ea typeface="Yu Gothic" panose="020B0400000000000000" pitchFamily="34" charset="-128"/>
              </a:rPr>
              <a:t>event</a:t>
            </a:r>
            <a:r>
              <a:rPr lang="fr-FR" b="1" dirty="0">
                <a:ea typeface="Yu Gothic" panose="020B0400000000000000" pitchFamily="34" charset="-128"/>
              </a:rPr>
              <a:t> of E3S </a:t>
            </a:r>
            <a:r>
              <a:rPr lang="fr-FR" b="1" dirty="0">
                <a:ea typeface="Yu Gothic" panose="020B0400000000000000" pitchFamily="34" charset="-128"/>
                <a:sym typeface="Wingdings" panose="05000000000000000000" pitchFamily="2" charset="2"/>
              </a:rPr>
              <a:t> </a:t>
            </a:r>
            <a:r>
              <a:rPr lang="fr-FR" b="1" dirty="0" err="1">
                <a:ea typeface="Yu Gothic" panose="020B0400000000000000" pitchFamily="34" charset="-128"/>
                <a:sym typeface="Wingdings" panose="05000000000000000000" pitchFamily="2" charset="2"/>
              </a:rPr>
              <a:t>will</a:t>
            </a:r>
            <a:r>
              <a:rPr lang="fr-FR" b="1" dirty="0">
                <a:ea typeface="Yu Gothic" panose="020B0400000000000000" pitchFamily="34" charset="-128"/>
                <a:sym typeface="Wingdings" panose="05000000000000000000" pitchFamily="2" charset="2"/>
              </a:rPr>
              <a:t> propose a couple calls </a:t>
            </a:r>
            <a:r>
              <a:rPr lang="fr-FR" b="1" dirty="0" err="1">
                <a:ea typeface="Yu Gothic" panose="020B0400000000000000" pitchFamily="34" charset="-128"/>
                <a:sym typeface="Wingdings" panose="05000000000000000000" pitchFamily="2" charset="2"/>
              </a:rPr>
              <a:t>with</a:t>
            </a:r>
            <a:r>
              <a:rPr lang="fr-FR" b="1" dirty="0">
                <a:ea typeface="Yu Gothic" panose="020B0400000000000000" pitchFamily="34" charset="-128"/>
                <a:sym typeface="Wingdings" panose="05000000000000000000" pitchFamily="2" charset="2"/>
              </a:rPr>
              <a:t> descriptions and </a:t>
            </a:r>
            <a:r>
              <a:rPr lang="fr-FR" b="1" dirty="0" err="1">
                <a:ea typeface="Yu Gothic" panose="020B0400000000000000" pitchFamily="34" charset="-128"/>
                <a:sym typeface="Wingdings" panose="05000000000000000000" pitchFamily="2" charset="2"/>
              </a:rPr>
              <a:t>needs</a:t>
            </a:r>
            <a:r>
              <a:rPr lang="fr-FR" b="1" dirty="0">
                <a:ea typeface="Yu Gothic" panose="020B0400000000000000" pitchFamily="34" charset="-128"/>
                <a:sym typeface="Wingdings" panose="05000000000000000000" pitchFamily="2" charset="2"/>
              </a:rPr>
              <a:t> of SSH expertise to Margherita/Alessandro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ea typeface="Yu Gothic" panose="020B04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>
                <a:ea typeface="Yu Gothic" panose="020B0400000000000000" pitchFamily="34" charset="-128"/>
              </a:rPr>
              <a:t>Industrial</a:t>
            </a:r>
            <a:r>
              <a:rPr lang="fr-FR" b="1" dirty="0">
                <a:ea typeface="Yu Gothic" panose="020B0400000000000000" pitchFamily="34" charset="-128"/>
              </a:rPr>
              <a:t> participation </a:t>
            </a:r>
            <a:r>
              <a:rPr lang="fr-FR" b="1" dirty="0">
                <a:ea typeface="Yu Gothic" panose="020B0400000000000000" pitchFamily="34" charset="-128"/>
                <a:sym typeface="Wingdings" panose="05000000000000000000" pitchFamily="2" charset="2"/>
              </a:rPr>
              <a:t> to </a:t>
            </a:r>
            <a:r>
              <a:rPr lang="fr-FR" b="1" dirty="0" err="1">
                <a:ea typeface="Yu Gothic" panose="020B0400000000000000" pitchFamily="34" charset="-128"/>
                <a:sym typeface="Wingdings" panose="05000000000000000000" pitchFamily="2" charset="2"/>
              </a:rPr>
              <a:t>discuss</a:t>
            </a:r>
            <a:endParaRPr lang="fr-FR" b="1" dirty="0">
              <a:ea typeface="Yu Gothic" panose="020B04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ea typeface="Yu Gothic" panose="020B0400000000000000" pitchFamily="34" charset="-128"/>
              </a:rPr>
              <a:t>Invite </a:t>
            </a:r>
            <a:r>
              <a:rPr lang="fr-FR" dirty="0" err="1">
                <a:ea typeface="Yu Gothic" panose="020B0400000000000000" pitchFamily="34" charset="-128"/>
              </a:rPr>
              <a:t>SME’s</a:t>
            </a:r>
            <a:r>
              <a:rPr lang="fr-FR" dirty="0">
                <a:ea typeface="Yu Gothic" panose="020B0400000000000000" pitchFamily="34" charset="-128"/>
              </a:rPr>
              <a:t> and industries (</a:t>
            </a:r>
            <a:r>
              <a:rPr lang="fr-FR" dirty="0" err="1">
                <a:ea typeface="Yu Gothic" panose="020B0400000000000000" pitchFamily="34" charset="-128"/>
              </a:rPr>
              <a:t>from</a:t>
            </a:r>
            <a:r>
              <a:rPr lang="fr-FR" dirty="0">
                <a:ea typeface="Yu Gothic" panose="020B0400000000000000" pitchFamily="34" charset="-128"/>
              </a:rPr>
              <a:t> IAM-I </a:t>
            </a:r>
            <a:r>
              <a:rPr lang="fr-FR" dirty="0" err="1">
                <a:ea typeface="Yu Gothic" panose="020B0400000000000000" pitchFamily="34" charset="-128"/>
              </a:rPr>
              <a:t>list</a:t>
            </a:r>
            <a:r>
              <a:rPr lang="fr-FR" dirty="0">
                <a:ea typeface="Yu Gothic" panose="020B0400000000000000" pitchFamily="34" charset="-128"/>
              </a:rPr>
              <a:t>? </a:t>
            </a:r>
            <a:r>
              <a:rPr lang="fr-FR" dirty="0" err="1">
                <a:ea typeface="Yu Gothic" panose="020B0400000000000000" pitchFamily="34" charset="-128"/>
              </a:rPr>
              <a:t>Any</a:t>
            </a:r>
            <a:r>
              <a:rPr lang="fr-FR" dirty="0">
                <a:ea typeface="Yu Gothic" panose="020B0400000000000000" pitchFamily="34" charset="-128"/>
              </a:rPr>
              <a:t> </a:t>
            </a:r>
            <a:r>
              <a:rPr lang="fr-FR" dirty="0" err="1">
                <a:ea typeface="Yu Gothic" panose="020B0400000000000000" pitchFamily="34" charset="-128"/>
              </a:rPr>
              <a:t>other</a:t>
            </a:r>
            <a:r>
              <a:rPr lang="fr-FR" dirty="0">
                <a:ea typeface="Yu Gothic" panose="020B0400000000000000" pitchFamily="34" charset="-128"/>
              </a:rPr>
              <a:t> </a:t>
            </a:r>
            <a:r>
              <a:rPr lang="fr-FR" dirty="0" err="1">
                <a:ea typeface="Yu Gothic" panose="020B0400000000000000" pitchFamily="34" charset="-128"/>
              </a:rPr>
              <a:t>idea</a:t>
            </a:r>
            <a:r>
              <a:rPr lang="fr-FR" dirty="0">
                <a:ea typeface="Yu Gothic" panose="020B0400000000000000" pitchFamily="34" charset="-128"/>
              </a:rPr>
              <a:t>?) to EU-MACE </a:t>
            </a:r>
            <a:r>
              <a:rPr lang="fr-FR" dirty="0" err="1">
                <a:ea typeface="Yu Gothic" panose="020B0400000000000000" pitchFamily="34" charset="-128"/>
              </a:rPr>
              <a:t>event</a:t>
            </a:r>
            <a:endParaRPr lang="fr-FR" dirty="0">
              <a:ea typeface="Yu Gothic" panose="020B0400000000000000" pitchFamily="34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FF0000"/>
                </a:solidFill>
                <a:ea typeface="Yu Gothic" panose="020B0400000000000000" pitchFamily="34" charset="-128"/>
              </a:rPr>
              <a:t>Gather</a:t>
            </a:r>
            <a:r>
              <a:rPr lang="fr-FR" dirty="0">
                <a:solidFill>
                  <a:srgbClr val="FF0000"/>
                </a:solidFill>
                <a:ea typeface="Yu Gothic" panose="020B0400000000000000" pitchFamily="34" charset="-128"/>
              </a:rPr>
              <a:t> </a:t>
            </a:r>
            <a:r>
              <a:rPr lang="fr-FR" dirty="0" err="1">
                <a:solidFill>
                  <a:srgbClr val="FF0000"/>
                </a:solidFill>
                <a:ea typeface="Yu Gothic" panose="020B0400000000000000" pitchFamily="34" charset="-128"/>
              </a:rPr>
              <a:t>industrial</a:t>
            </a:r>
            <a:r>
              <a:rPr lang="fr-FR" dirty="0">
                <a:solidFill>
                  <a:srgbClr val="FF0000"/>
                </a:solidFill>
                <a:ea typeface="Yu Gothic" panose="020B0400000000000000" pitchFamily="34" charset="-128"/>
              </a:rPr>
              <a:t> </a:t>
            </a:r>
            <a:r>
              <a:rPr lang="fr-FR" dirty="0" err="1">
                <a:solidFill>
                  <a:srgbClr val="FF0000"/>
                </a:solidFill>
                <a:ea typeface="Yu Gothic" panose="020B0400000000000000" pitchFamily="34" charset="-128"/>
              </a:rPr>
              <a:t>members</a:t>
            </a:r>
            <a:r>
              <a:rPr lang="fr-FR" dirty="0">
                <a:solidFill>
                  <a:srgbClr val="FF0000"/>
                </a:solidFill>
                <a:ea typeface="Yu Gothic" panose="020B0400000000000000" pitchFamily="34" charset="-128"/>
              </a:rPr>
              <a:t> of EU-MACE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FF0000"/>
                </a:solidFill>
                <a:ea typeface="Yu Gothic" panose="020B0400000000000000" pitchFamily="34" charset="-128"/>
              </a:rPr>
              <a:t>What</a:t>
            </a:r>
            <a:r>
              <a:rPr lang="fr-FR" dirty="0">
                <a:solidFill>
                  <a:srgbClr val="FF0000"/>
                </a:solidFill>
                <a:ea typeface="Yu Gothic" panose="020B0400000000000000" pitchFamily="34" charset="-128"/>
              </a:rPr>
              <a:t> </a:t>
            </a:r>
            <a:r>
              <a:rPr lang="fr-FR" dirty="0" err="1">
                <a:solidFill>
                  <a:srgbClr val="FF0000"/>
                </a:solidFill>
                <a:ea typeface="Yu Gothic" panose="020B0400000000000000" pitchFamily="34" charset="-128"/>
              </a:rPr>
              <a:t>else</a:t>
            </a:r>
            <a:r>
              <a:rPr lang="fr-FR" dirty="0">
                <a:solidFill>
                  <a:srgbClr val="FF0000"/>
                </a:solidFill>
                <a:ea typeface="Yu Gothic" panose="020B0400000000000000" pitchFamily="34" charset="-128"/>
              </a:rPr>
              <a:t>? 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659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 err="1"/>
              <a:t>Periodic</a:t>
            </a:r>
            <a:r>
              <a:rPr lang="fr-FR" b="1" dirty="0"/>
              <a:t> </a:t>
            </a:r>
            <a:r>
              <a:rPr lang="fr-FR" b="1" dirty="0" err="1"/>
              <a:t>Review</a:t>
            </a:r>
            <a:r>
              <a:rPr lang="fr-FR" b="1" dirty="0"/>
              <a:t> Report</a:t>
            </a:r>
            <a:endParaRPr lang="en-US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4F6E32-B647-420C-9202-5580F3FCFCDF}"/>
              </a:ext>
            </a:extLst>
          </p:cNvPr>
          <p:cNvSpPr txBox="1"/>
          <p:nvPr/>
        </p:nvSpPr>
        <p:spPr>
          <a:xfrm>
            <a:off x="5717381" y="4910435"/>
            <a:ext cx="6100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b="0" i="1" u="none" strike="noStrike" baseline="0" dirty="0">
                <a:solidFill>
                  <a:srgbClr val="737373"/>
                </a:solidFill>
                <a:latin typeface="ArialMT"/>
              </a:rPr>
              <a:t>Prof Chris Bowen</a:t>
            </a:r>
          </a:p>
          <a:p>
            <a:pPr algn="l"/>
            <a:r>
              <a:rPr lang="fr-FR" sz="1800" b="0" i="1" u="none" strike="noStrike" baseline="0" dirty="0" err="1">
                <a:solidFill>
                  <a:srgbClr val="737373"/>
                </a:solidFill>
                <a:latin typeface="ArialMT"/>
              </a:rPr>
              <a:t>University</a:t>
            </a:r>
            <a:r>
              <a:rPr lang="fr-FR" sz="1800" b="0" i="1" u="none" strike="noStrike" baseline="0" dirty="0">
                <a:solidFill>
                  <a:srgbClr val="737373"/>
                </a:solidFill>
                <a:latin typeface="ArialMT"/>
              </a:rPr>
              <a:t> of Bath</a:t>
            </a:r>
          </a:p>
          <a:p>
            <a:pPr algn="l"/>
            <a:r>
              <a:rPr lang="fr-FR" sz="1800" b="0" i="1" u="none" strike="noStrike" baseline="0" dirty="0">
                <a:solidFill>
                  <a:srgbClr val="737373"/>
                </a:solidFill>
                <a:latin typeface="ArialMT"/>
              </a:rPr>
              <a:t>United </a:t>
            </a:r>
            <a:r>
              <a:rPr lang="fr-FR" sz="1800" b="0" i="1" u="none" strike="noStrike" baseline="0" dirty="0" err="1">
                <a:solidFill>
                  <a:srgbClr val="737373"/>
                </a:solidFill>
                <a:latin typeface="ArialMT"/>
              </a:rPr>
              <a:t>Kingdom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0201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Review report received on Feb 20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897428" y="1606267"/>
            <a:ext cx="10749289" cy="4611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b="1" u="sng" dirty="0"/>
              <a:t>Rapporteur </a:t>
            </a:r>
            <a:r>
              <a:rPr lang="en-US" b="1" u="sng" dirty="0" err="1"/>
              <a:t>summarised</a:t>
            </a:r>
            <a:r>
              <a:rPr lang="en-US" b="1" u="sng" dirty="0"/>
              <a:t> the </a:t>
            </a:r>
            <a:r>
              <a:rPr lang="en-US" b="1" u="sng" dirty="0" err="1"/>
              <a:t>Actions's</a:t>
            </a:r>
            <a:r>
              <a:rPr lang="en-US" b="1" u="sng" dirty="0"/>
              <a:t> plans</a:t>
            </a:r>
            <a:r>
              <a:rPr lang="fr-FR" b="1" dirty="0"/>
              <a:t>: </a:t>
            </a:r>
          </a:p>
          <a:p>
            <a:pPr>
              <a:lnSpc>
                <a:spcPct val="150000"/>
              </a:lnSpc>
            </a:pPr>
            <a:r>
              <a:rPr lang="fr-FR" b="1" i="1" dirty="0"/>
              <a:t>	</a:t>
            </a:r>
            <a:r>
              <a:rPr lang="en-US" b="1" i="1" dirty="0"/>
              <a:t>Clear action plans are logical in an attempt to overcome identified challenges</a:t>
            </a:r>
            <a:endParaRPr lang="fr-FR" b="1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b="1" u="sng" dirty="0" err="1"/>
              <a:t>MoU</a:t>
            </a:r>
            <a:r>
              <a:rPr lang="fr-FR" b="1" u="sng" dirty="0"/>
              <a:t> objectives &amp; </a:t>
            </a:r>
            <a:r>
              <a:rPr lang="fr-FR" b="1" u="sng" dirty="0" err="1"/>
              <a:t>Deliverables</a:t>
            </a:r>
            <a:endParaRPr lang="fr-FR" b="1" dirty="0"/>
          </a:p>
          <a:p>
            <a:pPr>
              <a:lnSpc>
                <a:spcPct val="150000"/>
              </a:lnSpc>
            </a:pPr>
            <a:r>
              <a:rPr lang="fr-FR" b="1" i="1" dirty="0"/>
              <a:t>	</a:t>
            </a:r>
            <a:r>
              <a:rPr lang="en-US" b="1" i="1" dirty="0"/>
              <a:t>The Rapporteur confirmed the level of progress reported by the Action for all objectives</a:t>
            </a:r>
            <a:endParaRPr lang="fr-FR" b="1" i="1" dirty="0"/>
          </a:p>
          <a:p>
            <a:pPr>
              <a:lnSpc>
                <a:spcPct val="150000"/>
              </a:lnSpc>
            </a:pPr>
            <a:r>
              <a:rPr lang="fr-FR" b="1" i="1" dirty="0"/>
              <a:t>	</a:t>
            </a:r>
            <a:r>
              <a:rPr lang="en-US" b="1" i="1" dirty="0"/>
              <a:t>The level of ambition of the MoU objectives &amp; deliverables are High.</a:t>
            </a:r>
          </a:p>
          <a:p>
            <a:pPr>
              <a:lnSpc>
                <a:spcPct val="150000"/>
              </a:lnSpc>
            </a:pPr>
            <a:r>
              <a:rPr lang="en-US" b="1" i="1" dirty="0"/>
              <a:t>	Overall, all MoU Objectives &amp; all deliverables are progressing appropriately</a:t>
            </a:r>
            <a:endParaRPr lang="fr-FR" b="1" i="1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b="1" u="sng" dirty="0"/>
              <a:t>Co-</a:t>
            </a:r>
            <a:r>
              <a:rPr lang="fr-FR" b="1" u="sng" dirty="0" err="1"/>
              <a:t>authored</a:t>
            </a:r>
            <a:r>
              <a:rPr lang="fr-FR" b="1" u="sng" dirty="0"/>
              <a:t> Action publications, </a:t>
            </a:r>
            <a:r>
              <a:rPr lang="en-US" b="1" u="sng" dirty="0"/>
              <a:t>Projects and proposals resulting from Action activities</a:t>
            </a:r>
            <a:r>
              <a:rPr lang="fr-FR" b="1" dirty="0"/>
              <a:t>: </a:t>
            </a:r>
          </a:p>
          <a:p>
            <a:pPr>
              <a:lnSpc>
                <a:spcPct val="150000"/>
              </a:lnSpc>
            </a:pPr>
            <a:r>
              <a:rPr lang="fr-FR" b="1" i="1" dirty="0"/>
              <a:t>	</a:t>
            </a:r>
            <a:r>
              <a:rPr lang="fr-FR" b="1" i="1" dirty="0" err="1"/>
              <a:t>Quality</a:t>
            </a:r>
            <a:r>
              <a:rPr lang="fr-FR" b="1" i="1" dirty="0"/>
              <a:t>, </a:t>
            </a:r>
            <a:r>
              <a:rPr lang="fr-FR" b="1" i="1" dirty="0" err="1"/>
              <a:t>Significance</a:t>
            </a:r>
            <a:r>
              <a:rPr lang="fr-FR" b="1" i="1" dirty="0"/>
              <a:t>, Relevance &amp; </a:t>
            </a:r>
            <a:r>
              <a:rPr lang="fr-FR" b="1" i="1" dirty="0" err="1"/>
              <a:t>Quantity</a:t>
            </a:r>
            <a:r>
              <a:rPr lang="fr-FR" b="1" i="1" dirty="0"/>
              <a:t>: </a:t>
            </a:r>
            <a:r>
              <a:rPr lang="fr-FR" b="1" i="1" dirty="0" err="1"/>
              <a:t>very</a:t>
            </a:r>
            <a:r>
              <a:rPr lang="fr-FR" b="1" i="1" dirty="0"/>
              <a:t> good (</a:t>
            </a:r>
            <a:r>
              <a:rPr lang="fr-FR" b="1" i="1" dirty="0" err="1"/>
              <a:t>quantity</a:t>
            </a:r>
            <a:r>
              <a:rPr lang="fr-FR" b="1" i="1" dirty="0"/>
              <a:t> = good)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b="1" u="sng" dirty="0"/>
              <a:t>Impacts</a:t>
            </a:r>
            <a:r>
              <a:rPr lang="fr-FR" b="1" dirty="0"/>
              <a:t>: </a:t>
            </a:r>
          </a:p>
          <a:p>
            <a:pPr>
              <a:lnSpc>
                <a:spcPct val="150000"/>
              </a:lnSpc>
            </a:pPr>
            <a:r>
              <a:rPr lang="fr-FR" b="1" i="1" dirty="0"/>
              <a:t>	</a:t>
            </a:r>
            <a:r>
              <a:rPr lang="en-US" b="1" i="1" dirty="0"/>
              <a:t>Multiple highly significant impacts are reasonably foreseen for the future OR one highly or moderately</a:t>
            </a:r>
          </a:p>
          <a:p>
            <a:pPr>
              <a:lnSpc>
                <a:spcPct val="150000"/>
              </a:lnSpc>
            </a:pPr>
            <a:r>
              <a:rPr lang="en-US" b="1" i="1" dirty="0"/>
              <a:t>	significant impact is already observed [Very Good]</a:t>
            </a: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215"/>
            <a:ext cx="1794856" cy="1211529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876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Review report received on Feb 20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897428" y="1606267"/>
            <a:ext cx="11142172" cy="4611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b="1" u="sng" dirty="0"/>
              <a:t>Dissemination &amp; Exploitation</a:t>
            </a:r>
            <a:r>
              <a:rPr lang="fr-FR" b="1" dirty="0"/>
              <a:t>: </a:t>
            </a:r>
          </a:p>
          <a:p>
            <a:pPr>
              <a:lnSpc>
                <a:spcPct val="150000"/>
              </a:lnSpc>
            </a:pPr>
            <a:r>
              <a:rPr lang="fr-FR" b="1" i="1" dirty="0"/>
              <a:t>	</a:t>
            </a:r>
            <a:r>
              <a:rPr lang="en-US" b="1" i="1" dirty="0"/>
              <a:t>Good clear website with clear outline of Materials Acceleration Platforms, Schools, Grants, Calls, Events, 	News items, and the Tools developed. Clear links to social media - </a:t>
            </a:r>
            <a:r>
              <a:rPr lang="en-US" b="1" i="1" dirty="0" err="1"/>
              <a:t>eg.</a:t>
            </a:r>
            <a:r>
              <a:rPr lang="en-US" b="1" i="1" dirty="0"/>
              <a:t> LinkedIn</a:t>
            </a:r>
          </a:p>
          <a:p>
            <a:pPr>
              <a:lnSpc>
                <a:spcPct val="150000"/>
              </a:lnSpc>
            </a:pPr>
            <a:r>
              <a:rPr lang="en-US" b="1" i="1" dirty="0"/>
              <a:t>	To dissemination and exploitation approach is a logical approach to engage with community and extend 	activity beyond the COST action lifetime. Good to see links to wider community, including policy</a:t>
            </a:r>
          </a:p>
          <a:p>
            <a:pPr>
              <a:lnSpc>
                <a:spcPct val="150000"/>
              </a:lnSpc>
            </a:pPr>
            <a:r>
              <a:rPr lang="en-US" b="1" i="1" dirty="0"/>
              <a:t>	All Action activities focusing on dissemination of Action results were effective [Very Good]</a:t>
            </a:r>
            <a:endParaRPr lang="fr-FR" b="1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b="1" u="sng" dirty="0" err="1"/>
              <a:t>Other</a:t>
            </a:r>
            <a:r>
              <a:rPr lang="fr-FR" b="1" u="sng" dirty="0"/>
              <a:t> </a:t>
            </a:r>
            <a:r>
              <a:rPr lang="fr-FR" b="1" u="sng" dirty="0" err="1"/>
              <a:t>matters</a:t>
            </a:r>
            <a:r>
              <a:rPr lang="fr-FR" b="1" u="sng" dirty="0"/>
              <a:t> (</a:t>
            </a:r>
            <a:r>
              <a:rPr lang="fr-FR" b="1" u="sng" dirty="0" err="1"/>
              <a:t>difficulties</a:t>
            </a:r>
            <a:r>
              <a:rPr lang="fr-FR" b="1" u="sng" dirty="0"/>
              <a:t>)</a:t>
            </a:r>
            <a:endParaRPr lang="fr-FR" b="1" dirty="0"/>
          </a:p>
          <a:p>
            <a:pPr>
              <a:lnSpc>
                <a:spcPct val="150000"/>
              </a:lnSpc>
            </a:pPr>
            <a:r>
              <a:rPr lang="fr-FR" b="1" i="1" dirty="0"/>
              <a:t>	</a:t>
            </a:r>
            <a:r>
              <a:rPr lang="en-US" b="1" i="1" dirty="0"/>
              <a:t>Silent observers, or passengers, are noted. Slack is good approach and may also help identifying the active 	and more useful members of the COST action. </a:t>
            </a:r>
            <a:r>
              <a:rPr lang="en-US" b="1" i="1" dirty="0">
                <a:solidFill>
                  <a:srgbClr val="FF0000"/>
                </a:solidFill>
              </a:rPr>
              <a:t>Spending profile and membership profile noted and key is 	to identify and adapt plans in light of these challenges - this seems to be in place</a:t>
            </a:r>
            <a:r>
              <a:rPr lang="en-US" b="1" i="1" dirty="0"/>
              <a:t>. [Text in Action plans now 	noted - good].</a:t>
            </a:r>
            <a:endParaRPr lang="fr-FR" b="1" i="1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215"/>
            <a:ext cx="1794856" cy="1211529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903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 err="1"/>
              <a:t>Task</a:t>
            </a:r>
            <a:r>
              <a:rPr lang="fr-FR" b="1" dirty="0"/>
              <a:t> updates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46839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Ongoing actions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18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35AC1D4-27E7-453C-A523-71CF05C4EF1E}"/>
              </a:ext>
            </a:extLst>
          </p:cNvPr>
          <p:cNvSpPr txBox="1"/>
          <p:nvPr/>
        </p:nvSpPr>
        <p:spPr>
          <a:xfrm>
            <a:off x="1868738" y="1138187"/>
            <a:ext cx="102013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u="sng" dirty="0"/>
          </a:p>
          <a:p>
            <a:r>
              <a:rPr lang="fr-FR" sz="1600" u="sng" dirty="0" err="1"/>
              <a:t>AcceLMAPs</a:t>
            </a:r>
            <a:r>
              <a:rPr lang="fr-FR" sz="1600" u="sng" dirty="0"/>
              <a:t>: Sandra/Ana/Antonio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Application </a:t>
            </a:r>
            <a:r>
              <a:rPr lang="fr-FR" sz="1600" dirty="0" err="1"/>
              <a:t>opened</a:t>
            </a:r>
            <a:r>
              <a:rPr lang="fr-FR" sz="1600" dirty="0"/>
              <a:t> ~20/01/2026 and open </a:t>
            </a:r>
            <a:r>
              <a:rPr lang="fr-FR" sz="1600" dirty="0" err="1"/>
              <a:t>until</a:t>
            </a:r>
            <a:r>
              <a:rPr lang="fr-FR" sz="1600" dirty="0"/>
              <a:t> </a:t>
            </a:r>
            <a:r>
              <a:rPr lang="fr-FR" sz="1600" dirty="0" err="1"/>
              <a:t>Feb</a:t>
            </a:r>
            <a:r>
              <a:rPr lang="fr-FR" sz="1600" dirty="0"/>
              <a:t> 28  </a:t>
            </a:r>
            <a:r>
              <a:rPr lang="fr-FR" sz="1600" dirty="0">
                <a:sym typeface="Wingdings" panose="05000000000000000000" pitchFamily="2" charset="2"/>
              </a:rPr>
              <a:t> </a:t>
            </a:r>
            <a:r>
              <a:rPr lang="fr-FR" sz="1600" dirty="0" err="1">
                <a:sym typeface="Wingdings" panose="05000000000000000000" pitchFamily="2" charset="2"/>
              </a:rPr>
              <a:t>now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  <a:r>
              <a:rPr lang="fr-FR" sz="1600" dirty="0" err="1">
                <a:sym typeface="Wingdings" panose="05000000000000000000" pitchFamily="2" charset="2"/>
              </a:rPr>
              <a:t>closed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FF0000"/>
                </a:solidFill>
              </a:rPr>
              <a:t>Applications </a:t>
            </a:r>
            <a:r>
              <a:rPr lang="fr-FR" sz="1600" dirty="0" err="1">
                <a:solidFill>
                  <a:srgbClr val="FF0000"/>
                </a:solidFill>
              </a:rPr>
              <a:t>being</a:t>
            </a:r>
            <a:r>
              <a:rPr lang="fr-FR" sz="1600" dirty="0">
                <a:solidFill>
                  <a:srgbClr val="FF0000"/>
                </a:solidFill>
              </a:rPr>
              <a:t> </a:t>
            </a:r>
            <a:r>
              <a:rPr lang="fr-FR" sz="1600" dirty="0" err="1">
                <a:solidFill>
                  <a:srgbClr val="FF0000"/>
                </a:solidFill>
              </a:rPr>
              <a:t>examined</a:t>
            </a:r>
            <a:r>
              <a:rPr lang="fr-FR" sz="1600" dirty="0">
                <a:solidFill>
                  <a:srgbClr val="FF0000"/>
                </a:solidFill>
              </a:rPr>
              <a:t> </a:t>
            </a:r>
            <a:r>
              <a:rPr lang="fr-FR" sz="1600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fr-FR" sz="1600" dirty="0" err="1">
                <a:solidFill>
                  <a:srgbClr val="FF0000"/>
                </a:solidFill>
                <a:sym typeface="Wingdings" panose="05000000000000000000" pitchFamily="2" charset="2"/>
              </a:rPr>
              <a:t>next</a:t>
            </a:r>
            <a:r>
              <a:rPr lang="fr-FR" sz="1600" dirty="0">
                <a:solidFill>
                  <a:srgbClr val="FF0000"/>
                </a:solidFill>
                <a:sym typeface="Wingdings" panose="05000000000000000000" pitchFamily="2" charset="2"/>
              </a:rPr>
              <a:t> meeting = March 13th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ym typeface="Wingdings" panose="05000000000000000000" pitchFamily="2" charset="2"/>
              </a:rPr>
              <a:t>Decision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  <a:r>
              <a:rPr lang="fr-FR" sz="1600" dirty="0" err="1">
                <a:sym typeface="Wingdings" panose="05000000000000000000" pitchFamily="2" charset="2"/>
              </a:rPr>
              <a:t>letters</a:t>
            </a:r>
            <a:r>
              <a:rPr lang="fr-FR" sz="1600" dirty="0">
                <a:sym typeface="Wingdings" panose="05000000000000000000" pitchFamily="2" charset="2"/>
              </a:rPr>
              <a:t> to </a:t>
            </a:r>
            <a:r>
              <a:rPr lang="fr-FR" sz="1600" dirty="0" err="1">
                <a:sym typeface="Wingdings" panose="05000000000000000000" pitchFamily="2" charset="2"/>
              </a:rPr>
              <a:t>be</a:t>
            </a:r>
            <a:r>
              <a:rPr lang="fr-FR" sz="1600" dirty="0">
                <a:sym typeface="Wingdings" panose="05000000000000000000" pitchFamily="2" charset="2"/>
              </a:rPr>
              <a:t> sent on March 21st</a:t>
            </a:r>
            <a:endParaRPr lang="fr-FR" sz="1600" dirty="0"/>
          </a:p>
          <a:p>
            <a:endParaRPr lang="fr-FR" sz="1600" dirty="0"/>
          </a:p>
          <a:p>
            <a:r>
              <a:rPr lang="fr-FR" sz="1600" u="sng" dirty="0"/>
              <a:t>ERASMUS+ and </a:t>
            </a:r>
            <a:r>
              <a:rPr lang="fr-FR" sz="1600" u="sng" dirty="0" err="1"/>
              <a:t>other</a:t>
            </a:r>
            <a:r>
              <a:rPr lang="fr-FR" sz="1600" u="sng" dirty="0"/>
              <a:t> training programme building (</a:t>
            </a:r>
            <a:r>
              <a:rPr lang="fr-FR" sz="1600" u="sng" dirty="0" err="1"/>
              <a:t>you</a:t>
            </a:r>
            <a:r>
              <a:rPr lang="fr-FR" sz="1600" u="sng" dirty="0"/>
              <a:t> can </a:t>
            </a:r>
            <a:r>
              <a:rPr lang="fr-FR" sz="1600" u="sng" dirty="0" err="1"/>
              <a:t>still</a:t>
            </a:r>
            <a:r>
              <a:rPr lang="fr-FR" sz="1600" u="sng" dirty="0"/>
              <a:t> </a:t>
            </a:r>
            <a:r>
              <a:rPr lang="fr-FR" sz="1600" u="sng" dirty="0" err="1"/>
              <a:t>join</a:t>
            </a:r>
            <a:r>
              <a:rPr lang="fr-FR" sz="1600" u="sng" dirty="0"/>
              <a:t>): </a:t>
            </a:r>
            <a:r>
              <a:rPr lang="fr-FR" sz="1600" u="sng" dirty="0">
                <a:hlinkClick r:id="rId3"/>
              </a:rPr>
              <a:t>https://forms.office.com/e/2b0DmVgyAV</a:t>
            </a:r>
            <a:r>
              <a:rPr lang="fr-FR" sz="1600" u="sng" dirty="0"/>
              <a:t>  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2</a:t>
            </a:r>
            <a:r>
              <a:rPr lang="fr-FR" sz="1600" baseline="30000" dirty="0"/>
              <a:t>nd</a:t>
            </a:r>
            <a:r>
              <a:rPr lang="fr-FR" sz="1600" dirty="0"/>
              <a:t> meeting on March 9th </a:t>
            </a:r>
            <a:r>
              <a:rPr lang="fr-FR" sz="1600" dirty="0">
                <a:sym typeface="Wingdings" panose="05000000000000000000" pitchFamily="2" charset="2"/>
              </a:rPr>
              <a:t> 2 </a:t>
            </a:r>
            <a:r>
              <a:rPr lang="fr-FR" sz="1600" dirty="0" err="1">
                <a:sym typeface="Wingdings" panose="05000000000000000000" pitchFamily="2" charset="2"/>
              </a:rPr>
              <a:t>ideas</a:t>
            </a:r>
            <a:r>
              <a:rPr lang="fr-FR" sz="1600" dirty="0">
                <a:sym typeface="Wingdings" panose="05000000000000000000" pitchFamily="2" charset="2"/>
              </a:rPr>
              <a:t> are </a:t>
            </a:r>
            <a:r>
              <a:rPr lang="fr-FR" sz="1600" dirty="0" err="1">
                <a:sym typeface="Wingdings" panose="05000000000000000000" pitchFamily="2" charset="2"/>
              </a:rPr>
              <a:t>emerging</a:t>
            </a:r>
            <a:endParaRPr lang="fr-FR" sz="16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ym typeface="Wingdings" panose="05000000000000000000" pitchFamily="2" charset="2"/>
              </a:rPr>
              <a:t>Next meeting in </a:t>
            </a:r>
            <a:r>
              <a:rPr lang="fr-FR" sz="1600" dirty="0" err="1">
                <a:sym typeface="Wingdings" panose="05000000000000000000" pitchFamily="2" charset="2"/>
              </a:rPr>
              <a:t>early</a:t>
            </a:r>
            <a:r>
              <a:rPr lang="fr-FR" sz="1600" dirty="0">
                <a:sym typeface="Wingdings" panose="05000000000000000000" pitchFamily="2" charset="2"/>
              </a:rPr>
              <a:t> April  more </a:t>
            </a:r>
            <a:r>
              <a:rPr lang="fr-FR" sz="1600" dirty="0" err="1">
                <a:sym typeface="Wingdings" panose="05000000000000000000" pitchFamily="2" charset="2"/>
              </a:rPr>
              <a:t>concrete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  <a:r>
              <a:rPr lang="fr-FR" sz="1600" dirty="0" err="1">
                <a:sym typeface="Wingdings" panose="05000000000000000000" pitchFamily="2" charset="2"/>
              </a:rPr>
              <a:t>idea</a:t>
            </a:r>
            <a:r>
              <a:rPr lang="fr-FR" sz="1600" dirty="0">
                <a:sym typeface="Wingdings" panose="05000000000000000000" pitchFamily="2" charset="2"/>
              </a:rPr>
              <a:t> propositions </a:t>
            </a:r>
            <a:r>
              <a:rPr lang="fr-FR" sz="1600" dirty="0" err="1">
                <a:sym typeface="Wingdings" panose="05000000000000000000" pitchFamily="2" charset="2"/>
              </a:rPr>
              <a:t>will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  <a:r>
              <a:rPr lang="fr-FR" sz="1600" dirty="0" err="1">
                <a:sym typeface="Wingdings" panose="05000000000000000000" pitchFamily="2" charset="2"/>
              </a:rPr>
              <a:t>be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  <a:r>
              <a:rPr lang="fr-FR" sz="1600" dirty="0" err="1">
                <a:sym typeface="Wingdings" panose="05000000000000000000" pitchFamily="2" charset="2"/>
              </a:rPr>
              <a:t>formulated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ym typeface="Wingdings" panose="05000000000000000000" pitchFamily="2" charset="2"/>
              </a:rPr>
              <a:t>To </a:t>
            </a:r>
            <a:r>
              <a:rPr lang="fr-FR" sz="1600" dirty="0" err="1">
                <a:sym typeface="Wingdings" panose="05000000000000000000" pitchFamily="2" charset="2"/>
              </a:rPr>
              <a:t>be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  <a:r>
              <a:rPr lang="fr-FR" sz="1600" dirty="0" err="1">
                <a:sym typeface="Wingdings" panose="05000000000000000000" pitchFamily="2" charset="2"/>
              </a:rPr>
              <a:t>presented</a:t>
            </a:r>
            <a:r>
              <a:rPr lang="fr-FR" sz="1600" dirty="0">
                <a:sym typeface="Wingdings" panose="05000000000000000000" pitchFamily="2" charset="2"/>
              </a:rPr>
              <a:t> at the </a:t>
            </a:r>
            <a:r>
              <a:rPr lang="fr-FR" sz="1600" dirty="0" err="1">
                <a:sym typeface="Wingdings" panose="05000000000000000000" pitchFamily="2" charset="2"/>
              </a:rPr>
              <a:t>next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  <a:r>
              <a:rPr lang="fr-FR" sz="1600" dirty="0" err="1">
                <a:sym typeface="Wingdings" panose="05000000000000000000" pitchFamily="2" charset="2"/>
              </a:rPr>
              <a:t>monthly</a:t>
            </a:r>
            <a:r>
              <a:rPr lang="fr-FR" sz="1600" dirty="0">
                <a:sym typeface="Wingdings" panose="05000000000000000000" pitchFamily="2" charset="2"/>
              </a:rPr>
              <a:t> update meeting to </a:t>
            </a:r>
            <a:r>
              <a:rPr lang="fr-FR" sz="1600" dirty="0" err="1">
                <a:sym typeface="Wingdings" panose="05000000000000000000" pitchFamily="2" charset="2"/>
              </a:rPr>
              <a:t>recruit</a:t>
            </a:r>
            <a:r>
              <a:rPr lang="fr-FR" sz="1600" dirty="0">
                <a:sym typeface="Wingdings" panose="05000000000000000000" pitchFamily="2" charset="2"/>
              </a:rPr>
              <a:t> more </a:t>
            </a:r>
            <a:r>
              <a:rPr lang="fr-FR" sz="1600" dirty="0" err="1">
                <a:sym typeface="Wingdings" panose="05000000000000000000" pitchFamily="2" charset="2"/>
              </a:rPr>
              <a:t>members</a:t>
            </a:r>
            <a:endParaRPr lang="fr-FR" sz="1600" dirty="0"/>
          </a:p>
          <a:p>
            <a:endParaRPr lang="fr-FR" sz="1600" u="sng" dirty="0"/>
          </a:p>
          <a:p>
            <a:r>
              <a:rPr lang="fr-FR" sz="1600" u="sng" dirty="0"/>
              <a:t>TDM (WG3)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Draft to </a:t>
            </a:r>
            <a:r>
              <a:rPr lang="fr-FR" sz="1600" dirty="0" err="1"/>
              <a:t>be</a:t>
            </a:r>
            <a:r>
              <a:rPr lang="fr-FR" sz="1600" dirty="0"/>
              <a:t> </a:t>
            </a:r>
            <a:r>
              <a:rPr lang="fr-FR" sz="1600" dirty="0" err="1"/>
              <a:t>circulated</a:t>
            </a:r>
            <a:r>
              <a:rPr lang="fr-FR" sz="1600" dirty="0"/>
              <a:t> </a:t>
            </a:r>
            <a:r>
              <a:rPr lang="fr-FR" sz="1600" dirty="0" err="1"/>
              <a:t>among</a:t>
            </a:r>
            <a:r>
              <a:rPr lang="fr-FR" sz="1600" dirty="0"/>
              <a:t> </a:t>
            </a:r>
            <a:r>
              <a:rPr lang="fr-FR" sz="1600" dirty="0" err="1"/>
              <a:t>core</a:t>
            </a:r>
            <a:r>
              <a:rPr lang="fr-FR" sz="1600" dirty="0"/>
              <a:t> group </a:t>
            </a:r>
            <a:r>
              <a:rPr lang="fr-FR" sz="1600" dirty="0" err="1"/>
              <a:t>members</a:t>
            </a:r>
            <a:endParaRPr lang="fr-FR" sz="1600" dirty="0"/>
          </a:p>
          <a:p>
            <a:endParaRPr lang="fr-FR" sz="1600" dirty="0"/>
          </a:p>
          <a:p>
            <a:r>
              <a:rPr lang="fr-FR" sz="1600" u="sng" dirty="0" err="1"/>
              <a:t>ChainMAP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Expansion to </a:t>
            </a:r>
            <a:r>
              <a:rPr lang="fr-FR" sz="1600" dirty="0" err="1"/>
              <a:t>include</a:t>
            </a:r>
            <a:r>
              <a:rPr lang="fr-FR" sz="1600" dirty="0"/>
              <a:t> </a:t>
            </a:r>
            <a:r>
              <a:rPr lang="fr-FR" sz="1600" dirty="0" err="1"/>
              <a:t>Research</a:t>
            </a:r>
            <a:r>
              <a:rPr lang="fr-FR" sz="1600" dirty="0"/>
              <a:t> infrastructures and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/>
              <a:t>Please</a:t>
            </a:r>
            <a:r>
              <a:rPr lang="fr-FR" sz="1600" dirty="0"/>
              <a:t> help!!! </a:t>
            </a:r>
            <a:r>
              <a:rPr lang="fr-FR" sz="1600" dirty="0">
                <a:hlinkClick r:id="rId4"/>
              </a:rPr>
              <a:t>https://forms.office.com/e/E0CEWhJWbT</a:t>
            </a:r>
            <a:r>
              <a:rPr lang="fr-FR" sz="1600" dirty="0"/>
              <a:t> </a:t>
            </a:r>
          </a:p>
          <a:p>
            <a:endParaRPr lang="fr-FR" sz="1600" dirty="0"/>
          </a:p>
          <a:p>
            <a:r>
              <a:rPr lang="fr-FR" sz="1600" u="sng" dirty="0"/>
              <a:t>Inter-COST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/>
              <a:t>Sign</a:t>
            </a:r>
            <a:r>
              <a:rPr lang="fr-FR" sz="1600" dirty="0"/>
              <a:t> up! </a:t>
            </a:r>
            <a:r>
              <a:rPr lang="fr-FR" sz="1600" b="1" dirty="0">
                <a:sym typeface="Wingdings" panose="05000000000000000000" pitchFamily="2" charset="2"/>
                <a:hlinkClick r:id="rId5"/>
              </a:rPr>
              <a:t>https://forms.office.com/e/3gArV3xVnC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/>
              <a:t>Contacted</a:t>
            </a:r>
            <a:r>
              <a:rPr lang="fr-FR" sz="1600" dirty="0"/>
              <a:t> by EU-</a:t>
            </a:r>
            <a:r>
              <a:rPr lang="fr-FR" sz="1600" dirty="0" err="1"/>
              <a:t>MINe</a:t>
            </a:r>
            <a:r>
              <a:rPr lang="fr-FR" sz="1600" dirty="0"/>
              <a:t> and DAEMON </a:t>
            </a:r>
            <a:r>
              <a:rPr lang="fr-FR" sz="1600" dirty="0">
                <a:sym typeface="Wingdings" panose="05000000000000000000" pitchFamily="2" charset="2"/>
              </a:rPr>
              <a:t> meeting </a:t>
            </a:r>
            <a:r>
              <a:rPr lang="fr-FR" sz="1600" dirty="0" err="1">
                <a:sym typeface="Wingdings" panose="05000000000000000000" pitchFamily="2" charset="2"/>
              </a:rPr>
              <a:t>will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  <a:r>
              <a:rPr lang="fr-FR" sz="1600" dirty="0" err="1">
                <a:sym typeface="Wingdings" panose="05000000000000000000" pitchFamily="2" charset="2"/>
              </a:rPr>
              <a:t>be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  <a:r>
              <a:rPr lang="fr-FR" sz="1600" dirty="0" err="1">
                <a:sym typeface="Wingdings" panose="05000000000000000000" pitchFamily="2" charset="2"/>
              </a:rPr>
              <a:t>organized</a:t>
            </a:r>
            <a:r>
              <a:rPr lang="fr-FR" sz="1600" dirty="0">
                <a:sym typeface="Wingdings" panose="05000000000000000000" pitchFamily="2" charset="2"/>
              </a:rPr>
              <a:t> </a:t>
            </a:r>
            <a:r>
              <a:rPr lang="fr-FR" sz="1600" dirty="0" err="1">
                <a:sym typeface="Wingdings" panose="05000000000000000000" pitchFamily="2" charset="2"/>
              </a:rPr>
              <a:t>soon</a:t>
            </a:r>
            <a:endParaRPr lang="fr-FR" sz="1600" dirty="0"/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086258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C9C8570-88DC-8D24-4F81-E17E30E0B1A5}"/>
              </a:ext>
            </a:extLst>
          </p:cNvPr>
          <p:cNvSpPr/>
          <p:nvPr/>
        </p:nvSpPr>
        <p:spPr>
          <a:xfrm>
            <a:off x="271968" y="963839"/>
            <a:ext cx="7442200" cy="4351866"/>
          </a:xfrm>
          <a:prstGeom prst="roundRect">
            <a:avLst>
              <a:gd name="adj" fmla="val 7328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4ABB72-8B47-A693-BA46-8F912EA31F7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774876" y="1994288"/>
            <a:ext cx="0" cy="1142117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084CA1-307E-41E2-C566-5073C2C306E9}"/>
              </a:ext>
            </a:extLst>
          </p:cNvPr>
          <p:cNvCxnSpPr>
            <a:cxnSpLocks/>
          </p:cNvCxnSpPr>
          <p:nvPr/>
        </p:nvCxnSpPr>
        <p:spPr>
          <a:xfrm flipH="1">
            <a:off x="2741286" y="1903639"/>
            <a:ext cx="2158893" cy="0"/>
          </a:xfrm>
          <a:prstGeom prst="line">
            <a:avLst/>
          </a:prstGeom>
          <a:ln w="28575">
            <a:prstDash val="soli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55C128-FB68-2500-4772-1A9D041D3977}"/>
              </a:ext>
            </a:extLst>
          </p:cNvPr>
          <p:cNvCxnSpPr>
            <a:cxnSpLocks/>
          </p:cNvCxnSpPr>
          <p:nvPr/>
        </p:nvCxnSpPr>
        <p:spPr>
          <a:xfrm>
            <a:off x="2760970" y="1710805"/>
            <a:ext cx="2128568" cy="0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657B9-F6E7-6546-7ADC-5479ACABDBB7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>
          <a:xfrm flipH="1">
            <a:off x="2758051" y="1809622"/>
            <a:ext cx="2151865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431B2B8-454E-8705-58A3-150B784A6327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flipH="1">
            <a:off x="2356547" y="4835888"/>
            <a:ext cx="2660591" cy="6074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44B309-4AE8-A890-54C5-FCCFCCB9D396}"/>
              </a:ext>
            </a:extLst>
          </p:cNvPr>
          <p:cNvCxnSpPr>
            <a:cxnSpLocks/>
          </p:cNvCxnSpPr>
          <p:nvPr/>
        </p:nvCxnSpPr>
        <p:spPr>
          <a:xfrm>
            <a:off x="6179003" y="3509104"/>
            <a:ext cx="0" cy="113875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45A8EA9-B450-E09B-CC36-96C42AC9DB81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544215" y="3509104"/>
            <a:ext cx="0" cy="1151559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DACD03B-1340-5BFC-C911-1A91280B9A77}"/>
              </a:ext>
            </a:extLst>
          </p:cNvPr>
          <p:cNvCxnSpPr>
            <a:cxnSpLocks/>
          </p:cNvCxnSpPr>
          <p:nvPr/>
        </p:nvCxnSpPr>
        <p:spPr>
          <a:xfrm flipV="1">
            <a:off x="1544215" y="1986639"/>
            <a:ext cx="0" cy="1146399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3" name="Left Bracket 62">
            <a:extLst>
              <a:ext uri="{FF2B5EF4-FFF2-40B4-BE49-F238E27FC236}">
                <a16:creationId xmlns:a16="http://schemas.microsoft.com/office/drawing/2014/main" id="{9CD01DA2-0FB0-314D-B8A8-E2869863E935}"/>
              </a:ext>
            </a:extLst>
          </p:cNvPr>
          <p:cNvSpPr/>
          <p:nvPr/>
        </p:nvSpPr>
        <p:spPr>
          <a:xfrm>
            <a:off x="449769" y="1809622"/>
            <a:ext cx="318636" cy="3026266"/>
          </a:xfrm>
          <a:prstGeom prst="leftBracket">
            <a:avLst/>
          </a:prstGeom>
          <a:ln w="28575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Left Bracket 63">
            <a:extLst>
              <a:ext uri="{FF2B5EF4-FFF2-40B4-BE49-F238E27FC236}">
                <a16:creationId xmlns:a16="http://schemas.microsoft.com/office/drawing/2014/main" id="{AB5EA93E-0FAD-E267-8A6C-3144D6565F92}"/>
              </a:ext>
            </a:extLst>
          </p:cNvPr>
          <p:cNvSpPr/>
          <p:nvPr/>
        </p:nvSpPr>
        <p:spPr>
          <a:xfrm flipH="1">
            <a:off x="7206625" y="1804571"/>
            <a:ext cx="318636" cy="3026266"/>
          </a:xfrm>
          <a:prstGeom prst="leftBracket">
            <a:avLst/>
          </a:prstGeom>
          <a:ln w="28575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89EBB31-4FEE-D4DA-0008-059D79EC6C01}"/>
              </a:ext>
            </a:extLst>
          </p:cNvPr>
          <p:cNvCxnSpPr>
            <a:cxnSpLocks/>
            <a:stCxn id="59" idx="1"/>
            <a:endCxn id="15" idx="3"/>
          </p:cNvCxnSpPr>
          <p:nvPr/>
        </p:nvCxnSpPr>
        <p:spPr>
          <a:xfrm flipH="1" flipV="1">
            <a:off x="3236371" y="3317704"/>
            <a:ext cx="1409930" cy="3367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31D0FCB-A961-B96B-A9D3-AE9C508206AA}"/>
              </a:ext>
            </a:extLst>
          </p:cNvPr>
          <p:cNvCxnSpPr>
            <a:cxnSpLocks/>
          </p:cNvCxnSpPr>
          <p:nvPr/>
        </p:nvCxnSpPr>
        <p:spPr>
          <a:xfrm>
            <a:off x="5898098" y="1994288"/>
            <a:ext cx="0" cy="1142117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AE526C9-5A4B-80D3-0892-65CB2FD671C4}"/>
              </a:ext>
            </a:extLst>
          </p:cNvPr>
          <p:cNvGrpSpPr/>
          <p:nvPr/>
        </p:nvGrpSpPr>
        <p:grpSpPr>
          <a:xfrm>
            <a:off x="2767756" y="748713"/>
            <a:ext cx="2450625" cy="372699"/>
            <a:chOff x="904361" y="1242148"/>
            <a:chExt cx="2450625" cy="372699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8030D7A6-DD7F-22C5-0748-4270E2EE5A56}"/>
                </a:ext>
              </a:extLst>
            </p:cNvPr>
            <p:cNvSpPr/>
            <p:nvPr/>
          </p:nvSpPr>
          <p:spPr>
            <a:xfrm>
              <a:off x="904361" y="1242148"/>
              <a:ext cx="2450625" cy="369332"/>
            </a:xfrm>
            <a:prstGeom prst="roundRect">
              <a:avLst>
                <a:gd name="adj" fmla="val 39591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4C1AA8D-FEF0-DB80-18F6-447A75AA35B2}"/>
                </a:ext>
              </a:extLst>
            </p:cNvPr>
            <p:cNvSpPr txBox="1"/>
            <p:nvPr/>
          </p:nvSpPr>
          <p:spPr>
            <a:xfrm>
              <a:off x="942058" y="1245515"/>
              <a:ext cx="23723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Sim-data management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1EADEE5-6823-A43B-7072-0CD997D54783}"/>
              </a:ext>
            </a:extLst>
          </p:cNvPr>
          <p:cNvGrpSpPr/>
          <p:nvPr/>
        </p:nvGrpSpPr>
        <p:grpSpPr>
          <a:xfrm>
            <a:off x="785746" y="1624956"/>
            <a:ext cx="1972305" cy="369332"/>
            <a:chOff x="688739" y="4249155"/>
            <a:chExt cx="1972305" cy="36933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11FD261-663C-C4D1-88DB-5AC6F289B46D}"/>
                </a:ext>
              </a:extLst>
            </p:cNvPr>
            <p:cNvSpPr/>
            <p:nvPr/>
          </p:nvSpPr>
          <p:spPr>
            <a:xfrm>
              <a:off x="688739" y="4249155"/>
              <a:ext cx="1966350" cy="369332"/>
            </a:xfrm>
            <a:prstGeom prst="roundRect">
              <a:avLst>
                <a:gd name="adj" fmla="val 39591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ECE131C-FF00-6622-F2B6-E47D84FE9680}"/>
                </a:ext>
              </a:extLst>
            </p:cNvPr>
            <p:cNvSpPr txBox="1"/>
            <p:nvPr/>
          </p:nvSpPr>
          <p:spPr>
            <a:xfrm>
              <a:off x="694694" y="4249155"/>
              <a:ext cx="1966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MAP-synthesis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EDC2F28-8346-F4D4-AF89-FA4862870AB7}"/>
              </a:ext>
            </a:extLst>
          </p:cNvPr>
          <p:cNvGrpSpPr/>
          <p:nvPr/>
        </p:nvGrpSpPr>
        <p:grpSpPr>
          <a:xfrm>
            <a:off x="4903960" y="1624956"/>
            <a:ext cx="2301395" cy="369332"/>
            <a:chOff x="688738" y="4249155"/>
            <a:chExt cx="2301395" cy="36933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0E3A746-BF3E-F459-7890-1A81219EC22B}"/>
                </a:ext>
              </a:extLst>
            </p:cNvPr>
            <p:cNvSpPr/>
            <p:nvPr/>
          </p:nvSpPr>
          <p:spPr>
            <a:xfrm>
              <a:off x="688738" y="4249155"/>
              <a:ext cx="2301395" cy="369332"/>
            </a:xfrm>
            <a:prstGeom prst="roundRect">
              <a:avLst>
                <a:gd name="adj" fmla="val 39591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7BDE8C-6142-77D5-709A-F9202075B46E}"/>
                </a:ext>
              </a:extLst>
            </p:cNvPr>
            <p:cNvSpPr txBox="1"/>
            <p:nvPr/>
          </p:nvSpPr>
          <p:spPr>
            <a:xfrm>
              <a:off x="694694" y="4249155"/>
              <a:ext cx="2295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MAP-characterization</a:t>
              </a:r>
            </a:p>
          </p:txBody>
        </p:sp>
      </p:grp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CFD3702-8926-01DC-C53E-49E9ECB55525}"/>
              </a:ext>
            </a:extLst>
          </p:cNvPr>
          <p:cNvCxnSpPr>
            <a:cxnSpLocks/>
          </p:cNvCxnSpPr>
          <p:nvPr/>
        </p:nvCxnSpPr>
        <p:spPr>
          <a:xfrm>
            <a:off x="6167841" y="1986639"/>
            <a:ext cx="0" cy="113875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B37D614-7073-2348-9B03-521C354AC458}"/>
              </a:ext>
            </a:extLst>
          </p:cNvPr>
          <p:cNvCxnSpPr>
            <a:cxnSpLocks/>
          </p:cNvCxnSpPr>
          <p:nvPr/>
        </p:nvCxnSpPr>
        <p:spPr>
          <a:xfrm>
            <a:off x="2336991" y="4961504"/>
            <a:ext cx="2678877" cy="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D340FB-9B81-5CDD-0FA8-4B2D5F480E34}"/>
              </a:ext>
            </a:extLst>
          </p:cNvPr>
          <p:cNvGrpSpPr/>
          <p:nvPr/>
        </p:nvGrpSpPr>
        <p:grpSpPr>
          <a:xfrm>
            <a:off x="785746" y="3133038"/>
            <a:ext cx="2450625" cy="372699"/>
            <a:chOff x="904361" y="1242148"/>
            <a:chExt cx="2450625" cy="37269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8A8FF00-E683-6C94-6458-394E7CB2A1D3}"/>
                </a:ext>
              </a:extLst>
            </p:cNvPr>
            <p:cNvSpPr/>
            <p:nvPr/>
          </p:nvSpPr>
          <p:spPr>
            <a:xfrm>
              <a:off x="904361" y="1242148"/>
              <a:ext cx="2450625" cy="369332"/>
            </a:xfrm>
            <a:prstGeom prst="roundRect">
              <a:avLst>
                <a:gd name="adj" fmla="val 39591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1FABB5-F14B-AEAA-B394-D9CD8D317365}"/>
                </a:ext>
              </a:extLst>
            </p:cNvPr>
            <p:cNvSpPr txBox="1"/>
            <p:nvPr/>
          </p:nvSpPr>
          <p:spPr>
            <a:xfrm>
              <a:off x="942058" y="1245515"/>
              <a:ext cx="23723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Sim-Material discovery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F22278D-A777-8B95-3FA1-8CDBAD8CD58B}"/>
              </a:ext>
            </a:extLst>
          </p:cNvPr>
          <p:cNvGrpSpPr/>
          <p:nvPr/>
        </p:nvGrpSpPr>
        <p:grpSpPr>
          <a:xfrm>
            <a:off x="4646301" y="3136405"/>
            <a:ext cx="2559054" cy="372699"/>
            <a:chOff x="904361" y="1242148"/>
            <a:chExt cx="2559054" cy="372699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0F3C43D-2978-74E9-E953-9C9840D4B581}"/>
                </a:ext>
              </a:extLst>
            </p:cNvPr>
            <p:cNvSpPr/>
            <p:nvPr/>
          </p:nvSpPr>
          <p:spPr>
            <a:xfrm>
              <a:off x="904361" y="1242148"/>
              <a:ext cx="2559054" cy="369332"/>
            </a:xfrm>
            <a:prstGeom prst="roundRect">
              <a:avLst>
                <a:gd name="adj" fmla="val 39591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D6A4EFB-E1D9-5705-92C7-6334AEF3EDCF}"/>
                </a:ext>
              </a:extLst>
            </p:cNvPr>
            <p:cNvSpPr txBox="1"/>
            <p:nvPr/>
          </p:nvSpPr>
          <p:spPr>
            <a:xfrm>
              <a:off x="942058" y="1245515"/>
              <a:ext cx="245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Sim-Material properties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2A5B7-D964-F53F-ABB7-6EEC991700B9}"/>
              </a:ext>
            </a:extLst>
          </p:cNvPr>
          <p:cNvGrpSpPr/>
          <p:nvPr/>
        </p:nvGrpSpPr>
        <p:grpSpPr>
          <a:xfrm>
            <a:off x="785746" y="4657296"/>
            <a:ext cx="1570801" cy="372699"/>
            <a:chOff x="904361" y="1242148"/>
            <a:chExt cx="1570801" cy="37269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0ACA371-143E-393C-B362-1F7DDB7E6E9C}"/>
                </a:ext>
              </a:extLst>
            </p:cNvPr>
            <p:cNvSpPr/>
            <p:nvPr/>
          </p:nvSpPr>
          <p:spPr>
            <a:xfrm>
              <a:off x="904361" y="1242148"/>
              <a:ext cx="1570801" cy="369332"/>
            </a:xfrm>
            <a:prstGeom prst="roundRect">
              <a:avLst>
                <a:gd name="adj" fmla="val 39591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23ADF6-D6AE-05F5-9E68-E5ED306508B3}"/>
                </a:ext>
              </a:extLst>
            </p:cNvPr>
            <p:cNvSpPr txBox="1"/>
            <p:nvPr/>
          </p:nvSpPr>
          <p:spPr>
            <a:xfrm>
              <a:off x="942056" y="1245515"/>
              <a:ext cx="1441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Lab-synthesis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A7D1C7-A1F7-6E7F-25FD-FD3D1165EAEB}"/>
              </a:ext>
            </a:extLst>
          </p:cNvPr>
          <p:cNvGrpSpPr/>
          <p:nvPr/>
        </p:nvGrpSpPr>
        <p:grpSpPr>
          <a:xfrm>
            <a:off x="5017138" y="4651222"/>
            <a:ext cx="2188217" cy="372699"/>
            <a:chOff x="904361" y="1242148"/>
            <a:chExt cx="2188217" cy="37269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2BFFFAD-C651-BF44-A8BC-CC8B399B63F1}"/>
                </a:ext>
              </a:extLst>
            </p:cNvPr>
            <p:cNvSpPr/>
            <p:nvPr/>
          </p:nvSpPr>
          <p:spPr>
            <a:xfrm>
              <a:off x="904361" y="1242148"/>
              <a:ext cx="2188217" cy="369332"/>
            </a:xfrm>
            <a:prstGeom prst="roundRect">
              <a:avLst>
                <a:gd name="adj" fmla="val 39591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8C7D7C-5510-AB17-67C6-B110B1171AE9}"/>
                </a:ext>
              </a:extLst>
            </p:cNvPr>
            <p:cNvSpPr txBox="1"/>
            <p:nvPr/>
          </p:nvSpPr>
          <p:spPr>
            <a:xfrm>
              <a:off x="942056" y="1245515"/>
              <a:ext cx="2074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Lab-characterization</a:t>
              </a:r>
            </a:p>
          </p:txBody>
        </p:sp>
      </p:grpSp>
      <p:sp>
        <p:nvSpPr>
          <p:cNvPr id="98" name="Title 1">
            <a:extLst>
              <a:ext uri="{FF2B5EF4-FFF2-40B4-BE49-F238E27FC236}">
                <a16:creationId xmlns:a16="http://schemas.microsoft.com/office/drawing/2014/main" id="{52E36B66-ADCF-5E96-0DCD-8B23FB1B8345}"/>
              </a:ext>
            </a:extLst>
          </p:cNvPr>
          <p:cNvSpPr txBox="1">
            <a:spLocks/>
          </p:cNvSpPr>
          <p:nvPr/>
        </p:nvSpPr>
        <p:spPr>
          <a:xfrm>
            <a:off x="157932" y="117017"/>
            <a:ext cx="9144000" cy="6453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 err="1"/>
              <a:t>LegacyLab</a:t>
            </a:r>
            <a:r>
              <a:rPr lang="en-GB" sz="3600" dirty="0"/>
              <a:t> 2 – March update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C34988B-D46F-A585-0E45-ACB4F47B65DE}"/>
              </a:ext>
            </a:extLst>
          </p:cNvPr>
          <p:cNvSpPr txBox="1"/>
          <p:nvPr/>
        </p:nvSpPr>
        <p:spPr>
          <a:xfrm>
            <a:off x="7859982" y="440085"/>
            <a:ext cx="4164417" cy="4285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Defined expectation in LL2</a:t>
            </a:r>
          </a:p>
          <a:p>
            <a:pPr>
              <a:lnSpc>
                <a:spcPct val="150000"/>
              </a:lnSpc>
            </a:pPr>
            <a:endParaRPr lang="en-GB" sz="700" b="1" dirty="0"/>
          </a:p>
          <a:p>
            <a:r>
              <a:rPr lang="en-GB" b="1" dirty="0"/>
              <a:t>Legacy Labs</a:t>
            </a:r>
            <a:r>
              <a:rPr lang="en-GB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Collaborate with MAPs to accelerate workflows and productivity for development of materials </a:t>
            </a:r>
          </a:p>
          <a:p>
            <a:endParaRPr lang="en-GB" sz="1000" dirty="0"/>
          </a:p>
          <a:p>
            <a:r>
              <a:rPr lang="en-GB" b="1" dirty="0"/>
              <a:t>MAPs</a:t>
            </a:r>
            <a:r>
              <a:rPr lang="en-GB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Increase collab. between MAP and 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Increase collab. between MAPs</a:t>
            </a:r>
            <a:endParaRPr lang="en-GB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000" dirty="0"/>
          </a:p>
          <a:p>
            <a:r>
              <a:rPr lang="en-GB" b="1" dirty="0"/>
              <a:t>Simulations</a:t>
            </a:r>
            <a:r>
              <a:rPr lang="en-GB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Connect legacy labs with 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Incorporate simulation and AI with high-throughput screening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Engage to materials in Lab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4994337-1509-368B-4E59-56D379E5EB4D}"/>
              </a:ext>
            </a:extLst>
          </p:cNvPr>
          <p:cNvSpPr txBox="1"/>
          <p:nvPr/>
        </p:nvSpPr>
        <p:spPr>
          <a:xfrm>
            <a:off x="360014" y="5324762"/>
            <a:ext cx="7759519" cy="152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/>
              <a:t>Up-coming plan and activities: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Online meeting in March (separate email will be sent)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Narrow down focus for STSM (specific HEU calls, target applications)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FDD6E4AE-1273-5F46-6328-C4B2CC1D6C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89" t="30994" r="17826" b="10196"/>
          <a:stretch/>
        </p:blipFill>
        <p:spPr>
          <a:xfrm>
            <a:off x="9521636" y="4725874"/>
            <a:ext cx="1407266" cy="1300319"/>
          </a:xfrm>
          <a:prstGeom prst="rect">
            <a:avLst/>
          </a:prstGeom>
        </p:spPr>
      </p:pic>
      <p:sp>
        <p:nvSpPr>
          <p:cNvPr id="106" name="Rectangle 2">
            <a:extLst>
              <a:ext uri="{FF2B5EF4-FFF2-40B4-BE49-F238E27FC236}">
                <a16:creationId xmlns:a16="http://schemas.microsoft.com/office/drawing/2014/main" id="{4C032D2C-8EBA-8E95-9483-5F2C992B517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802869" y="6035880"/>
            <a:ext cx="2844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Legacy Lab 2  – Fill in form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2B1E3C4-0223-8B60-AD9E-F39C1471038B}"/>
              </a:ext>
            </a:extLst>
          </p:cNvPr>
          <p:cNvSpPr txBox="1"/>
          <p:nvPr/>
        </p:nvSpPr>
        <p:spPr>
          <a:xfrm>
            <a:off x="9127121" y="6371651"/>
            <a:ext cx="2196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by 17</a:t>
            </a:r>
            <a:r>
              <a:rPr lang="en-GB" b="1" baseline="30000" dirty="0">
                <a:solidFill>
                  <a:srgbClr val="FF0000"/>
                </a:solidFill>
              </a:rPr>
              <a:t>th</a:t>
            </a:r>
            <a:r>
              <a:rPr lang="en-GB" b="1" dirty="0">
                <a:solidFill>
                  <a:srgbClr val="FF0000"/>
                </a:solidFill>
              </a:rPr>
              <a:t> March. (Tue)</a:t>
            </a:r>
          </a:p>
        </p:txBody>
      </p:sp>
      <p:sp>
        <p:nvSpPr>
          <p:cNvPr id="17" name="Espace réservé de la date 16">
            <a:extLst>
              <a:ext uri="{FF2B5EF4-FFF2-40B4-BE49-F238E27FC236}">
                <a16:creationId xmlns:a16="http://schemas.microsoft.com/office/drawing/2014/main" id="{90461059-7890-4532-8490-B0B8BCC5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/>
          </a:p>
        </p:txBody>
      </p:sp>
      <p:sp>
        <p:nvSpPr>
          <p:cNvPr id="20" name="Espace réservé du pied de page 19">
            <a:extLst>
              <a:ext uri="{FF2B5EF4-FFF2-40B4-BE49-F238E27FC236}">
                <a16:creationId xmlns:a16="http://schemas.microsoft.com/office/drawing/2014/main" id="{3544C9D4-E7D3-41AB-9E7A-68750F0C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722135F1-242F-41CE-A4E5-E06C9FB4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C26F-4351-4DAE-94CB-A0B25BAAA91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67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/>
              <a:t>Next meetings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07582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Next MC/CG monthly update meetings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852798" y="1597260"/>
            <a:ext cx="5810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r>
              <a:rPr lang="fr-FR" sz="2400" baseline="30000" dirty="0">
                <a:solidFill>
                  <a:schemeClr val="accent5">
                    <a:lumMod val="75000"/>
                  </a:schemeClr>
                </a:solidFill>
              </a:rPr>
              <a:t>nd</a:t>
            </a:r>
            <a:r>
              <a:rPr lang="fr-FR" sz="2400" dirty="0">
                <a:solidFill>
                  <a:schemeClr val="accent5">
                    <a:lumMod val="75000"/>
                  </a:schemeClr>
                </a:solidFill>
              </a:rPr>
              <a:t> or 3rd Tuesday of </a:t>
            </a:r>
            <a:r>
              <a:rPr lang="fr-FR" sz="2400" dirty="0" err="1">
                <a:solidFill>
                  <a:schemeClr val="accent5">
                    <a:lumMod val="75000"/>
                  </a:schemeClr>
                </a:solidFill>
              </a:rPr>
              <a:t>each</a:t>
            </a:r>
            <a:r>
              <a:rPr lang="fr-FR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accent5">
                    <a:lumMod val="75000"/>
                  </a:schemeClr>
                </a:solidFill>
              </a:rPr>
              <a:t>month</a:t>
            </a:r>
            <a:r>
              <a:rPr lang="fr-FR" sz="2400" dirty="0">
                <a:solidFill>
                  <a:schemeClr val="accent5">
                    <a:lumMod val="75000"/>
                  </a:schemeClr>
                </a:solidFill>
              </a:rPr>
              <a:t> @ 3pm  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976709" y="2280092"/>
            <a:ext cx="8738739" cy="3266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000" b="1" u="sng" dirty="0"/>
              <a:t>March 10th 2026</a:t>
            </a:r>
            <a:r>
              <a:rPr lang="fr-FR" sz="2000" b="1" dirty="0"/>
              <a:t>: </a:t>
            </a:r>
          </a:p>
          <a:p>
            <a:pPr>
              <a:lnSpc>
                <a:spcPct val="150000"/>
              </a:lnSpc>
            </a:pPr>
            <a:r>
              <a:rPr lang="fr-FR" sz="2000" b="1" i="1" dirty="0"/>
              <a:t>	</a:t>
            </a:r>
            <a:r>
              <a:rPr lang="fr-FR" sz="2000" b="1" i="1" dirty="0" err="1"/>
              <a:t>Recap</a:t>
            </a:r>
            <a:r>
              <a:rPr lang="fr-FR" sz="2000" b="1" i="1" dirty="0"/>
              <a:t> of MC </a:t>
            </a:r>
            <a:r>
              <a:rPr lang="fr-FR" sz="2000" b="1" i="1" dirty="0" err="1"/>
              <a:t>meeting+PR</a:t>
            </a:r>
            <a:r>
              <a:rPr lang="fr-FR" sz="2000" b="1" i="1" dirty="0"/>
              <a:t> </a:t>
            </a:r>
            <a:r>
              <a:rPr lang="fr-FR" sz="2000" b="1" i="1" dirty="0" err="1"/>
              <a:t>review</a:t>
            </a:r>
            <a:r>
              <a:rPr lang="fr-FR" sz="2000" b="1" i="1" dirty="0"/>
              <a:t> report, Grant </a:t>
            </a:r>
            <a:r>
              <a:rPr lang="fr-FR" sz="2000" b="1" i="1" dirty="0" err="1"/>
              <a:t>award</a:t>
            </a:r>
            <a:r>
              <a:rPr lang="fr-FR" sz="2000" b="1" i="1" dirty="0"/>
              <a:t> publication...</a:t>
            </a:r>
          </a:p>
          <a:p>
            <a:pPr>
              <a:lnSpc>
                <a:spcPct val="150000"/>
              </a:lnSpc>
            </a:pPr>
            <a:r>
              <a:rPr lang="fr-FR" sz="2000" b="1" i="1" dirty="0"/>
              <a:t>	Young EU-MACE </a:t>
            </a:r>
            <a:r>
              <a:rPr lang="fr-FR" sz="2000" b="1" i="1" dirty="0" err="1"/>
              <a:t>seminar</a:t>
            </a:r>
            <a:endParaRPr lang="fr-FR" sz="2000" b="1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000" b="1" u="sng" dirty="0"/>
              <a:t>April 14th</a:t>
            </a:r>
            <a:r>
              <a:rPr lang="fr-FR" sz="2000" b="1" dirty="0"/>
              <a:t>: </a:t>
            </a:r>
          </a:p>
          <a:p>
            <a:pPr>
              <a:lnSpc>
                <a:spcPct val="150000"/>
              </a:lnSpc>
            </a:pPr>
            <a:r>
              <a:rPr lang="fr-FR" sz="2000" b="1" i="1" dirty="0"/>
              <a:t>	Update on </a:t>
            </a:r>
            <a:r>
              <a:rPr lang="fr-FR" sz="2000" b="1" i="1" dirty="0" err="1"/>
              <a:t>AccelMAPs</a:t>
            </a:r>
            <a:r>
              <a:rPr lang="fr-FR" sz="2000" b="1" i="1" dirty="0"/>
              <a:t> </a:t>
            </a:r>
            <a:r>
              <a:rPr lang="fr-FR" sz="2000" b="1" i="1" dirty="0" err="1"/>
              <a:t>preparation</a:t>
            </a:r>
            <a:r>
              <a:rPr lang="fr-FR" sz="2000" b="1" i="1" dirty="0"/>
              <a:t>, ERASMUS </a:t>
            </a:r>
            <a:r>
              <a:rPr lang="fr-FR" sz="2000" b="1" i="1" dirty="0" err="1"/>
              <a:t>progress</a:t>
            </a:r>
            <a:r>
              <a:rPr lang="fr-FR" sz="2000" b="1" i="1" dirty="0"/>
              <a:t>… + YEM webinar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000" b="1" u="sng" dirty="0"/>
              <a:t>May 12th</a:t>
            </a:r>
            <a:r>
              <a:rPr lang="fr-FR" sz="2000" b="1" dirty="0"/>
              <a:t>: </a:t>
            </a:r>
          </a:p>
          <a:p>
            <a:pPr>
              <a:lnSpc>
                <a:spcPct val="150000"/>
              </a:lnSpc>
            </a:pPr>
            <a:r>
              <a:rPr lang="fr-FR" sz="2000" b="1" i="1" dirty="0"/>
              <a:t>	Inter-COST Actions, TDM white </a:t>
            </a:r>
            <a:r>
              <a:rPr lang="fr-FR" sz="2000" b="1" i="1" dirty="0" err="1"/>
              <a:t>paper</a:t>
            </a:r>
            <a:r>
              <a:rPr lang="fr-FR" sz="2000" b="1" i="1" dirty="0"/>
              <a:t>, etc. etc. </a:t>
            </a:r>
            <a:endParaRPr lang="en-US" sz="2000" b="1" i="1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215"/>
            <a:ext cx="1794856" cy="1211529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3932716" y="5602956"/>
            <a:ext cx="4677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>
                <a:solidFill>
                  <a:srgbClr val="C00000"/>
                </a:solidFill>
              </a:rPr>
              <a:t>Thank</a:t>
            </a:r>
            <a:r>
              <a:rPr lang="fr-FR" sz="2800" b="1" dirty="0">
                <a:solidFill>
                  <a:srgbClr val="C00000"/>
                </a:solidFill>
              </a:rPr>
              <a:t> </a:t>
            </a:r>
            <a:r>
              <a:rPr lang="fr-FR" sz="2800" b="1" dirty="0" err="1">
                <a:solidFill>
                  <a:srgbClr val="C00000"/>
                </a:solidFill>
              </a:rPr>
              <a:t>you</a:t>
            </a:r>
            <a:r>
              <a:rPr lang="fr-FR" sz="2800" b="1" dirty="0">
                <a:solidFill>
                  <a:srgbClr val="C00000"/>
                </a:solidFill>
              </a:rPr>
              <a:t> for </a:t>
            </a:r>
            <a:r>
              <a:rPr lang="fr-FR" sz="2800" b="1" dirty="0" err="1">
                <a:solidFill>
                  <a:srgbClr val="C00000"/>
                </a:solidFill>
              </a:rPr>
              <a:t>your</a:t>
            </a:r>
            <a:r>
              <a:rPr lang="fr-FR" sz="2800" b="1" dirty="0">
                <a:solidFill>
                  <a:srgbClr val="C00000"/>
                </a:solidFill>
              </a:rPr>
              <a:t> attention!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CA22123 EU-MACE GP3 monthly CG update</a:t>
            </a:r>
          </a:p>
        </p:txBody>
      </p:sp>
    </p:spTree>
    <p:extLst>
      <p:ext uri="{BB962C8B-B14F-4D97-AF65-F5344CB8AC3E}">
        <p14:creationId xmlns:p14="http://schemas.microsoft.com/office/powerpoint/2010/main" val="4083871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en-US" b="1" dirty="0"/>
              <a:t>Michał Stróżyk (NCBJ, Poland) – winner of YRI CG – GP2</a:t>
            </a:r>
            <a:r>
              <a:rPr lang="fr-FR" b="1" dirty="0"/>
              <a:t>!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76EF12-74AC-419B-99D5-E4E77E287907}"/>
              </a:ext>
            </a:extLst>
          </p:cNvPr>
          <p:cNvSpPr/>
          <p:nvPr/>
        </p:nvSpPr>
        <p:spPr>
          <a:xfrm>
            <a:off x="1907337" y="4948057"/>
            <a:ext cx="9940030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4800" b="1" dirty="0" err="1">
                <a:blipFill>
                  <a:blip r:embed="rId2"/>
                  <a:tile tx="0" ty="0" sx="100000" sy="100000" flip="none" algn="tl"/>
                </a:blipFill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Characterisation</a:t>
            </a:r>
            <a:r>
              <a:rPr lang="fr-FR" sz="4800" b="1" dirty="0">
                <a:blipFill>
                  <a:blip r:embed="rId2"/>
                  <a:tile tx="0" ty="0" sx="100000" sy="100000" flip="none" algn="tl"/>
                </a:blipFill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 of </a:t>
            </a:r>
            <a:r>
              <a:rPr lang="fr-FR" sz="4800" b="1" dirty="0" err="1">
                <a:blipFill>
                  <a:blip r:embed="rId2"/>
                  <a:tile tx="0" ty="0" sx="100000" sy="100000" flip="none" algn="tl"/>
                </a:blipFill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Metallic</a:t>
            </a:r>
            <a:r>
              <a:rPr lang="fr-FR" sz="4800" b="1" dirty="0">
                <a:blipFill>
                  <a:blip r:embed="rId2"/>
                  <a:tile tx="0" ty="0" sx="100000" sy="100000" flip="none" algn="tl"/>
                </a:blipFill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 Materials </a:t>
            </a:r>
          </a:p>
          <a:p>
            <a:pPr algn="ctr"/>
            <a:r>
              <a:rPr lang="fr-FR" sz="4800" b="1" dirty="0">
                <a:blipFill>
                  <a:blip r:embed="rId2"/>
                  <a:tile tx="0" ty="0" sx="100000" sy="100000" flip="none" algn="tl"/>
                </a:blipFill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for </a:t>
            </a:r>
            <a:r>
              <a:rPr lang="fr-FR" sz="4800" b="1" dirty="0" err="1">
                <a:blipFill>
                  <a:blip r:embed="rId2"/>
                  <a:tile tx="0" ty="0" sx="100000" sy="100000" flip="none" algn="tl"/>
                </a:blipFill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Extreme</a:t>
            </a:r>
            <a:r>
              <a:rPr lang="fr-FR" sz="4800" b="1" dirty="0">
                <a:blipFill>
                  <a:blip r:embed="rId2"/>
                  <a:tile tx="0" ty="0" sx="100000" sy="100000" flip="none" algn="tl"/>
                </a:blipFill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 </a:t>
            </a:r>
            <a:r>
              <a:rPr lang="fr-FR" sz="4800" b="1" dirty="0" err="1">
                <a:blipFill>
                  <a:blip r:embed="rId2"/>
                  <a:tile tx="0" ty="0" sx="100000" sy="100000" flip="none" algn="tl"/>
                </a:blipFill>
                <a:effectLst/>
                <a:latin typeface="Calibri" panose="020F0502020204030204" pitchFamily="34" charset="0"/>
                <a:ea typeface="Yu Gothic" panose="020B0400000000000000" pitchFamily="34" charset="-128"/>
              </a:rPr>
              <a:t>Environments</a:t>
            </a:r>
            <a:endParaRPr lang="fr-FR" sz="4800" b="1" cap="none" spc="0" dirty="0">
              <a:ln w="22225">
                <a:solidFill>
                  <a:schemeClr val="accent2"/>
                </a:solidFill>
                <a:prstDash val="solid"/>
              </a:ln>
              <a:blipFill>
                <a:blip r:embed="rId2"/>
                <a:tile tx="0" ty="0" sx="100000" sy="100000" flip="none" algn="tl"/>
              </a:blip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13991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 err="1"/>
              <a:t>Additional</a:t>
            </a:r>
            <a:r>
              <a:rPr lang="fr-FR" b="1" dirty="0"/>
              <a:t> slides </a:t>
            </a:r>
            <a:r>
              <a:rPr lang="fr-FR" b="1" dirty="0" err="1"/>
              <a:t>from</a:t>
            </a:r>
            <a:r>
              <a:rPr lang="fr-FR" b="1" dirty="0"/>
              <a:t> </a:t>
            </a:r>
            <a:r>
              <a:rPr lang="fr-FR" b="1" dirty="0" err="1"/>
              <a:t>before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00769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24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200" y="3599949"/>
            <a:ext cx="4818468" cy="175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/>
              <a:t>Young EU-MACE seminar series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2 speaker candidates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Will re-start on March 10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Want to propose a student/post-doc from your lab?  Contact Ivy!!</a:t>
            </a:r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 txBox="1">
            <a:spLocks/>
          </p:cNvSpPr>
          <p:nvPr/>
        </p:nvSpPr>
        <p:spPr>
          <a:xfrm>
            <a:off x="452846" y="649956"/>
            <a:ext cx="10900954" cy="726137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2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Task update cont’d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F0217-95D0-4F04-93A4-0B8D6D380A0C}"/>
              </a:ext>
            </a:extLst>
          </p:cNvPr>
          <p:cNvSpPr/>
          <p:nvPr/>
        </p:nvSpPr>
        <p:spPr>
          <a:xfrm>
            <a:off x="6242176" y="3605360"/>
            <a:ext cx="5733310" cy="175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 err="1"/>
              <a:t>ChainMap</a:t>
            </a:r>
            <a:r>
              <a:rPr lang="en-US" sz="2000" b="1" u="sng" dirty="0"/>
              <a:t> upgrade 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Periodic Review reviewer examined </a:t>
            </a:r>
            <a:r>
              <a:rPr lang="en-US" i="1" dirty="0" err="1"/>
              <a:t>ChainMap</a:t>
            </a:r>
            <a:endParaRPr lang="en-US" i="1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Will organize a meeting with </a:t>
            </a:r>
            <a:r>
              <a:rPr lang="en-US" i="1" dirty="0" err="1"/>
              <a:t>Kourosh</a:t>
            </a:r>
            <a:r>
              <a:rPr lang="en-US" i="1" dirty="0"/>
              <a:t>, </a:t>
            </a:r>
            <a:r>
              <a:rPr lang="en-US" i="1" dirty="0" err="1"/>
              <a:t>Iosif</a:t>
            </a:r>
            <a:r>
              <a:rPr lang="en-US" i="1" dirty="0"/>
              <a:t>, Monica, Saco &amp; Bogdan </a:t>
            </a:r>
            <a:r>
              <a:rPr lang="en-US" i="1" dirty="0">
                <a:sym typeface="Wingdings" panose="05000000000000000000" pitchFamily="2" charset="2"/>
              </a:rPr>
              <a:t> have not done!!! Sorry….</a:t>
            </a:r>
            <a:endParaRPr lang="en-US" i="1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Willing to contribute? Email Saco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3E2A53C-3DA4-4E67-A485-5FB986F4A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429" y="1612621"/>
            <a:ext cx="2000915" cy="17508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104D114-C368-4E29-8D57-0AC72373FA9B}"/>
              </a:ext>
            </a:extLst>
          </p:cNvPr>
          <p:cNvSpPr txBox="1"/>
          <p:nvPr/>
        </p:nvSpPr>
        <p:spPr>
          <a:xfrm>
            <a:off x="838200" y="1475457"/>
            <a:ext cx="60949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ERASMUS</a:t>
            </a:r>
            <a:endParaRPr lang="fr-FR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First meeting </a:t>
            </a:r>
            <a:r>
              <a:rPr lang="fr-FR" sz="1800" dirty="0" err="1"/>
              <a:t>next</a:t>
            </a:r>
            <a:r>
              <a:rPr lang="fr-FR" sz="1800" dirty="0"/>
              <a:t> </a:t>
            </a:r>
            <a:r>
              <a:rPr lang="fr-FR" sz="1800" dirty="0" err="1"/>
              <a:t>week</a:t>
            </a:r>
            <a:r>
              <a:rPr lang="fr-FR" sz="1800" dirty="0"/>
              <a:t>! (10 </a:t>
            </a:r>
            <a:r>
              <a:rPr lang="fr-FR" sz="1800" dirty="0" err="1"/>
              <a:t>ppl</a:t>
            </a:r>
            <a:r>
              <a:rPr lang="fr-FR" sz="1800" dirty="0"/>
              <a:t> </a:t>
            </a:r>
            <a:r>
              <a:rPr lang="fr-FR" sz="1800" dirty="0" err="1"/>
              <a:t>signed</a:t>
            </a:r>
            <a:r>
              <a:rPr lang="fr-FR" sz="1800" dirty="0"/>
              <a:t>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 err="1"/>
              <a:t>Still</a:t>
            </a:r>
            <a:r>
              <a:rPr lang="fr-FR" sz="1800" dirty="0"/>
              <a:t> possible to </a:t>
            </a:r>
            <a:r>
              <a:rPr lang="fr-FR" sz="1800" dirty="0" err="1"/>
              <a:t>join</a:t>
            </a:r>
            <a:r>
              <a:rPr lang="fr-FR" sz="1800" dirty="0"/>
              <a:t>: </a:t>
            </a:r>
            <a:r>
              <a:rPr lang="fr-FR" sz="1800" dirty="0">
                <a:hlinkClick r:id="rId4"/>
              </a:rPr>
              <a:t>https://forms.office.com/Pages/ResponsePage.aspx?id=9xZkbOgxIEWCTMuTP4OQuXsjyL-l515MkDTrXz9gtT5UMjVCNUNROVkyTlRKM0dHRTlFWDhRWVc2RS4u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4188460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25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 txBox="1">
            <a:spLocks/>
          </p:cNvSpPr>
          <p:nvPr/>
        </p:nvSpPr>
        <p:spPr>
          <a:xfrm>
            <a:off x="452846" y="649956"/>
            <a:ext cx="10900954" cy="726137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2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AOB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3D2A27A-2BCF-4295-BA52-1319CA12DC3A}"/>
              </a:ext>
            </a:extLst>
          </p:cNvPr>
          <p:cNvSpPr txBox="1"/>
          <p:nvPr/>
        </p:nvSpPr>
        <p:spPr>
          <a:xfrm>
            <a:off x="514728" y="1555036"/>
            <a:ext cx="573977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Open discussion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Questions??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NEXT </a:t>
            </a:r>
            <a:r>
              <a:rPr lang="fr-FR" b="1" dirty="0" err="1"/>
              <a:t>monthly</a:t>
            </a:r>
            <a:r>
              <a:rPr lang="fr-FR" b="1" dirty="0"/>
              <a:t> update meetings:  Second Tuesday at 3pm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trike="sngStrike" dirty="0" err="1"/>
              <a:t>Feb</a:t>
            </a:r>
            <a:r>
              <a:rPr lang="fr-FR" strike="sngStrike" dirty="0"/>
              <a:t>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March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April 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May 12</a:t>
            </a:r>
          </a:p>
          <a:p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F81708-2356-4573-ADAE-5B94D96D1A34}"/>
              </a:ext>
            </a:extLst>
          </p:cNvPr>
          <p:cNvSpPr/>
          <p:nvPr/>
        </p:nvSpPr>
        <p:spPr>
          <a:xfrm>
            <a:off x="2209800" y="4571246"/>
            <a:ext cx="83067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err="1">
                <a:solidFill>
                  <a:srgbClr val="FF0000"/>
                </a:solidFill>
              </a:rPr>
              <a:t>See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you</a:t>
            </a:r>
            <a:r>
              <a:rPr lang="fr-FR" sz="2000" b="1" dirty="0">
                <a:solidFill>
                  <a:srgbClr val="FF0000"/>
                </a:solidFill>
              </a:rPr>
              <a:t> all at MC meeting and Workshop!  Don’t </a:t>
            </a:r>
            <a:r>
              <a:rPr lang="fr-FR" sz="2000" b="1" dirty="0" err="1">
                <a:solidFill>
                  <a:srgbClr val="FF0000"/>
                </a:solidFill>
              </a:rPr>
              <a:t>forget</a:t>
            </a:r>
            <a:r>
              <a:rPr lang="fr-FR" sz="2000" b="1" dirty="0">
                <a:solidFill>
                  <a:srgbClr val="FF0000"/>
                </a:solidFill>
              </a:rPr>
              <a:t> to </a:t>
            </a:r>
            <a:r>
              <a:rPr lang="fr-FR" sz="2000" b="1" dirty="0" err="1">
                <a:solidFill>
                  <a:srgbClr val="FF0000"/>
                </a:solidFill>
              </a:rPr>
              <a:t>register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today</a:t>
            </a:r>
            <a:r>
              <a:rPr lang="fr-FR" sz="2000" b="1" dirty="0">
                <a:solidFill>
                  <a:srgbClr val="FF0000"/>
                </a:solidFill>
              </a:rPr>
              <a:t>!!!!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F0C13E1-CBBC-4650-8167-1D72E907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366" y="1676500"/>
            <a:ext cx="2415749" cy="243861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66DFC73B-A52A-424D-85A7-DAEE82C9812F}"/>
              </a:ext>
            </a:extLst>
          </p:cNvPr>
          <p:cNvSpPr txBox="1"/>
          <p:nvPr/>
        </p:nvSpPr>
        <p:spPr>
          <a:xfrm>
            <a:off x="3485756" y="5163471"/>
            <a:ext cx="6101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https://forms.office.com/Pages/ResponsePage.aspx?id=9xZkbOgxIEWCTMuTP4OQua30uxW7CP5Ki2iESeIBm99UNVFaOEZKSTRNT09LSEVWNUFaTjVXVUU1QS4u</a:t>
            </a:r>
          </a:p>
        </p:txBody>
      </p:sp>
    </p:spTree>
    <p:extLst>
      <p:ext uri="{BB962C8B-B14F-4D97-AF65-F5344CB8AC3E}">
        <p14:creationId xmlns:p14="http://schemas.microsoft.com/office/powerpoint/2010/main" val="908452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WG4 (training) – ERASMUS program building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CA22123 EU-MACE GP3 monthly CG update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26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2/23/2026</a:t>
            </a:r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400805" y="1585813"/>
            <a:ext cx="111105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u="sng" dirty="0"/>
              <a:t>ERASMUS+ discussion meeting (WG4)</a:t>
            </a:r>
            <a:r>
              <a:rPr lang="en-US" sz="1600" dirty="0"/>
              <a:t>: leader = Th. Kyratsi (CY) for now</a:t>
            </a:r>
            <a:endParaRPr lang="en-US" sz="16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ERASMUS+ or a similar network </a:t>
            </a:r>
            <a:r>
              <a:rPr lang="en-US" sz="1600" dirty="0">
                <a:sym typeface="Wingdings" panose="05000000000000000000" pitchFamily="2" charset="2"/>
              </a:rPr>
              <a:t> Action Deliverable and objective for GP4</a:t>
            </a: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Call for interests launched in December 2025: Only 6?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Plus Theodora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As a non degree-granting affiliate, AC will be only an observer </a:t>
            </a:r>
          </a:p>
          <a:p>
            <a:pPr lvl="0"/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Online meetings starting in March 2026 to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Compare existing course </a:t>
            </a:r>
            <a:r>
              <a:rPr lang="en-US" sz="1600" dirty="0" err="1"/>
              <a:t>programmes</a:t>
            </a:r>
            <a:r>
              <a:rPr lang="en-US" sz="1600" dirty="0"/>
              <a:t> of interested members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Propose ‘new’ courses on automation and self-driving labs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Select possible </a:t>
            </a:r>
            <a:r>
              <a:rPr lang="en-US" sz="1600" dirty="0" err="1"/>
              <a:t>programme</a:t>
            </a:r>
            <a:r>
              <a:rPr lang="en-US" sz="1600" dirty="0"/>
              <a:t> title/contents/members </a:t>
            </a:r>
          </a:p>
          <a:p>
            <a:pPr lvl="0"/>
            <a:endParaRPr lang="en-US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In-person discussion meeting (2-days) in August/September/October 2026 in Warsaw (randomly chosen) </a:t>
            </a:r>
            <a:r>
              <a:rPr lang="en-US" sz="1600" dirty="0">
                <a:sym typeface="Wingdings" panose="05000000000000000000" pitchFamily="2" charset="2"/>
              </a:rPr>
              <a:t> TBD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Final selection(s) of Universities/Schools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Determine the consortium leader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……</a:t>
            </a:r>
            <a:endParaRPr lang="en-US" sz="16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9829618-CF5D-4FBB-9BCD-1E885A83FB52}"/>
              </a:ext>
            </a:extLst>
          </p:cNvPr>
          <p:cNvSpPr txBox="1"/>
          <p:nvPr/>
        </p:nvSpPr>
        <p:spPr>
          <a:xfrm>
            <a:off x="1819968" y="5863907"/>
            <a:ext cx="8909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https://forms.office.com/Pages/ResponsePage.aspx?id=9xZkbOgxIEWCTMuTP4OQuXsjyL-l515MkDTrXz9gtT5UMjVCNUNROVkyTlRKM0dHRTlFWDhRWVc2RS4u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42F2069-E643-42D9-BCFA-803BAE314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573" y="1480953"/>
            <a:ext cx="2466976" cy="2452335"/>
          </a:xfrm>
          <a:prstGeom prst="rect">
            <a:avLst/>
          </a:prstGeom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1ECD82D-7785-4FC0-9C48-4764C7E3B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252954"/>
              </p:ext>
            </p:extLst>
          </p:nvPr>
        </p:nvGraphicFramePr>
        <p:xfrm>
          <a:off x="6757987" y="2521683"/>
          <a:ext cx="2466976" cy="1325880"/>
        </p:xfrm>
        <a:graphic>
          <a:graphicData uri="http://schemas.openxmlformats.org/drawingml/2006/table">
            <a:tbl>
              <a:tblPr/>
              <a:tblGrid>
                <a:gridCol w="2466976">
                  <a:extLst>
                    <a:ext uri="{9D8B030D-6E8A-4147-A177-3AD203B41FA5}">
                      <a16:colId xmlns:a16="http://schemas.microsoft.com/office/drawing/2014/main" val="249182799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Victor Kislyuk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9965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Theodoros Karakasidis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38651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Roberto Iglesias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6513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António Pereira Gonçalves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7933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Suraj Gupta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688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Tuncay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Yalcinkaya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52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72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ED6DA"/>
      </a:accent1>
      <a:accent2>
        <a:srgbClr val="3E7090"/>
      </a:accent2>
      <a:accent3>
        <a:srgbClr val="93A5A8"/>
      </a:accent3>
      <a:accent4>
        <a:srgbClr val="627272"/>
      </a:accent4>
      <a:accent5>
        <a:srgbClr val="BDA07D"/>
      </a:accent5>
      <a:accent6>
        <a:srgbClr val="D8CAB7"/>
      </a:accent6>
      <a:hlink>
        <a:srgbClr val="0563C1"/>
      </a:hlink>
      <a:folHlink>
        <a:srgbClr val="954F72"/>
      </a:folHlink>
    </a:clrScheme>
    <a:fontScheme name="Custom 24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astal_Presentation_TM33468121_Win32_JC_SL_v3" id="{5CC0C496-FD8A-42BF-932F-4FD62E56F269}" vid="{DBEAE538-0105-45CF-A6D4-E0B303E187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3EF380A-18DE-4A59-8A28-3F29B5D010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AF5DA8-6387-4138-BF96-B65D39F2FC21}">
  <ds:schemaRefs>
    <ds:schemaRef ds:uri="http://purl.org/dc/terms/"/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sharepoint/v3"/>
    <ds:schemaRef ds:uri="230e9df3-be65-4c73-a93b-d1236ebd677e"/>
    <ds:schemaRef ds:uri="71af3243-3dd4-4a8d-8c0d-dd76da1f02a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1803</Words>
  <Application>Microsoft Office PowerPoint</Application>
  <PresentationFormat>Grand écran</PresentationFormat>
  <Paragraphs>295</Paragraphs>
  <Slides>26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4" baseType="lpstr">
      <vt:lpstr>ArialMT</vt:lpstr>
      <vt:lpstr>Abadi</vt:lpstr>
      <vt:lpstr>Arial</vt:lpstr>
      <vt:lpstr>Arial Black</vt:lpstr>
      <vt:lpstr>Calibri</vt:lpstr>
      <vt:lpstr>Segoe UI</vt:lpstr>
      <vt:lpstr>Segoe UI Light</vt:lpstr>
      <vt:lpstr>Office Theme</vt:lpstr>
      <vt:lpstr>CA22123 EU-MACE:     Core Group monthly update GP3 #5</vt:lpstr>
      <vt:lpstr>Hello!</vt:lpstr>
      <vt:lpstr>Présentation PowerPoint</vt:lpstr>
      <vt:lpstr>MC 1 &amp; WorkShop: summary</vt:lpstr>
      <vt:lpstr>agnda</vt:lpstr>
      <vt:lpstr>Présentation PowerPoint</vt:lpstr>
      <vt:lpstr>Présentation PowerPoint</vt:lpstr>
      <vt:lpstr>Présentation PowerPoint</vt:lpstr>
      <vt:lpstr>MC meeting agenda</vt:lpstr>
      <vt:lpstr>Key messages and inputs needed </vt:lpstr>
      <vt:lpstr>Membership ‘acceptance’ criteria</vt:lpstr>
      <vt:lpstr>Workshop take-home messages</vt:lpstr>
      <vt:lpstr>Following 19 presentations and discussions…</vt:lpstr>
      <vt:lpstr>Periodic Review Report</vt:lpstr>
      <vt:lpstr>Review report received on Feb 20</vt:lpstr>
      <vt:lpstr>Review report received on Feb 20</vt:lpstr>
      <vt:lpstr>Task updates</vt:lpstr>
      <vt:lpstr>Ongoing actions</vt:lpstr>
      <vt:lpstr>Présentation PowerPoint</vt:lpstr>
      <vt:lpstr>Next meetings</vt:lpstr>
      <vt:lpstr>Next MC/CG monthly update meetings</vt:lpstr>
      <vt:lpstr>Michał Stróżyk (NCBJ, Poland) – winner of YRI CG – GP2!</vt:lpstr>
      <vt:lpstr>Additional slides from before</vt:lpstr>
      <vt:lpstr>Présentation PowerPoint</vt:lpstr>
      <vt:lpstr>Présentation PowerPoint</vt:lpstr>
      <vt:lpstr>WG4 (training) – ERASMUS program building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2021-05-30T14:58:49Z</dcterms:created>
  <dcterms:modified xsi:type="dcterms:W3CDTF">2026-03-16T10:23:16Z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