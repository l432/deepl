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 bookmarkIdSeed="2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327" r:id="rId6"/>
    <p:sldId id="257" r:id="rId7"/>
    <p:sldId id="328" r:id="rId8"/>
    <p:sldId id="383" r:id="rId9"/>
    <p:sldId id="417" r:id="rId10"/>
    <p:sldId id="407" r:id="rId11"/>
    <p:sldId id="481" r:id="rId12"/>
    <p:sldId id="478" r:id="rId13"/>
    <p:sldId id="416" r:id="rId14"/>
    <p:sldId id="377" r:id="rId15"/>
    <p:sldId id="354" r:id="rId16"/>
    <p:sldId id="386" r:id="rId17"/>
    <p:sldId id="403" r:id="rId18"/>
    <p:sldId id="418" r:id="rId19"/>
    <p:sldId id="474" r:id="rId20"/>
    <p:sldId id="475" r:id="rId21"/>
    <p:sldId id="266" r:id="rId22"/>
    <p:sldId id="482" r:id="rId23"/>
    <p:sldId id="258" r:id="rId24"/>
    <p:sldId id="265" r:id="rId25"/>
    <p:sldId id="477" r:id="rId26"/>
    <p:sldId id="480" r:id="rId27"/>
    <p:sldId id="408" r:id="rId28"/>
    <p:sldId id="479" r:id="rId29"/>
    <p:sldId id="398" r:id="rId30"/>
    <p:sldId id="382" r:id="rId31"/>
    <p:sldId id="41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F9"/>
    <a:srgbClr val="627272"/>
    <a:srgbClr val="FF6600"/>
    <a:srgbClr val="3E7090"/>
    <a:srgbClr val="685135"/>
    <a:srgbClr val="BDA07D"/>
    <a:srgbClr val="93A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7" autoAdjust="0"/>
    <p:restoredTop sz="94087" autoAdjust="0"/>
  </p:normalViewPr>
  <p:slideViewPr>
    <p:cSldViewPr snapToGrid="0">
      <p:cViewPr varScale="1">
        <p:scale>
          <a:sx n="49" d="100"/>
          <a:sy n="49" d="100"/>
        </p:scale>
        <p:origin x="111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486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1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26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9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24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573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56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025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Ozlem: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</a:t>
            </a:r>
            <a:r>
              <a:rPr lang="fr-FR" dirty="0" err="1"/>
              <a:t>dataflow</a:t>
            </a:r>
            <a:r>
              <a:rPr lang="fr-FR" dirty="0"/>
              <a:t>. For automation </a:t>
            </a:r>
            <a:r>
              <a:rPr lang="fr-FR" dirty="0" err="1"/>
              <a:t>it’s</a:t>
            </a:r>
            <a:r>
              <a:rPr lang="fr-FR" dirty="0"/>
              <a:t> good to have </a:t>
            </a:r>
            <a:r>
              <a:rPr lang="fr-FR" dirty="0" err="1"/>
              <a:t>less</a:t>
            </a:r>
            <a:r>
              <a:rPr lang="fr-FR" baseline="0" dirty="0"/>
              <a:t> </a:t>
            </a:r>
            <a:r>
              <a:rPr lang="fr-FR" baseline="0" dirty="0" err="1"/>
              <a:t>advanced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2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1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84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6929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03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92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1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948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42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88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769" y="2683895"/>
            <a:ext cx="5278514" cy="28622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36" y="5568698"/>
            <a:ext cx="5278514" cy="6181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3875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1580" y="942423"/>
            <a:ext cx="4694420" cy="1124392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0587" y="2329867"/>
            <a:ext cx="4058872" cy="315653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cap="none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963D0-E42B-4D8E-BA42-3528D3C094AD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83361" y="0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3361" y="3599895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7600" y="2921000"/>
            <a:ext cx="4749800" cy="52705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492125"/>
            <a:ext cx="4114800" cy="537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7600" y="342900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B838-16B4-48A5-8EB9-7A60F933B583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402" y="598401"/>
            <a:ext cx="9645056" cy="56611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978" y="3443968"/>
            <a:ext cx="6022021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anchor="ctr" anchorCtr="0"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9979" y="4326467"/>
            <a:ext cx="6022021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anchor="ctr"/>
          <a:lstStyle>
            <a:lvl1pPr marL="0" indent="0" algn="l">
              <a:buNone/>
              <a:defRPr sz="2000" i="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ly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498928"/>
            <a:ext cx="9972675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4B24-8A13-4317-9578-881CA09087F0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4166"/>
            <a:ext cx="10515600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5D00-ECBF-4455-B7CD-40C24609FCD1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0"/>
            <a:ext cx="12192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anchor="b"/>
          <a:lstStyle>
            <a:lvl1pPr>
              <a:defRPr lang="en-US" sz="3200" cap="all" spc="200" baseline="0" dirty="0"/>
            </a:lvl1pPr>
          </a:lstStyle>
          <a:p>
            <a:pPr marL="0" lvl="0"/>
            <a:r>
              <a:rPr lang="en-US" dirty="0"/>
              <a:t>Click to add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7"/>
            <a:ext cx="12192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anchor="t"/>
          <a:lstStyle>
            <a:lvl1pPr marL="0" indent="0">
              <a:buNone/>
              <a:defRPr lang="en-US" sz="2000" b="0" i="0" spc="20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 dirty="0"/>
              <a:t>Click to add name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49D4E01-BF7C-412C-B45C-B59751968386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846" y="1487527"/>
            <a:ext cx="2581554" cy="1325563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630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3628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3628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31774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1772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1772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7" name="Picture Placeholder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93630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93628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3628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60" name="Picture Placeholder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31774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31772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1772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A94E-FAD2-45FC-8424-FD599FF01D60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217" y="1207697"/>
            <a:ext cx="2970156" cy="1622912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80553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1733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1733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891925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63105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63105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00329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447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7447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11466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584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8584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780553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1733" y="476739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733" y="5242840"/>
            <a:ext cx="2069691" cy="69719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91925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63105" y="4768651"/>
            <a:ext cx="2069691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3105" y="5243800"/>
            <a:ext cx="2069691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329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447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447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11466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8584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8584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EB9-54EE-4A7A-95A2-759CA0B1FB39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Launch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7872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564" y="1585733"/>
            <a:ext cx="2065188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2832" y="1585733"/>
            <a:ext cx="2065188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3405" y="1585733"/>
            <a:ext cx="2065188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3980" y="1585733"/>
            <a:ext cx="2065188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1052" y="1585733"/>
            <a:ext cx="2065188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843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843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52111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2111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2684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2684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3259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3259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30331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30331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2CEF-B361-4483-B411-6E22C24B45FD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592874" y="3684898"/>
            <a:ext cx="9006253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5435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8750" y="3520775"/>
            <a:ext cx="328246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80314" y="3520775"/>
            <a:ext cx="328246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31878" y="3520775"/>
            <a:ext cx="328246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3442" y="3520775"/>
            <a:ext cx="328246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35004" y="3520775"/>
            <a:ext cx="328246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99127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1627860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135346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0216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70216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3340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3340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736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6736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1784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1784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4471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4756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97D59-8B66-49D2-A50D-BCCC1C721CE9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9956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7759" y="2063838"/>
            <a:ext cx="4626764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7551" y="2486203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1708" y="2063837"/>
            <a:ext cx="462676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2188" y="2486202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2194-CF97-4393-AE9A-7E8204FD8AA9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431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14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93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79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58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874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5666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A0CB-8694-4207-AC5D-310A31E1035E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800" y="3429000"/>
            <a:ext cx="3097320" cy="978408"/>
          </a:xfrm>
          <a:prstGeom prst="rect">
            <a:avLst/>
          </a:prstGeom>
        </p:spPr>
        <p:txBody>
          <a:bodyPr anchor="ctr"/>
          <a:lstStyle>
            <a:lvl1pPr algn="l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051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00" y="285466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12192000" cy="1069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07B85C1-EB46-48F6-A70A-36C91D298E48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237" y="1096375"/>
            <a:ext cx="4045527" cy="159079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743201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354" y="2910720"/>
            <a:ext cx="4011410" cy="206126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48800" y="951274"/>
            <a:ext cx="2743200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1AD1E-7865-4945-A870-95529B81B595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917FC-4AE6-19E7-917F-F5099A71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ECAAAA-EF9E-C6CD-90C5-6338690F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8F83F-6B42-4DB2-5833-769B1E69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8B2C-B89B-413A-A464-E706FD5D6BC7}" type="datetime1">
              <a:rPr lang="fr-FR" smtClean="0"/>
              <a:t>18/12/2025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993E4A-E23E-8966-C816-20BAD4A7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2CED7E-B4DA-424C-1089-805F59F8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6007-7EE1-4957-8A26-AF9F7BF1745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5105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179D7-C43B-3863-E757-E207E0D66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A53F8A-0CBC-C564-3440-4ED343ABB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6853D6-A7EE-2007-29D8-4D48FE65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28F63-8754-5744-A1C5-584E1D09CF76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AA9D5-42FA-DFBF-5979-351C023A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2F510D-56A3-7535-2B8D-8454A9EF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4AB0A-486A-694F-9D84-278C46308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52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AC406-F2A8-409A-A664-807EF94B02D4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  <p:sldLayoutId id="2147483665" r:id="rId16"/>
    <p:sldLayoutId id="2147483666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Pages/ResponsePage.aspx?id=9xZkbOgxIEWCTMuTP4OQuXsjyL-l515MkDTrXz9gtT5UNUhMOTRaUzFGTFRYOE81MFhGRUg4N1pENC4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-and-innovation.ec.europa.eu/news/all-research-and-innovation-news/commission-seeks-feedback-future-advanced-materials-act-2025-10-21_e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64C50-A740-468A-8AB6-F949358D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20" y="947737"/>
            <a:ext cx="5278514" cy="3219065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sz="3600" b="1" dirty="0"/>
              <a:t>CA22123 EU-MACE: </a:t>
            </a:r>
            <a:br>
              <a:rPr lang="en-US" sz="3600" b="1" dirty="0"/>
            </a:br>
            <a:br>
              <a:rPr lang="en-US" sz="1800" b="1" dirty="0"/>
            </a:br>
            <a:br>
              <a:rPr lang="en-US" sz="3200" b="1" dirty="0"/>
            </a:br>
            <a:br>
              <a:rPr lang="en-US" sz="1800" b="1" dirty="0"/>
            </a:br>
            <a:r>
              <a:rPr lang="en-US" sz="3200" b="1" dirty="0"/>
              <a:t>Core Group monthly update GP3 #2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94A06-38B8-4C8F-ABF0-FB763704D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636" y="5341811"/>
            <a:ext cx="5857404" cy="1136902"/>
          </a:xfrm>
        </p:spPr>
        <p:txBody>
          <a:bodyPr/>
          <a:lstStyle/>
          <a:p>
            <a:r>
              <a:rPr lang="fr-FR" b="1" dirty="0"/>
              <a:t>Virtual</a:t>
            </a:r>
          </a:p>
          <a:p>
            <a:r>
              <a:rPr lang="fr-FR" b="1" dirty="0"/>
              <a:t>10/12/2025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6075" y="0"/>
            <a:ext cx="28956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98" y="1898810"/>
            <a:ext cx="3200677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75169" y="3443967"/>
            <a:ext cx="7128000" cy="1224000"/>
          </a:xfrm>
        </p:spPr>
        <p:txBody>
          <a:bodyPr/>
          <a:lstStyle/>
          <a:p>
            <a:r>
              <a:rPr lang="fr-FR" b="1" dirty="0"/>
              <a:t>meeting Agenda</a:t>
            </a:r>
            <a:endParaRPr lang="en-US" b="1" dirty="0"/>
          </a:p>
        </p:txBody>
      </p:sp>
      <p:sp>
        <p:nvSpPr>
          <p:cNvPr id="2" name="ZoneTexte 1"/>
          <p:cNvSpPr txBox="1"/>
          <p:nvPr/>
        </p:nvSpPr>
        <p:spPr>
          <a:xfrm>
            <a:off x="1813388" y="1998323"/>
            <a:ext cx="79726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Today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’ meeting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is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recorded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!</a:t>
            </a:r>
            <a:endParaRPr lang="en-US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5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FDCC-F0BC-4DC5-940A-FB50D8C3BDC8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10194" y="816416"/>
            <a:ext cx="1017161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   Key updates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GP3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Work &amp; BUDGET plan 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Important </a:t>
            </a:r>
            <a:r>
              <a:rPr lang="fr-FR" dirty="0" err="1"/>
              <a:t>events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Call for </a:t>
            </a:r>
            <a:r>
              <a:rPr lang="fr-FR" dirty="0" err="1"/>
              <a:t>priority</a:t>
            </a:r>
            <a:r>
              <a:rPr lang="fr-FR" dirty="0"/>
              <a:t> </a:t>
            </a:r>
            <a:r>
              <a:rPr lang="fr-FR" dirty="0" err="1"/>
              <a:t>conferences</a:t>
            </a:r>
            <a:r>
              <a:rPr lang="fr-FR" dirty="0"/>
              <a:t> for GP3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Young EU-MACE/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ERASMUS+ discussion meeting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EU-Consultation 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Springer-Nature journal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edition</a:t>
            </a:r>
            <a:r>
              <a:rPr lang="fr-FR" dirty="0"/>
              <a:t> – or not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AOB</a:t>
            </a:r>
          </a:p>
          <a:p>
            <a:pPr marL="800100" lvl="1" indent="-3429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 err="1"/>
              <a:t>latest</a:t>
            </a:r>
            <a:r>
              <a:rPr lang="fr-FR" b="1" dirty="0"/>
              <a:t> news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59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A10-5C02-4AE8-979C-1B7E228571FB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1471910"/>
            <a:ext cx="10782728" cy="4628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Sustainable materials research project building (Task: Sustainability, leader: G. Campana)  - </a:t>
            </a:r>
            <a:r>
              <a:rPr lang="en-US" b="1" u="sng" dirty="0" err="1"/>
              <a:t>followup</a:t>
            </a:r>
            <a:endParaRPr lang="en-US" b="1" u="sng" dirty="0"/>
          </a:p>
          <a:p>
            <a:endParaRPr lang="en-US" sz="16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COST Action EU-MACE together with EERA (European Energy Research Alliance) joint </a:t>
            </a:r>
            <a:r>
              <a:rPr lang="en-US" sz="1400" dirty="0" err="1"/>
              <a:t>programmes</a:t>
            </a:r>
            <a:r>
              <a:rPr lang="en-US" sz="1400" dirty="0"/>
              <a:t>; AMPEA and E3S conduct project (proposal) building action within HEU 2026-2027 WP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Research topics on: </a:t>
            </a:r>
            <a:r>
              <a:rPr lang="en-US" sz="1400" u="sng" dirty="0"/>
              <a:t>Energy materials and processes or Energy technologies with mandatory inclusion of sustainability assurance (including safety, economic, environmental and social impact</a:t>
            </a:r>
            <a:r>
              <a:rPr lang="en-US" sz="1400" dirty="0"/>
              <a:t>).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Over 50 expressions of interests received – of which 5 coordinator candidates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ChainMap</a:t>
            </a:r>
            <a:r>
              <a:rPr lang="en-US" sz="1400" dirty="0"/>
              <a:t> ‘knowledge graph’ produced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Joint brokerage event (Hybrid) organized on October 20</a:t>
            </a:r>
            <a:r>
              <a:rPr lang="en-US" sz="1400" baseline="30000" dirty="0"/>
              <a:t>th</a:t>
            </a:r>
            <a:endParaRPr lang="en-US" sz="1400" dirty="0"/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70 ppl attended (5 in-person attendees of EU-MACE/EERA members)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Coordinator presented their project ideas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Discussion and exchanges with interested participants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Follow up meeting with coordinator candidates: November 26</a:t>
            </a:r>
            <a:r>
              <a:rPr lang="en-US" sz="1400" baseline="30000" dirty="0">
                <a:solidFill>
                  <a:srgbClr val="FF0000"/>
                </a:solidFill>
              </a:rPr>
              <a:t>th</a:t>
            </a:r>
            <a:r>
              <a:rPr lang="en-US" sz="1400" dirty="0">
                <a:solidFill>
                  <a:srgbClr val="FF0000"/>
                </a:solidFill>
              </a:rPr>
              <a:t> with the coordinator candidates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At least 3 coordinator candidates have been in ‘direct’ discussion with potential partners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Sustainable materials &amp; device design workshop – planned for Feb 23-24-25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2 full days of in-person workshop (20-25 invitees from EU-MACE)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Combined with ½ day MC meeting (online)</a:t>
            </a:r>
            <a:endParaRPr lang="en-US" sz="1600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Most recent events</a:t>
            </a:r>
          </a:p>
        </p:txBody>
      </p:sp>
    </p:spTree>
    <p:extLst>
      <p:ext uri="{BB962C8B-B14F-4D97-AF65-F5344CB8AC3E}">
        <p14:creationId xmlns:p14="http://schemas.microsoft.com/office/powerpoint/2010/main" val="8521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CF246-5C8D-49D8-9617-00E4212B7712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1376093"/>
            <a:ext cx="10782728" cy="4663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Legacy2MAP: MCSA DN proposal (Task: </a:t>
            </a:r>
            <a:r>
              <a:rPr lang="en-US" b="1" u="sng" dirty="0" err="1"/>
              <a:t>Legay</a:t>
            </a:r>
            <a:r>
              <a:rPr lang="en-US" b="1" u="sng" dirty="0"/>
              <a:t> Labs, leaders – </a:t>
            </a:r>
            <a:r>
              <a:rPr lang="en-US" b="1" u="sng" dirty="0" err="1"/>
              <a:t>Ozlem</a:t>
            </a:r>
            <a:r>
              <a:rPr lang="en-US" b="1" u="sng" dirty="0"/>
              <a:t>, Sandra) </a:t>
            </a:r>
            <a:r>
              <a:rPr lang="en-US" b="1" u="sng" dirty="0">
                <a:solidFill>
                  <a:srgbClr val="FF0000"/>
                </a:solidFill>
              </a:rPr>
              <a:t>SUBMITTED on Nov 25!!</a:t>
            </a:r>
          </a:p>
          <a:p>
            <a:endParaRPr lang="en-US" sz="16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i="1" dirty="0"/>
              <a:t>Human-machine collaboration for transforming existing Legacy labs into automated, autonomous and inter-operable Materials Acceleration Platforms empowering energy materials research ecosystem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3 WPs directly from Legacy Labs collaborations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 entropy alloys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MOFs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Nanofluids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1 cross-cutting WP on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Cloud-connected workflow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DeepSearch</a:t>
            </a:r>
            <a:r>
              <a:rPr lang="en-US" sz="1400" dirty="0"/>
              <a:t> TDM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Sustainability (sustainable prototype building)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Social Science (human-machine interaction and impact on scientific research practices)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Preparing MCSA doctoral network proposal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Beneficiaries: IST (PT), </a:t>
            </a:r>
            <a:r>
              <a:rPr lang="en-US" sz="1400" dirty="0"/>
              <a:t>BAM (DE), AIT (AT), THR (DE), UTH (GR), </a:t>
            </a:r>
            <a:r>
              <a:rPr lang="en-US" sz="1400" dirty="0" err="1"/>
              <a:t>UStrath</a:t>
            </a:r>
            <a:r>
              <a:rPr lang="en-US" sz="1400" dirty="0"/>
              <a:t> (UK), USFD (UK), CEA (FR), UNL (PT), </a:t>
            </a:r>
            <a:r>
              <a:rPr lang="en-US" sz="1400" u="sng" dirty="0"/>
              <a:t>GEM (IT), 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Associated: </a:t>
            </a:r>
            <a:r>
              <a:rPr lang="en-US" sz="1400" dirty="0"/>
              <a:t>VTT (FL), NCBJ (PL), </a:t>
            </a:r>
            <a:r>
              <a:rPr lang="en-US" sz="1400" dirty="0" err="1"/>
              <a:t>UniTO</a:t>
            </a:r>
            <a:r>
              <a:rPr lang="en-US" sz="1400" dirty="0"/>
              <a:t> (IT) </a:t>
            </a:r>
            <a:r>
              <a:rPr lang="en-US" sz="1400" u="sng" dirty="0" err="1"/>
              <a:t>Aixelo</a:t>
            </a:r>
            <a:r>
              <a:rPr lang="en-US" sz="1400" u="sng" dirty="0"/>
              <a:t> (US), </a:t>
            </a:r>
            <a:r>
              <a:rPr lang="en-US" sz="1400" u="sng" dirty="0" err="1"/>
              <a:t>VimiLab</a:t>
            </a:r>
            <a:r>
              <a:rPr lang="en-US" sz="1400" u="sng" dirty="0"/>
              <a:t> (DE)</a:t>
            </a:r>
            <a:endParaRPr lang="en-US" sz="1400" b="1" u="sng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Most recent events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D0AC97-DD4D-4C13-A39B-3357003BB84E}"/>
              </a:ext>
            </a:extLst>
          </p:cNvPr>
          <p:cNvSpPr/>
          <p:nvPr/>
        </p:nvSpPr>
        <p:spPr>
          <a:xfrm>
            <a:off x="971071" y="5784033"/>
            <a:ext cx="1024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Let’s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keep</a:t>
            </a:r>
            <a:r>
              <a:rPr lang="fr-FR" sz="2400" b="1" dirty="0">
                <a:solidFill>
                  <a:srgbClr val="FF0000"/>
                </a:solidFill>
              </a:rPr>
              <a:t> the </a:t>
            </a:r>
            <a:r>
              <a:rPr lang="fr-FR" sz="2400" b="1" dirty="0" err="1">
                <a:solidFill>
                  <a:srgbClr val="FF0000"/>
                </a:solidFill>
              </a:rPr>
              <a:t>momentum</a:t>
            </a:r>
            <a:r>
              <a:rPr lang="fr-FR" sz="2400" b="1" dirty="0">
                <a:solidFill>
                  <a:srgbClr val="FF0000"/>
                </a:solidFill>
              </a:rPr>
              <a:t> and </a:t>
            </a:r>
            <a:r>
              <a:rPr lang="fr-FR" sz="2400" b="1" dirty="0" err="1">
                <a:solidFill>
                  <a:srgbClr val="FF0000"/>
                </a:solidFill>
              </a:rPr>
              <a:t>create</a:t>
            </a:r>
            <a:r>
              <a:rPr lang="fr-FR" sz="2400" b="1" dirty="0">
                <a:solidFill>
                  <a:srgbClr val="FF0000"/>
                </a:solidFill>
              </a:rPr>
              <a:t> MORE </a:t>
            </a:r>
            <a:r>
              <a:rPr lang="fr-FR" sz="2400" b="1" dirty="0" err="1">
                <a:solidFill>
                  <a:srgbClr val="FF0000"/>
                </a:solidFill>
              </a:rPr>
              <a:t>Legacy-Lab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projects</a:t>
            </a:r>
            <a:r>
              <a:rPr lang="fr-FR" sz="2400" b="1" dirty="0">
                <a:solidFill>
                  <a:srgbClr val="FF0000"/>
                </a:solidFill>
              </a:rPr>
              <a:t>/partnerships</a:t>
            </a:r>
          </a:p>
        </p:txBody>
      </p:sp>
    </p:spTree>
    <p:extLst>
      <p:ext uri="{BB962C8B-B14F-4D97-AF65-F5344CB8AC3E}">
        <p14:creationId xmlns:p14="http://schemas.microsoft.com/office/powerpoint/2010/main" val="418846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C45C8-519C-4F52-B513-207291255590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92865" y="1559931"/>
            <a:ext cx="10782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Reporting elements: </a:t>
            </a: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PR2 report 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1216" y="2203814"/>
            <a:ext cx="672677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Report </a:t>
            </a:r>
            <a:r>
              <a:rPr lang="fr-FR" sz="2400" b="1" dirty="0" err="1"/>
              <a:t>filled</a:t>
            </a:r>
            <a:r>
              <a:rPr lang="fr-FR" sz="2400" b="1" dirty="0"/>
              <a:t> in by AC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 err="1"/>
              <a:t>Approved</a:t>
            </a:r>
            <a:r>
              <a:rPr lang="fr-FR" sz="2400" b="1" dirty="0"/>
              <a:t> by MC </a:t>
            </a:r>
            <a:r>
              <a:rPr lang="fr-FR" sz="2400" b="1" dirty="0" err="1"/>
              <a:t>members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/>
              <a:t>File </a:t>
            </a:r>
            <a:r>
              <a:rPr lang="fr-FR" sz="2400" b="1" dirty="0" err="1"/>
              <a:t>uploaded</a:t>
            </a:r>
            <a:r>
              <a:rPr lang="fr-FR" sz="2400" b="1" dirty="0"/>
              <a:t> on « </a:t>
            </a:r>
            <a:r>
              <a:rPr lang="fr-FR" sz="2400" b="1" dirty="0" err="1"/>
              <a:t>filesender</a:t>
            </a:r>
            <a:r>
              <a:rPr lang="fr-FR" sz="2400" b="1" dirty="0"/>
              <a:t> » </a:t>
            </a:r>
            <a:r>
              <a:rPr lang="fr-FR" sz="2400" b="1" dirty="0" err="1"/>
              <a:t>link</a:t>
            </a:r>
            <a:r>
              <a:rPr lang="fr-FR" sz="2400" b="1" dirty="0"/>
              <a:t> </a:t>
            </a:r>
            <a:r>
              <a:rPr lang="fr-FR" sz="2400" b="1" dirty="0" err="1"/>
              <a:t>shared</a:t>
            </a:r>
            <a:r>
              <a:rPr lang="fr-FR" sz="2400" b="1" dirty="0"/>
              <a:t> on Slack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/>
          </a:p>
          <a:p>
            <a:r>
              <a:rPr lang="fr-FR" sz="2400" b="1" dirty="0" err="1">
                <a:solidFill>
                  <a:srgbClr val="FF0000"/>
                </a:solidFill>
              </a:rPr>
              <a:t>Submitted</a:t>
            </a:r>
            <a:r>
              <a:rPr lang="fr-FR" sz="2400" b="1" dirty="0">
                <a:solidFill>
                  <a:srgbClr val="FF0000"/>
                </a:solidFill>
              </a:rPr>
              <a:t> in </a:t>
            </a:r>
            <a:r>
              <a:rPr lang="fr-FR" sz="2400" b="1" dirty="0" err="1">
                <a:solidFill>
                  <a:srgbClr val="FF0000"/>
                </a:solidFill>
              </a:rPr>
              <a:t>mid-November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64DD42-2A42-42CA-938E-7AB354A2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5" y="2061694"/>
            <a:ext cx="2743200" cy="376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C45C8-519C-4F52-B513-207291255590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TDM-update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D2A27A-2BCF-4295-BA52-1319CA12DC3A}"/>
              </a:ext>
            </a:extLst>
          </p:cNvPr>
          <p:cNvSpPr txBox="1"/>
          <p:nvPr/>
        </p:nvSpPr>
        <p:spPr>
          <a:xfrm>
            <a:off x="934522" y="1552575"/>
            <a:ext cx="93522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Update </a:t>
            </a:r>
            <a:r>
              <a:rPr lang="fr-FR" dirty="0" err="1"/>
              <a:t>given</a:t>
            </a:r>
            <a:r>
              <a:rPr lang="fr-FR" dirty="0"/>
              <a:t> by K. Malek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Whitepaper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advancing</a:t>
            </a:r>
            <a:r>
              <a:rPr lang="fr-FR" dirty="0"/>
              <a:t>, but </a:t>
            </a:r>
            <a:r>
              <a:rPr lang="fr-FR" dirty="0" err="1"/>
              <a:t>experienced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delay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Draft </a:t>
            </a:r>
            <a:r>
              <a:rPr lang="fr-FR" dirty="0" err="1"/>
              <a:t>written</a:t>
            </a:r>
            <a:r>
              <a:rPr lang="fr-FR" dirty="0"/>
              <a:t> by Th. Karakasidis (MC, GR) and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being</a:t>
            </a:r>
            <a:r>
              <a:rPr lang="fr-FR" dirty="0"/>
              <a:t> </a:t>
            </a:r>
            <a:r>
              <a:rPr lang="fr-FR" dirty="0" err="1"/>
              <a:t>edited</a:t>
            </a:r>
            <a:r>
              <a:rPr lang="fr-FR" dirty="0"/>
              <a:t> by K. Malek (WG3 leader, 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Will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finalized</a:t>
            </a:r>
            <a:r>
              <a:rPr lang="fr-FR" dirty="0"/>
              <a:t> in </a:t>
            </a:r>
            <a:r>
              <a:rPr lang="fr-FR" dirty="0" err="1"/>
              <a:t>soon</a:t>
            </a:r>
            <a:r>
              <a:rPr lang="fr-FR" dirty="0"/>
              <a:t> and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presented</a:t>
            </a:r>
            <a:r>
              <a:rPr lang="fr-FR" dirty="0"/>
              <a:t> in </a:t>
            </a:r>
            <a:r>
              <a:rPr lang="fr-FR" dirty="0" err="1"/>
              <a:t>January</a:t>
            </a:r>
            <a:r>
              <a:rPr lang="fr-FR" dirty="0"/>
              <a:t>/</a:t>
            </a:r>
            <a:r>
              <a:rPr lang="fr-FR" dirty="0" err="1"/>
              <a:t>Feb</a:t>
            </a:r>
            <a:r>
              <a:rPr lang="fr-FR" dirty="0"/>
              <a:t>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45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11FA8-50BE-4127-B765-CB748DCC94F5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52425" y="1410432"/>
            <a:ext cx="11563349" cy="2285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GHI = European Energy Research Alliance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EERA: EU-MACE member from the start, WG5 - Dissemination &amp; Comm’s leader (Ms. Gloria </a:t>
            </a:r>
            <a:r>
              <a:rPr lang="en-US" sz="2000" b="1" dirty="0" err="1"/>
              <a:t>Botton</a:t>
            </a:r>
            <a:r>
              <a:rPr lang="en-US" sz="2000" b="1" dirty="0"/>
              <a:t>)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GH SR = Dr. Ivan </a:t>
            </a:r>
            <a:r>
              <a:rPr lang="en-US" sz="2000" b="1" dirty="0" err="1"/>
              <a:t>Matejak</a:t>
            </a:r>
            <a:r>
              <a:rPr lang="en-US" sz="2000" b="1" dirty="0"/>
              <a:t> (MC member, Belgium) - </a:t>
            </a:r>
            <a:r>
              <a:rPr lang="en-US" sz="2000" b="1" i="1" dirty="0"/>
              <a:t>Director SET Plan &amp; Strategic Programming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GH M = Ms. Dorotea Koren 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Scientific communication’s coordinator = Ms. Dorotea Koren replacing Ms. Gloria </a:t>
            </a:r>
            <a:r>
              <a:rPr lang="en-US" sz="2000" b="1" dirty="0" err="1"/>
              <a:t>Botton</a:t>
            </a:r>
            <a:endParaRPr lang="en-US" sz="2000" b="1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New Grant Holder Institute			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AB9A48-6CB3-467A-B689-02FCB7E1C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85" y="4042028"/>
            <a:ext cx="1703842" cy="16429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F641175-E31C-4559-9BDF-9486AF02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41" y="4044810"/>
            <a:ext cx="1547979" cy="16203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9DB25EB-FA1D-45DB-97F0-EF1CB518E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410" y="4036385"/>
            <a:ext cx="1767993" cy="160795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2101803-E0FE-4962-961E-7028EE2DE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2993" y="513870"/>
            <a:ext cx="1425063" cy="99830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78542447-63E8-40EF-82E9-AD97663DA13C}"/>
              </a:ext>
            </a:extLst>
          </p:cNvPr>
          <p:cNvSpPr txBox="1"/>
          <p:nvPr/>
        </p:nvSpPr>
        <p:spPr>
          <a:xfrm>
            <a:off x="2731903" y="568501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Ivan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A2BD99-387E-4976-92E2-B8AC888B2272}"/>
              </a:ext>
            </a:extLst>
          </p:cNvPr>
          <p:cNvSpPr txBox="1"/>
          <p:nvPr/>
        </p:nvSpPr>
        <p:spPr>
          <a:xfrm>
            <a:off x="5232642" y="568501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Gloria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0A2674E-C825-4FB2-AB91-3E796A66D651}"/>
              </a:ext>
            </a:extLst>
          </p:cNvPr>
          <p:cNvSpPr txBox="1"/>
          <p:nvPr/>
        </p:nvSpPr>
        <p:spPr>
          <a:xfrm>
            <a:off x="7638667" y="5685018"/>
            <a:ext cx="9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Dorotea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1AC434D-0C84-405B-AD7B-A3A083C54D64}"/>
              </a:ext>
            </a:extLst>
          </p:cNvPr>
          <p:cNvSpPr/>
          <p:nvPr/>
        </p:nvSpPr>
        <p:spPr>
          <a:xfrm>
            <a:off x="6477075" y="4680960"/>
            <a:ext cx="756865" cy="365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229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GP3 plans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80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GP3 budget plan-under MC approval phase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B89C-8A14-42D9-A814-E004E682E6E2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413253C-71FB-4F7A-B358-43B002F5E0F0}"/>
              </a:ext>
            </a:extLst>
          </p:cNvPr>
          <p:cNvSpPr txBox="1"/>
          <p:nvPr/>
        </p:nvSpPr>
        <p:spPr>
          <a:xfrm>
            <a:off x="8039686" y="1272361"/>
            <a:ext cx="379630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1 MC/WS </a:t>
            </a:r>
            <a:r>
              <a:rPr lang="fr-FR" sz="1200" dirty="0" err="1"/>
              <a:t>sustainability</a:t>
            </a:r>
            <a:r>
              <a:rPr lang="fr-FR" sz="1200" dirty="0"/>
              <a:t> in </a:t>
            </a:r>
            <a:r>
              <a:rPr lang="fr-FR" sz="1200" dirty="0" err="1"/>
              <a:t>Feb</a:t>
            </a:r>
            <a:r>
              <a:rPr lang="fr-FR" sz="1200" dirty="0"/>
              <a:t>/March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1 WG/</a:t>
            </a:r>
            <a:r>
              <a:rPr lang="fr-FR" sz="1200" dirty="0" err="1"/>
              <a:t>Task</a:t>
            </a:r>
            <a:r>
              <a:rPr lang="fr-FR" sz="1200" dirty="0"/>
              <a:t> meeting (ERASMUS) Sept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D8788EA-3F1F-4139-BAD3-919CFA74AB95}"/>
              </a:ext>
            </a:extLst>
          </p:cNvPr>
          <p:cNvSpPr txBox="1"/>
          <p:nvPr/>
        </p:nvSpPr>
        <p:spPr>
          <a:xfrm>
            <a:off x="8534127" y="2977402"/>
            <a:ext cx="26592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20 total </a:t>
            </a:r>
            <a:r>
              <a:rPr lang="fr-FR" sz="1200" dirty="0" err="1"/>
              <a:t>CG’s</a:t>
            </a:r>
            <a:endParaRPr lang="fr-FR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CD03910-1ACA-4B72-B6C3-3B3F819A820A}"/>
              </a:ext>
            </a:extLst>
          </p:cNvPr>
          <p:cNvSpPr txBox="1"/>
          <p:nvPr/>
        </p:nvSpPr>
        <p:spPr>
          <a:xfrm>
            <a:off x="8193167" y="4332211"/>
            <a:ext cx="2381892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Bank charges, shipping </a:t>
            </a:r>
            <a:r>
              <a:rPr lang="fr-FR" sz="1200" dirty="0" err="1"/>
              <a:t>costs</a:t>
            </a:r>
            <a:endParaRPr lang="fr-FR" sz="12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A350236-3CF0-4FD9-81BC-42FC34FC393A}"/>
              </a:ext>
            </a:extLst>
          </p:cNvPr>
          <p:cNvSpPr txBox="1"/>
          <p:nvPr/>
        </p:nvSpPr>
        <p:spPr>
          <a:xfrm>
            <a:off x="8534127" y="3398856"/>
            <a:ext cx="295039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Web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 err="1"/>
              <a:t>Finally</a:t>
            </a:r>
            <a:r>
              <a:rPr lang="fr-FR" sz="1200" dirty="0"/>
              <a:t> a </a:t>
            </a:r>
            <a:r>
              <a:rPr lang="fr-FR" sz="1200" dirty="0" err="1"/>
              <a:t>promotional</a:t>
            </a:r>
            <a:r>
              <a:rPr lang="fr-FR" sz="1200" dirty="0"/>
              <a:t> </a:t>
            </a:r>
            <a:r>
              <a:rPr lang="fr-FR" sz="1200" dirty="0" err="1"/>
              <a:t>video</a:t>
            </a:r>
            <a:r>
              <a:rPr lang="fr-FR" sz="12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2 x Publication </a:t>
            </a:r>
            <a:r>
              <a:rPr lang="fr-FR" sz="1200" dirty="0" err="1"/>
              <a:t>fee</a:t>
            </a:r>
            <a:endParaRPr lang="fr-FR" sz="12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93AD0CE-AC68-473D-8444-D2C9D0ED26F4}"/>
              </a:ext>
            </a:extLst>
          </p:cNvPr>
          <p:cNvSpPr txBox="1"/>
          <p:nvPr/>
        </p:nvSpPr>
        <p:spPr>
          <a:xfrm>
            <a:off x="8134877" y="2568338"/>
            <a:ext cx="26592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/>
              <a:t>STSM = 5!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088B8FB-4B4D-4C54-8323-DE6B504D94E7}"/>
              </a:ext>
            </a:extLst>
          </p:cNvPr>
          <p:cNvSpPr txBox="1"/>
          <p:nvPr/>
        </p:nvSpPr>
        <p:spPr>
          <a:xfrm>
            <a:off x="7890708" y="2097072"/>
            <a:ext cx="3244017" cy="285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200" dirty="0" err="1"/>
              <a:t>AcceLMAPs</a:t>
            </a:r>
            <a:r>
              <a:rPr lang="fr-FR" sz="1200" dirty="0"/>
              <a:t>, May 2026 in Portugal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F32D6611-CC48-48D3-99F5-6E0CF3935060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538750" y="1503194"/>
            <a:ext cx="500936" cy="608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C02B9D76-85D9-43E3-9BAA-881003D4AF8D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7514130" y="2239899"/>
            <a:ext cx="376578" cy="189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F025C823-D039-4BA0-8967-C998A6E7046A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7692231" y="3738916"/>
            <a:ext cx="500936" cy="731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1FE7B80-9461-42BE-B903-EB451C30F859}"/>
              </a:ext>
            </a:extLst>
          </p:cNvPr>
          <p:cNvCxnSpPr>
            <a:cxnSpLocks/>
          </p:cNvCxnSpPr>
          <p:nvPr/>
        </p:nvCxnSpPr>
        <p:spPr>
          <a:xfrm flipH="1" flipV="1">
            <a:off x="7669385" y="3439475"/>
            <a:ext cx="864742" cy="261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588A7D1-6782-4D13-A2CB-4E7A6A9E9394}"/>
              </a:ext>
            </a:extLst>
          </p:cNvPr>
          <p:cNvCxnSpPr>
            <a:stCxn id="25" idx="1"/>
          </p:cNvCxnSpPr>
          <p:nvPr/>
        </p:nvCxnSpPr>
        <p:spPr>
          <a:xfrm flipH="1">
            <a:off x="7669385" y="3115902"/>
            <a:ext cx="864742" cy="36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B143977-1F03-474A-BB20-A46BDCF8A3B5}"/>
              </a:ext>
            </a:extLst>
          </p:cNvPr>
          <p:cNvCxnSpPr>
            <a:stCxn id="28" idx="1"/>
          </p:cNvCxnSpPr>
          <p:nvPr/>
        </p:nvCxnSpPr>
        <p:spPr>
          <a:xfrm flipH="1">
            <a:off x="7692231" y="2706838"/>
            <a:ext cx="442646" cy="55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F41627A-079C-42CD-B07D-FA41CF649C4B}"/>
              </a:ext>
            </a:extLst>
          </p:cNvPr>
          <p:cNvSpPr/>
          <p:nvPr/>
        </p:nvSpPr>
        <p:spPr>
          <a:xfrm>
            <a:off x="1372296" y="5299073"/>
            <a:ext cx="94218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/>
              <a:t>MCs</a:t>
            </a:r>
            <a:r>
              <a:rPr lang="fr-FR" sz="2000" b="1" dirty="0"/>
              <a:t> </a:t>
            </a:r>
            <a:r>
              <a:rPr lang="fr-FR" sz="2000" b="1" dirty="0" err="1"/>
              <a:t>approval</a:t>
            </a:r>
            <a:r>
              <a:rPr lang="fr-FR" sz="2000" b="1" dirty="0"/>
              <a:t> </a:t>
            </a:r>
            <a:r>
              <a:rPr lang="fr-FR" sz="2000" b="1" dirty="0" err="1"/>
              <a:t>completed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sz="2000" b="1" dirty="0">
                <a:sym typeface="Wingdings" panose="05000000000000000000" pitchFamily="2" charset="2"/>
              </a:rPr>
              <a:t>GA </a:t>
            </a:r>
            <a:r>
              <a:rPr lang="fr-FR" sz="2000" b="1" dirty="0" err="1">
                <a:sym typeface="Wingdings" panose="05000000000000000000" pitchFamily="2" charset="2"/>
              </a:rPr>
              <a:t>ready</a:t>
            </a:r>
            <a:r>
              <a:rPr lang="fr-FR" sz="2000" b="1" dirty="0">
                <a:sym typeface="Wingdings" panose="05000000000000000000" pitchFamily="2" charset="2"/>
              </a:rPr>
              <a:t>!! </a:t>
            </a: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waiting</a:t>
            </a: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for GHI signature  </a:t>
            </a:r>
            <a:r>
              <a:rPr lang="fr-FR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Activities</a:t>
            </a: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start!</a:t>
            </a:r>
            <a:endParaRPr lang="fr-FR" sz="2000" b="1" dirty="0">
              <a:solidFill>
                <a:srgbClr val="FF0000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C3E3634-8ED0-4747-97B0-C0BDB3853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36" y="1537212"/>
            <a:ext cx="7026249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5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649956"/>
            <a:ext cx="11416937" cy="726137"/>
          </a:xfrm>
        </p:spPr>
        <p:txBody>
          <a:bodyPr/>
          <a:lstStyle/>
          <a:p>
            <a:r>
              <a:rPr lang="en-US" sz="2800" dirty="0"/>
              <a:t>WG &amp; Task leader mandate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B2B50-E014-483C-900A-A30748B12856}" type="datetime1">
              <a:rPr lang="fr-FR" smtClean="0"/>
              <a:t>18/12/2025</a:t>
            </a:fld>
            <a:endParaRPr lang="en-US" dirty="0"/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85419"/>
              </p:ext>
            </p:extLst>
          </p:nvPr>
        </p:nvGraphicFramePr>
        <p:xfrm>
          <a:off x="645546" y="1922403"/>
          <a:ext cx="10546300" cy="4315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173">
                  <a:extLst>
                    <a:ext uri="{9D8B030D-6E8A-4147-A177-3AD203B41FA5}">
                      <a16:colId xmlns:a16="http://schemas.microsoft.com/office/drawing/2014/main" val="2048808203"/>
                    </a:ext>
                  </a:extLst>
                </a:gridCol>
                <a:gridCol w="3142700">
                  <a:extLst>
                    <a:ext uri="{9D8B030D-6E8A-4147-A177-3AD203B41FA5}">
                      <a16:colId xmlns:a16="http://schemas.microsoft.com/office/drawing/2014/main" val="1482425258"/>
                    </a:ext>
                  </a:extLst>
                </a:gridCol>
                <a:gridCol w="4214427">
                  <a:extLst>
                    <a:ext uri="{9D8B030D-6E8A-4147-A177-3AD203B41FA5}">
                      <a16:colId xmlns:a16="http://schemas.microsoft.com/office/drawing/2014/main" val="3813606321"/>
                    </a:ext>
                  </a:extLst>
                </a:gridCol>
              </a:tblGrid>
              <a:tr h="308271">
                <a:tc>
                  <a:txBody>
                    <a:bodyPr/>
                    <a:lstStyle/>
                    <a:p>
                      <a:r>
                        <a:rPr lang="fr-FR" sz="1400" dirty="0" err="1"/>
                        <a:t>WGs</a:t>
                      </a:r>
                      <a:r>
                        <a:rPr lang="fr-FR" sz="1400" dirty="0"/>
                        <a:t> &amp; </a:t>
                      </a:r>
                      <a:r>
                        <a:rPr lang="fr-FR" sz="1400" dirty="0" err="1"/>
                        <a:t>Task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current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21881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WG1 –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perovskites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Dorottya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Kriechbaumer</a:t>
                      </a:r>
                      <a:r>
                        <a:rPr lang="fr-FR" sz="1400" dirty="0"/>
                        <a:t>(DE)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err="1"/>
                        <a:t>Dorottya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Kriechbaumer</a:t>
                      </a:r>
                      <a:r>
                        <a:rPr lang="fr-FR" sz="1400" dirty="0"/>
                        <a:t>(DE)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773576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WG2 –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metallic</a:t>
                      </a:r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alloys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Jarek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Jasinski</a:t>
                      </a:r>
                      <a:r>
                        <a:rPr lang="fr-FR" sz="1400" dirty="0"/>
                        <a:t> (PL)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err="1"/>
                        <a:t>Jarek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Jasinski</a:t>
                      </a:r>
                      <a:r>
                        <a:rPr lang="fr-FR" sz="1400" dirty="0"/>
                        <a:t> (PL) – on </a:t>
                      </a:r>
                      <a:r>
                        <a:rPr lang="fr-FR" sz="1400" dirty="0" err="1"/>
                        <a:t>going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activity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53916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WG3 – New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Kourosh Malek</a:t>
                      </a:r>
                      <a:r>
                        <a:rPr lang="fr-FR" sz="1400" baseline="0" dirty="0"/>
                        <a:t> (DE)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Kourosh Malek (DE) – on </a:t>
                      </a:r>
                      <a:r>
                        <a:rPr lang="fr-FR" sz="1400" dirty="0" err="1"/>
                        <a:t>going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activity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246589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WG4 - training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David Lacroix (FR)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Antonio P. Gonçalves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42135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WG5/Communications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Gloria Botton (BE, YRI)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Dorotea Koren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399372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Grant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Award</a:t>
                      </a:r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committee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Peter Tatarko (SR)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</a:rPr>
                        <a:t>Peter continues!</a:t>
                      </a:r>
                      <a:endParaRPr lang="fr-FR" sz="14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65493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Sustainability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G.</a:t>
                      </a:r>
                      <a:r>
                        <a:rPr lang="fr-FR" sz="1400" baseline="0" dirty="0"/>
                        <a:t> Campana</a:t>
                      </a:r>
                      <a:r>
                        <a:rPr lang="fr-FR" sz="1400" dirty="0"/>
                        <a:t> (IT)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Giampaolo Campana –</a:t>
                      </a:r>
                      <a:r>
                        <a:rPr lang="fr-FR" sz="1400" baseline="0" dirty="0"/>
                        <a:t> </a:t>
                      </a:r>
                      <a:r>
                        <a:rPr lang="fr-FR" sz="1400" baseline="0" dirty="0" err="1"/>
                        <a:t>just</a:t>
                      </a:r>
                      <a:r>
                        <a:rPr lang="fr-FR" sz="1400" baseline="0" dirty="0"/>
                        <a:t> </a:t>
                      </a:r>
                      <a:r>
                        <a:rPr lang="fr-FR" sz="1400" baseline="0" dirty="0" err="1"/>
                        <a:t>started</a:t>
                      </a:r>
                      <a:r>
                        <a:rPr lang="fr-FR" sz="1400" baseline="0" dirty="0"/>
                        <a:t> new </a:t>
                      </a:r>
                      <a:r>
                        <a:rPr lang="fr-FR" sz="1400" baseline="0" dirty="0" err="1"/>
                        <a:t>activity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65325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Inter-COST Action actions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Norbert </a:t>
                      </a:r>
                      <a:r>
                        <a:rPr lang="fr-FR" sz="1400" dirty="0" err="1"/>
                        <a:t>Babcsan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Continue? Plans? 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 to </a:t>
                      </a:r>
                      <a:r>
                        <a:rPr lang="fr-FR" sz="14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be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FR" sz="140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discussed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 at MC meeting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127740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Young EU-MACE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Nobody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so</a:t>
                      </a:r>
                      <a:r>
                        <a:rPr lang="fr-FR" sz="1400" dirty="0"/>
                        <a:t> AC contacts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</a:rPr>
                        <a:t>Ivy Tsang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282260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Erasmus incubation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Theodora Kyratsi (CY)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Theodora Kyratsi (CY) </a:t>
                      </a:r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NEED CG !!!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438290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 &amp; EXP List/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Iosif</a:t>
                      </a:r>
                      <a:r>
                        <a:rPr lang="fr-FR" sz="1400" dirty="0"/>
                        <a:t> </a:t>
                      </a:r>
                      <a:r>
                        <a:rPr lang="fr-FR" sz="1400" dirty="0" err="1"/>
                        <a:t>Galanakis</a:t>
                      </a:r>
                      <a:r>
                        <a:rPr lang="fr-FR" sz="1400" dirty="0"/>
                        <a:t> (GR) </a:t>
                      </a:r>
                      <a:r>
                        <a:rPr lang="fr-FR" sz="1400" dirty="0" err="1"/>
                        <a:t>with</a:t>
                      </a:r>
                      <a:r>
                        <a:rPr lang="fr-FR" sz="1400" dirty="0"/>
                        <a:t> K. Malek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Bogdan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056937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Legacy</a:t>
                      </a:r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Labs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aseline="0" dirty="0"/>
                        <a:t>O. Ozcan (DE) &amp; Sandra </a:t>
                      </a:r>
                      <a:r>
                        <a:rPr lang="fr-FR" sz="1400" baseline="0" dirty="0" err="1"/>
                        <a:t>Rabaca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</a:rPr>
                        <a:t>Ivy Tsang ? &amp; ONE MORE PERSON!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47295"/>
                  </a:ext>
                </a:extLst>
              </a:tr>
              <a:tr h="308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Industrial</a:t>
                      </a:r>
                      <a:r>
                        <a:rPr lang="fr-FR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relations?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Holger Ihssen (DE)</a:t>
                      </a:r>
                      <a:endParaRPr lang="en-US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Plans </a:t>
                      </a:r>
                      <a:r>
                        <a:rPr lang="fr-FR" sz="1400" dirty="0" err="1">
                          <a:solidFill>
                            <a:srgbClr val="FF0000"/>
                          </a:solidFill>
                        </a:rPr>
                        <a:t>need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 to </a:t>
                      </a:r>
                      <a:r>
                        <a:rPr lang="fr-FR" sz="1400" dirty="0" err="1">
                          <a:solidFill>
                            <a:srgbClr val="FF0000"/>
                          </a:solidFill>
                        </a:rPr>
                        <a:t>be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dirty="0" err="1">
                          <a:solidFill>
                            <a:srgbClr val="FF0000"/>
                          </a:solidFill>
                        </a:rPr>
                        <a:t>discussed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 at MC meeting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10529"/>
                  </a:ext>
                </a:extLst>
              </a:tr>
            </a:tbl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522213" y="1464582"/>
            <a:ext cx="1093170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rgbClr val="FF0000"/>
                </a:solidFill>
              </a:rPr>
              <a:t>In MC1 meeting, </a:t>
            </a:r>
            <a:r>
              <a:rPr lang="fr-FR" sz="1200" b="1" dirty="0" err="1">
                <a:solidFill>
                  <a:srgbClr val="FF0000"/>
                </a:solidFill>
              </a:rPr>
              <a:t>we</a:t>
            </a:r>
            <a:r>
              <a:rPr lang="fr-FR" sz="1200" b="1" dirty="0">
                <a:solidFill>
                  <a:srgbClr val="FF0000"/>
                </a:solidFill>
              </a:rPr>
              <a:t> have </a:t>
            </a:r>
            <a:r>
              <a:rPr lang="fr-FR" sz="1200" b="1" dirty="0" err="1">
                <a:solidFill>
                  <a:srgbClr val="FF0000"/>
                </a:solidFill>
              </a:rPr>
              <a:t>decided</a:t>
            </a:r>
            <a:r>
              <a:rPr lang="fr-FR" sz="1200" b="1" dirty="0">
                <a:solidFill>
                  <a:srgbClr val="FF0000"/>
                </a:solidFill>
              </a:rPr>
              <a:t> to change WG/</a:t>
            </a:r>
            <a:r>
              <a:rPr lang="fr-FR" sz="1200" b="1" dirty="0" err="1">
                <a:solidFill>
                  <a:srgbClr val="FF0000"/>
                </a:solidFill>
              </a:rPr>
              <a:t>Task</a:t>
            </a:r>
            <a:r>
              <a:rPr lang="fr-FR" sz="1200" b="1" dirty="0">
                <a:solidFill>
                  <a:srgbClr val="FF0000"/>
                </a:solidFill>
              </a:rPr>
              <a:t> leaders (if </a:t>
            </a:r>
            <a:r>
              <a:rPr lang="fr-FR" sz="1200" b="1" dirty="0" err="1">
                <a:solidFill>
                  <a:srgbClr val="FF0000"/>
                </a:solidFill>
              </a:rPr>
              <a:t>needed</a:t>
            </a:r>
            <a:r>
              <a:rPr lang="fr-FR" sz="1200" b="1" dirty="0">
                <a:solidFill>
                  <a:srgbClr val="FF0000"/>
                </a:solidFill>
              </a:rPr>
              <a:t>) @M12 AND </a:t>
            </a:r>
            <a:r>
              <a:rPr lang="fr-FR" sz="1200" b="1" dirty="0" err="1">
                <a:solidFill>
                  <a:srgbClr val="FF0000"/>
                </a:solidFill>
              </a:rPr>
              <a:t>we</a:t>
            </a:r>
            <a:r>
              <a:rPr lang="fr-FR" sz="1200" b="1" dirty="0">
                <a:solidFill>
                  <a:srgbClr val="FF0000"/>
                </a:solidFill>
              </a:rPr>
              <a:t> must </a:t>
            </a:r>
            <a:r>
              <a:rPr lang="fr-FR" sz="1200" b="1" dirty="0" err="1">
                <a:solidFill>
                  <a:srgbClr val="FF0000"/>
                </a:solidFill>
              </a:rPr>
              <a:t>increase</a:t>
            </a:r>
            <a:r>
              <a:rPr lang="fr-FR" sz="1200" b="1" dirty="0">
                <a:solidFill>
                  <a:srgbClr val="FF0000"/>
                </a:solidFill>
              </a:rPr>
              <a:t> the participation of ICT, </a:t>
            </a:r>
            <a:r>
              <a:rPr lang="fr-FR" sz="1200" b="1" dirty="0" err="1">
                <a:solidFill>
                  <a:srgbClr val="FF0000"/>
                </a:solidFill>
              </a:rPr>
              <a:t>young</a:t>
            </a:r>
            <a:r>
              <a:rPr lang="fr-FR" sz="1200" b="1" dirty="0">
                <a:solidFill>
                  <a:srgbClr val="FF0000"/>
                </a:solidFill>
              </a:rPr>
              <a:t> &amp; </a:t>
            </a:r>
            <a:r>
              <a:rPr lang="fr-FR" sz="1200" b="1" dirty="0" err="1">
                <a:solidFill>
                  <a:srgbClr val="FF0000"/>
                </a:solidFill>
              </a:rPr>
              <a:t>female</a:t>
            </a:r>
            <a:r>
              <a:rPr lang="fr-FR" sz="1200" b="1" dirty="0">
                <a:solidFill>
                  <a:srgbClr val="FF0000"/>
                </a:solidFill>
              </a:rPr>
              <a:t> </a:t>
            </a:r>
            <a:r>
              <a:rPr lang="fr-FR" sz="1200" b="1" dirty="0" err="1">
                <a:solidFill>
                  <a:srgbClr val="FF0000"/>
                </a:solidFill>
              </a:rPr>
              <a:t>members</a:t>
            </a:r>
            <a:r>
              <a:rPr lang="fr-FR" sz="1200" b="1" dirty="0">
                <a:solidFill>
                  <a:srgbClr val="FF0000"/>
                </a:solidFill>
              </a:rPr>
              <a:t> participation</a:t>
            </a:r>
          </a:p>
        </p:txBody>
      </p:sp>
    </p:spTree>
    <p:extLst>
      <p:ext uri="{BB962C8B-B14F-4D97-AF65-F5344CB8AC3E}">
        <p14:creationId xmlns:p14="http://schemas.microsoft.com/office/powerpoint/2010/main" val="52636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GP3 plans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076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Planned events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590549" y="1649045"/>
            <a:ext cx="112871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u="sng" dirty="0"/>
              <a:t>Joint workshop on sustainable energy materials</a:t>
            </a:r>
            <a:r>
              <a:rPr lang="en-US" dirty="0"/>
              <a:t>: How to integrate </a:t>
            </a:r>
            <a:r>
              <a:rPr lang="en-US" dirty="0" err="1"/>
              <a:t>SSdB</a:t>
            </a:r>
            <a:r>
              <a:rPr lang="en-US" dirty="0"/>
              <a:t> in energy materials research?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u="sng" dirty="0"/>
              <a:t>EU-MACE</a:t>
            </a:r>
            <a:r>
              <a:rPr lang="en-US" dirty="0"/>
              <a:t> &amp; </a:t>
            </a:r>
            <a:r>
              <a:rPr lang="en-US" u="sng" dirty="0"/>
              <a:t>EERA-E3S</a:t>
            </a:r>
            <a:r>
              <a:rPr lang="en-US" dirty="0"/>
              <a:t> (clean Energy </a:t>
            </a:r>
            <a:r>
              <a:rPr lang="en-US" dirty="0" err="1"/>
              <a:t>tranSition</a:t>
            </a:r>
            <a:r>
              <a:rPr lang="en-US" dirty="0"/>
              <a:t> for Sustainable Society) &amp; </a:t>
            </a:r>
            <a:r>
              <a:rPr lang="en-US" u="sng" dirty="0"/>
              <a:t>AMPEA</a:t>
            </a:r>
            <a:r>
              <a:rPr lang="en-US" dirty="0"/>
              <a:t> (Advanced Materials and Processes for Energy Applications)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Will gather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SSdB</a:t>
            </a:r>
            <a:r>
              <a:rPr lang="en-US" dirty="0"/>
              <a:t> experts: available tools and use-cases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Materials &amp; technology experts: examples on how they tackle this challenge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Regulatory aspects: to be defined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Round-table/small group discussions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pave new research collaborations!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 Brussels</a:t>
            </a:r>
            <a:r>
              <a:rPr lang="en-US" dirty="0"/>
              <a:t>, Maison IFJC. </a:t>
            </a:r>
            <a:r>
              <a:rPr lang="en-US" b="1" dirty="0"/>
              <a:t>February 23-25 </a:t>
            </a:r>
            <a:r>
              <a:rPr lang="en-US" dirty="0"/>
              <a:t>with </a:t>
            </a:r>
            <a:r>
              <a:rPr lang="en-US" b="1" dirty="0"/>
              <a:t>½ day MC meeting </a:t>
            </a:r>
            <a:r>
              <a:rPr lang="en-US" dirty="0"/>
              <a:t>(hybrid) before the workshop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Invite ~25 EU-MACE members (speakers and sustainability task participants from HEU brokerage events)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Include in discussion</a:t>
            </a:r>
            <a:r>
              <a:rPr lang="en-US" dirty="0"/>
              <a:t>- 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HORIZON-CL5-2026-04-Two-Stage-D3-02</a:t>
            </a:r>
            <a:r>
              <a:rPr lang="fr-FR" dirty="0">
                <a:latin typeface="Arial" panose="020B0604020202020204" pitchFamily="34" charset="0"/>
              </a:rPr>
              <a:t> </a:t>
            </a:r>
            <a:r>
              <a:rPr lang="en-US" sz="1800" b="1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Next generation of renewable energy technologies</a:t>
            </a:r>
            <a:endParaRPr lang="fr-FR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7100D3-CDDE-4F4F-B059-94A6E8604BAF}"/>
              </a:ext>
            </a:extLst>
          </p:cNvPr>
          <p:cNvSpPr/>
          <p:nvPr/>
        </p:nvSpPr>
        <p:spPr>
          <a:xfrm>
            <a:off x="1814754" y="5969259"/>
            <a:ext cx="83809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More </a:t>
            </a:r>
            <a:r>
              <a:rPr lang="fr-FR" sz="2000" b="1" dirty="0" err="1">
                <a:solidFill>
                  <a:srgbClr val="FF0000"/>
                </a:solidFill>
              </a:rPr>
              <a:t>detail</a:t>
            </a:r>
            <a:r>
              <a:rPr lang="fr-FR" sz="2000" b="1" dirty="0">
                <a:solidFill>
                  <a:srgbClr val="FF0000"/>
                </a:solidFill>
              </a:rPr>
              <a:t> to </a:t>
            </a:r>
            <a:r>
              <a:rPr lang="fr-FR" sz="2000" b="1" dirty="0" err="1">
                <a:solidFill>
                  <a:srgbClr val="FF0000"/>
                </a:solidFill>
              </a:rPr>
              <a:t>be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announced</a:t>
            </a:r>
            <a:r>
              <a:rPr lang="fr-FR" sz="2000" b="1" dirty="0">
                <a:solidFill>
                  <a:srgbClr val="FF0000"/>
                </a:solidFill>
              </a:rPr>
              <a:t> in </a:t>
            </a:r>
            <a:r>
              <a:rPr lang="fr-FR" sz="2000" b="1" dirty="0" err="1">
                <a:solidFill>
                  <a:srgbClr val="FF0000"/>
                </a:solidFill>
              </a:rPr>
              <a:t>early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January</a:t>
            </a:r>
            <a:r>
              <a:rPr lang="fr-FR" sz="2000" b="1" dirty="0">
                <a:solidFill>
                  <a:srgbClr val="FF0000"/>
                </a:solidFill>
              </a:rPr>
              <a:t>. BUT PLEASE SAVE THE DATE!!</a:t>
            </a:r>
          </a:p>
        </p:txBody>
      </p:sp>
    </p:spTree>
    <p:extLst>
      <p:ext uri="{BB962C8B-B14F-4D97-AF65-F5344CB8AC3E}">
        <p14:creationId xmlns:p14="http://schemas.microsoft.com/office/powerpoint/2010/main" val="2834770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Planned events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D3B6-BD72-4C01-80E7-557A4A48DDD5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915419" y="1782395"/>
            <a:ext cx="10597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u="sng" dirty="0" err="1"/>
              <a:t>AcceLMAPs</a:t>
            </a:r>
            <a:r>
              <a:rPr lang="en-US" sz="1600" u="sng" dirty="0"/>
              <a:t> training school</a:t>
            </a:r>
            <a:r>
              <a:rPr lang="en-US" sz="1600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4 full days in Lisbon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Dates: May (exact days to be specified by the coordinator = A. P. Gonçalves)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9347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0186B-7436-4BC1-955F-8307A37E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DEACAD-05CD-434C-87F0-14BE1EAF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82FA1C-E623-462E-A72F-36FDC61F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0CF5-EB69-4766-AF91-F9D332F236DD}" type="datetime1">
              <a:rPr lang="fr-FR" smtClean="0"/>
              <a:t>18/12/2025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68441A-3476-4647-B33E-19864B50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279F3D-B0B6-4D12-8617-BEA64833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6007-7EE1-4957-8A26-AF9F7BF17450}" type="slidenum">
              <a:rPr lang="de-DE" smtClean="0"/>
              <a:t>16</a:t>
            </a:fld>
            <a:endParaRPr lang="de-D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DDFCB9F-AAF3-422E-BA79-B8D5C71F3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"/>
            <a:ext cx="12192000" cy="68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2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790FE-8068-48C1-BFD4-21E46E6E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E90D2D-88C3-456E-A2FF-52245C641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089A9E-340E-4626-A88B-E0D1C3B2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3943-5F43-41AC-A454-9C34E32D796C}" type="datetime1">
              <a:rPr lang="fr-FR" smtClean="0"/>
              <a:t>18/12/2025</a:t>
            </a:fld>
            <a:endParaRPr lang="de-D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00D0E5-588C-43DE-9337-F5CA9D8B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de-D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0F456-B3D5-4A76-9745-F64D2AAE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6007-7EE1-4957-8A26-AF9F7BF17450}" type="slidenum">
              <a:rPr lang="de-DE" smtClean="0"/>
              <a:t>17</a:t>
            </a:fld>
            <a:endParaRPr lang="de-D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25291FE-0941-45C6-AFEF-624A3EA3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6"/>
            <a:ext cx="12192000" cy="684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05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 err="1"/>
              <a:t>AceeLMAPs</a:t>
            </a:r>
            <a:r>
              <a:rPr lang="en-US" dirty="0"/>
              <a:t> Training school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Lisboa, May 18-21, 2026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978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5760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57633-BF5C-1B18-7E92-C9126B2E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Totemic</a:t>
            </a:r>
            <a:r>
              <a:rPr lang="fr-FR" b="1" dirty="0"/>
              <a:t> Session Planning</a:t>
            </a: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47750C81-8F2E-7402-A5B7-816168A2278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10515600" cy="446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9271773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220561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68209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72718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474630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8198976"/>
                    </a:ext>
                  </a:extLst>
                </a:gridCol>
              </a:tblGrid>
              <a:tr h="583384">
                <a:tc>
                  <a:txBody>
                    <a:bodyPr/>
                    <a:lstStyle/>
                    <a:p>
                      <a:pPr algn="ctr"/>
                      <a:r>
                        <a:rPr lang="en-US" sz="3200" noProof="0" dirty="0"/>
                        <a:t>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noProof="0" dirty="0"/>
                        <a:t>Monday 18</a:t>
                      </a:r>
                      <a:endParaRPr lang="en-US" sz="20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noProof="0" dirty="0"/>
                        <a:t>Tuesday 19</a:t>
                      </a:r>
                      <a:endParaRPr lang="en-US" sz="20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noProof="0" dirty="0"/>
                        <a:t>Wednesday 20</a:t>
                      </a:r>
                      <a:endParaRPr lang="en-US" sz="20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noProof="0" dirty="0"/>
                        <a:t>Thursday 21</a:t>
                      </a:r>
                      <a:endParaRPr lang="en-US" sz="20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noProof="0" dirty="0"/>
                        <a:t>Friday 22</a:t>
                      </a:r>
                      <a:endParaRPr lang="en-US" sz="2000" noProof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7619488"/>
                  </a:ext>
                </a:extLst>
              </a:tr>
              <a:tr h="644793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>
                          <a:solidFill>
                            <a:schemeClr val="bg1"/>
                          </a:solidFill>
                        </a:rPr>
                        <a:t>Morning 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Arrival/Welcome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/>
                        <a:t>Ole Martin </a:t>
                      </a:r>
                      <a:r>
                        <a:rPr lang="en-US" sz="1800" b="1" u="none" strike="noStrike" cap="none" dirty="0" err="1"/>
                        <a:t>Løvvik</a:t>
                      </a:r>
                      <a:endParaRPr lang="en-US" sz="1800" b="1" u="none" strike="noStrike" cap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dirty="0"/>
                        <a:t>Elena </a:t>
                      </a:r>
                      <a:r>
                        <a:rPr lang="en-US" sz="1800" b="1" dirty="0" err="1"/>
                        <a:t>Stefanaki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/>
                        <a:t>Maximilian Wolf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174779"/>
                  </a:ext>
                </a:extLst>
              </a:tr>
              <a:tr h="921133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>
                          <a:solidFill>
                            <a:schemeClr val="bg1"/>
                          </a:solidFill>
                        </a:rPr>
                        <a:t>Morning 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 err="1"/>
                        <a:t>Macieji</a:t>
                      </a:r>
                      <a:r>
                        <a:rPr lang="en-US" sz="1800" b="1" u="none" strike="noStrike" cap="none" dirty="0"/>
                        <a:t> </a:t>
                      </a:r>
                      <a:r>
                        <a:rPr lang="en-US" sz="1800" b="1" u="none" strike="noStrike" cap="none" dirty="0" err="1"/>
                        <a:t>Haranazyk</a:t>
                      </a:r>
                      <a:endParaRPr lang="en-US" sz="1800" b="1" u="none" strike="noStrike" cap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/>
                        <a:t>Ole Martin </a:t>
                      </a:r>
                      <a:r>
                        <a:rPr lang="en-US" sz="1800" b="1" u="none" strike="noStrike" cap="none" dirty="0" err="1"/>
                        <a:t>Løvvik</a:t>
                      </a:r>
                      <a:endParaRPr lang="en-US" sz="1800" b="1" u="none" strike="noStrike" cap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dirty="0" err="1"/>
                        <a:t>Nuno</a:t>
                      </a:r>
                      <a:r>
                        <a:rPr lang="en-US" sz="1800" b="1" dirty="0"/>
                        <a:t>/Vicky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/>
                        <a:t>Maximilian Wolf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652464"/>
                  </a:ext>
                </a:extLst>
              </a:tr>
              <a:tr h="373570">
                <a:tc gridSpan="6">
                  <a:txBody>
                    <a:bodyPr/>
                    <a:lstStyle/>
                    <a:p>
                      <a:pPr algn="ctr"/>
                      <a:endParaRPr lang="en-US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18234"/>
                  </a:ext>
                </a:extLst>
              </a:tr>
              <a:tr h="921133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>
                          <a:solidFill>
                            <a:schemeClr val="bg1"/>
                          </a:solidFill>
                        </a:rPr>
                        <a:t>Afternoon 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cap="none" dirty="0"/>
                        <a:t>Posters/Pitch</a:t>
                      </a:r>
                    </a:p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/>
                        <a:t>Kevin Rossi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dirty="0" err="1"/>
                        <a:t>Özlem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Ozcan</a:t>
                      </a:r>
                      <a:r>
                        <a:rPr lang="en-US" sz="1800" b="1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 err="1"/>
                        <a:t>K</a:t>
                      </a:r>
                      <a:r>
                        <a:rPr lang="en-US" sz="1800" b="1" dirty="0" err="1"/>
                        <a:t>ou</a:t>
                      </a:r>
                      <a:r>
                        <a:rPr lang="en-US" sz="1800" b="1" u="none" strike="noStrike" cap="none" dirty="0" err="1"/>
                        <a:t>rosh</a:t>
                      </a:r>
                      <a:endParaRPr lang="en-US" sz="1800" b="1" u="none" strike="noStrike" cap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96527"/>
                  </a:ext>
                </a:extLst>
              </a:tr>
              <a:tr h="644793">
                <a:tc>
                  <a:txBody>
                    <a:bodyPr/>
                    <a:lstStyle/>
                    <a:p>
                      <a:pPr algn="ctr"/>
                      <a:r>
                        <a:rPr lang="en-US" b="1" noProof="0" dirty="0">
                          <a:solidFill>
                            <a:schemeClr val="bg1"/>
                          </a:solidFill>
                        </a:rPr>
                        <a:t>Afternoon 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/>
                        <a:t>Labs 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dirty="0" err="1"/>
                        <a:t>Patrícia</a:t>
                      </a:r>
                      <a:r>
                        <a:rPr lang="en-US" sz="1800" b="1" dirty="0"/>
                        <a:t>/José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Stefan </a:t>
                      </a:r>
                      <a:r>
                        <a:rPr lang="en-US" sz="1800" b="1" dirty="0" err="1"/>
                        <a:t>Maak</a:t>
                      </a:r>
                      <a:r>
                        <a:rPr lang="en-US" sz="1800" b="1" dirty="0"/>
                        <a:t> 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Open Discussions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398087"/>
                  </a:ext>
                </a:extLst>
              </a:tr>
              <a:tr h="373570">
                <a:tc>
                  <a:txBody>
                    <a:bodyPr/>
                    <a:lstStyle/>
                    <a:p>
                      <a:pPr algn="ctr"/>
                      <a:endParaRPr lang="en-US" sz="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53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89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0766D-7266-E5AD-64C9-0E92A132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4753"/>
            <a:ext cx="12039600" cy="810532"/>
          </a:xfrm>
        </p:spPr>
        <p:txBody>
          <a:bodyPr/>
          <a:lstStyle/>
          <a:p>
            <a:r>
              <a:rPr lang="fr-FR" dirty="0"/>
              <a:t>Session </a:t>
            </a:r>
            <a:r>
              <a:rPr lang="fr-FR" dirty="0" err="1"/>
              <a:t>titles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7857E-69E6-C67E-0DB7-5FCCB2D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59" y="925285"/>
            <a:ext cx="11815281" cy="593271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Monday May, 18 – Morning</a:t>
            </a: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Welcome</a:t>
            </a:r>
          </a:p>
          <a:p>
            <a:pPr algn="just"/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Macieji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Haranazyk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dirty="0">
                <a:ea typeface="Arial" panose="020B0604020202020204" pitchFamily="34" charset="0"/>
                <a:cs typeface="Times New Roman" panose="02020603050405020304" pitchFamily="18" charset="0"/>
              </a:rPr>
              <a:t>“Introduction to materials discovery and MAPs”</a:t>
            </a:r>
          </a:p>
          <a:p>
            <a:pPr algn="just"/>
            <a:endParaRPr lang="en-US" sz="6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Monday May, 18 – </a:t>
            </a:r>
            <a:r>
              <a:rPr lang="fr-FR" sz="1600" b="1" dirty="0" err="1"/>
              <a:t>Afternoon</a:t>
            </a:r>
            <a:endParaRPr lang="fr-FR" sz="1600" b="1" dirty="0"/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Posters/Pitch</a:t>
            </a: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Labs visit</a:t>
            </a:r>
          </a:p>
          <a:p>
            <a:pPr marL="0" indent="0" algn="just">
              <a:buNone/>
            </a:pPr>
            <a:endParaRPr lang="en-US" sz="12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Tuesday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May, </a:t>
            </a: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19 – Morning</a:t>
            </a: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Ole Martin </a:t>
            </a:r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Løvvik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“Accelerated discovery of functional materials at the atomistic scale”</a:t>
            </a:r>
            <a:endParaRPr lang="en-US" sz="1600" i="1" dirty="0">
              <a:solidFill>
                <a:srgbClr val="000000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300" b="1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r>
              <a:rPr lang="fr-FR" sz="1600" b="1" dirty="0"/>
              <a:t>Tuesday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</a:t>
            </a:r>
            <a:r>
              <a:rPr lang="fr-FR" sz="1600" b="1" dirty="0"/>
              <a:t>, 19 – </a:t>
            </a:r>
            <a:r>
              <a:rPr lang="fr-FR" sz="1600" b="1" dirty="0" err="1"/>
              <a:t>Afternoon</a:t>
            </a:r>
            <a:r>
              <a:rPr lang="fr-FR" sz="1600" b="1" dirty="0"/>
              <a:t> </a:t>
            </a:r>
            <a:endParaRPr lang="en-US" sz="1600" b="1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Kevin Rossi;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“Digitalizing materials science: from data and theory to forward and inverse models”</a:t>
            </a:r>
          </a:p>
          <a:p>
            <a:pPr algn="just"/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Patrícia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/José;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“Generative Diffusion Models for Inverse Discovery of Functional Materials”</a:t>
            </a:r>
            <a:endParaRPr lang="en-US" sz="1600" i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endParaRPr lang="en-US" sz="13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Wednesday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May, </a:t>
            </a: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20 – Morning</a:t>
            </a:r>
          </a:p>
          <a:p>
            <a:pPr marL="295275" lvl="1" indent="-285750"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Elena </a:t>
            </a:r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Stefanaki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“The Thermoelectric Journey: Bridging Innovation and Application from Advanced TE Materials to Scalable Devices” </a:t>
            </a:r>
            <a:endParaRPr lang="en-US" sz="1600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95275" lvl="1" indent="-285750" algn="just"/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Nuno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/Vicky;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“AI for ion beam characterization of energy materials” </a:t>
            </a:r>
            <a:endParaRPr lang="en-US" sz="1600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95275" lvl="1" indent="-285750" algn="just"/>
            <a:endParaRPr lang="en-US" sz="1300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Wednesday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May, </a:t>
            </a: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20 – </a:t>
            </a:r>
            <a:r>
              <a:rPr lang="fr-FR" sz="1600" b="1" dirty="0" err="1"/>
              <a:t>Afternoon</a:t>
            </a:r>
            <a:endParaRPr lang="en-US" sz="16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95275" lvl="1" indent="-285750"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Özlem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“MAPs: Digital Workflows for Accelerated Material Discovery and Deployment”, Hands on?</a:t>
            </a:r>
          </a:p>
          <a:p>
            <a:pPr marL="295275" lvl="1" indent="-285750"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Stefan </a:t>
            </a:r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Maak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TBA </a:t>
            </a:r>
            <a:endParaRPr lang="en-US" sz="1600" dirty="0"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96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E71C-B39F-18CC-06BB-87C184C6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CD95B-7C5D-F114-C51D-39FD1A6A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4753"/>
            <a:ext cx="12039600" cy="810532"/>
          </a:xfrm>
        </p:spPr>
        <p:txBody>
          <a:bodyPr/>
          <a:lstStyle/>
          <a:p>
            <a:r>
              <a:rPr lang="fr-FR" dirty="0"/>
              <a:t>Session </a:t>
            </a:r>
            <a:r>
              <a:rPr lang="fr-FR" dirty="0" err="1"/>
              <a:t>titles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856D7-7CBD-0109-3DF4-4AC26EA29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59" y="1560058"/>
            <a:ext cx="11815281" cy="50388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Thursday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May, </a:t>
            </a: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21 – Morning</a:t>
            </a: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Maximilian Wolf;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“From Manual Lab Workflow to Self-Driving Experimentation: A Hands-On Transition Exercise”</a:t>
            </a:r>
            <a:endParaRPr lang="en-US" sz="1600" i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600" i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Thursday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May, </a:t>
            </a:r>
            <a:r>
              <a:rPr lang="en-US" sz="1600" b="1" noProof="0" dirty="0"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21 – </a:t>
            </a:r>
            <a:r>
              <a:rPr lang="fr-FR" sz="1600" b="1" dirty="0" err="1"/>
              <a:t>Afternoon</a:t>
            </a:r>
            <a:endParaRPr lang="en-US" sz="16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err="1">
                <a:ea typeface="Arial" panose="020B0604020202020204" pitchFamily="34" charset="0"/>
                <a:cs typeface="Times New Roman" panose="02020603050405020304" pitchFamily="18" charset="0"/>
              </a:rPr>
              <a:t>Kourosh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600" i="1" dirty="0">
                <a:ea typeface="Arial" panose="020B0604020202020204" pitchFamily="34" charset="0"/>
                <a:cs typeface="Times New Roman" panose="02020603050405020304" pitchFamily="18" charset="0"/>
              </a:rPr>
              <a:t>“Cloud connected labs for energy materials-to-device integration: from digital discovery to physical intelligence”</a:t>
            </a:r>
            <a:endParaRPr lang="en-US" sz="1600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Open Discussions</a:t>
            </a:r>
          </a:p>
          <a:p>
            <a:pPr marL="295275" lvl="1" indent="-285750" algn="just"/>
            <a:r>
              <a:rPr lang="en-US" sz="1600" b="1">
                <a:ea typeface="Arial" panose="020B0604020202020204" pitchFamily="34" charset="0"/>
                <a:cs typeface="Times New Roman" panose="02020603050405020304" pitchFamily="18" charset="0"/>
              </a:rPr>
              <a:t>Wrap-up </a:t>
            </a:r>
            <a:r>
              <a:rPr lang="en-US" sz="1600" b="1" dirty="0">
                <a:ea typeface="Arial" panose="020B0604020202020204" pitchFamily="34" charset="0"/>
                <a:cs typeface="Times New Roman" panose="02020603050405020304" pitchFamily="18" charset="0"/>
              </a:rPr>
              <a:t>meeting</a:t>
            </a:r>
            <a:endParaRPr lang="en-US" sz="1600" dirty="0"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9525" lvl="1" indent="0" algn="just">
              <a:buNone/>
            </a:pPr>
            <a:endParaRPr lang="en-US" sz="1800" b="1" noProof="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21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Planned events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22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D1F4-59B9-4132-994D-E963F11DDB09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877055" y="1480953"/>
            <a:ext cx="111105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u="sng" dirty="0"/>
              <a:t>ERASMUS+ discussion meeting (WG4)</a:t>
            </a:r>
            <a:r>
              <a:rPr lang="en-US" sz="1600" dirty="0"/>
              <a:t>: leader = Th. Kyratsi (CY) for now</a:t>
            </a:r>
            <a:endParaRPr lang="en-US" sz="16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ERASMUS+ or a similar network </a:t>
            </a:r>
            <a:r>
              <a:rPr lang="en-US" sz="1600" dirty="0">
                <a:sym typeface="Wingdings" panose="05000000000000000000" pitchFamily="2" charset="2"/>
              </a:rPr>
              <a:t> Action Deliverable and objective for GP4</a:t>
            </a: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Call for interests to be made for forming a task force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Online meetings starting in March 2026 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existing course </a:t>
            </a:r>
            <a:r>
              <a:rPr lang="en-US" sz="1600" dirty="0" err="1"/>
              <a:t>programmes</a:t>
            </a:r>
            <a:r>
              <a:rPr lang="en-US" sz="1600" dirty="0"/>
              <a:t> of interested members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Propose ‘new’ courses on automation and self-driving labs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possible </a:t>
            </a:r>
            <a:r>
              <a:rPr lang="en-US" sz="1600" dirty="0" err="1"/>
              <a:t>programme</a:t>
            </a:r>
            <a:r>
              <a:rPr lang="en-US" sz="1600" dirty="0"/>
              <a:t> title/contents/members </a:t>
            </a:r>
          </a:p>
          <a:p>
            <a:pPr lvl="0"/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In-person discussion meeting (2-days) in August/September/October 2026 in Warsaw (randomly chosen) </a:t>
            </a:r>
            <a:r>
              <a:rPr lang="en-US" sz="1600" dirty="0">
                <a:sym typeface="Wingdings" panose="05000000000000000000" pitchFamily="2" charset="2"/>
              </a:rPr>
              <a:t> TBD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Final selection(s) of Universities/Schools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Determine the consortium leader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……</a:t>
            </a:r>
            <a:endParaRPr lang="en-US" sz="16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9829618-CF5D-4FBB-9BCD-1E885A83FB52}"/>
              </a:ext>
            </a:extLst>
          </p:cNvPr>
          <p:cNvSpPr txBox="1"/>
          <p:nvPr/>
        </p:nvSpPr>
        <p:spPr>
          <a:xfrm>
            <a:off x="1870561" y="5371465"/>
            <a:ext cx="8909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https://forms.office.com/Pages/ResponsePage.aspx?id=9xZkbOgxIEWCTMuTP4OQuXsjyL-l515MkDTrXz9gtT5UMjVCNUNROVkyTlRKM0dHRTlFWDhRWVc2RS4u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42F2069-E643-42D9-BCFA-803BAE314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118" y="1456753"/>
            <a:ext cx="2568163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21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A226-356F-47B1-AE5F-9FDD90BAC219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1376093"/>
            <a:ext cx="10782728" cy="3351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Starting </a:t>
            </a:r>
            <a:r>
              <a:rPr lang="en-US" b="1" u="sng" dirty="0" err="1">
                <a:solidFill>
                  <a:srgbClr val="FF0000"/>
                </a:solidFill>
              </a:rPr>
              <a:t>LegacyLab</a:t>
            </a:r>
            <a:r>
              <a:rPr lang="en-US" b="1" u="sng" dirty="0">
                <a:solidFill>
                  <a:srgbClr val="FF0000"/>
                </a:solidFill>
              </a:rPr>
              <a:t> 2</a:t>
            </a:r>
            <a:r>
              <a:rPr lang="en-US" b="1" u="sng" baseline="30000" dirty="0">
                <a:solidFill>
                  <a:srgbClr val="FF0000"/>
                </a:solidFill>
              </a:rPr>
              <a:t>nd</a:t>
            </a:r>
            <a:r>
              <a:rPr lang="en-US" b="1" u="sng" dirty="0">
                <a:solidFill>
                  <a:srgbClr val="FF0000"/>
                </a:solidFill>
              </a:rPr>
              <a:t> round: who wants to join??</a:t>
            </a:r>
          </a:p>
          <a:p>
            <a:endParaRPr lang="en-US" sz="16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NEW collaborative research projects between Legacy labs &amp; MAPs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Expand your MAP capabilities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Connect your legacy lab equipment to MAPs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HEU projects, bi-lateral projects, doctoral networks….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STSM visits: 10 k€  (5-8 visits possible)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 preliminary experiments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Discuss future research plans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We need leaders and members!</a:t>
            </a: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LegacyLAB</a:t>
            </a:r>
            <a:r>
              <a:rPr lang="en-US" sz="2800" dirty="0"/>
              <a:t> 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8889D4-E376-4919-9EC5-364DEF5C6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489758"/>
            <a:ext cx="3236430" cy="33366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D0AC97-DD4D-4C13-A39B-3357003BB84E}"/>
              </a:ext>
            </a:extLst>
          </p:cNvPr>
          <p:cNvSpPr/>
          <p:nvPr/>
        </p:nvSpPr>
        <p:spPr>
          <a:xfrm>
            <a:off x="621959" y="4940054"/>
            <a:ext cx="1183674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https://forms.office.com/Pages/ResponsePage.aspx?id=9xZkbOgxIEWCTMuTP4OQuXsjyL-l515MkDTrXz9gtT5UQTlHQkRNT0FJODRBVlRTVUZHWllHVzNHVC4u</a:t>
            </a:r>
          </a:p>
          <a:p>
            <a:endParaRPr lang="fr-FR" sz="2400" b="1" dirty="0">
              <a:solidFill>
                <a:srgbClr val="FF0000"/>
              </a:solidFill>
            </a:endParaRPr>
          </a:p>
          <a:p>
            <a:r>
              <a:rPr lang="fr-FR" sz="2400" b="1" dirty="0" err="1">
                <a:solidFill>
                  <a:srgbClr val="FF0000"/>
                </a:solidFill>
              </a:rPr>
              <a:t>Let’s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keep</a:t>
            </a:r>
            <a:r>
              <a:rPr lang="fr-FR" sz="2400" b="1" dirty="0">
                <a:solidFill>
                  <a:srgbClr val="FF0000"/>
                </a:solidFill>
              </a:rPr>
              <a:t> the </a:t>
            </a:r>
            <a:r>
              <a:rPr lang="fr-FR" sz="2400" b="1" dirty="0" err="1">
                <a:solidFill>
                  <a:srgbClr val="FF0000"/>
                </a:solidFill>
              </a:rPr>
              <a:t>momentum</a:t>
            </a:r>
            <a:r>
              <a:rPr lang="fr-FR" sz="2400" b="1" dirty="0">
                <a:solidFill>
                  <a:srgbClr val="FF0000"/>
                </a:solidFill>
              </a:rPr>
              <a:t> and </a:t>
            </a:r>
            <a:r>
              <a:rPr lang="fr-FR" sz="2400" b="1" dirty="0" err="1">
                <a:solidFill>
                  <a:srgbClr val="FF0000"/>
                </a:solidFill>
              </a:rPr>
              <a:t>create</a:t>
            </a:r>
            <a:r>
              <a:rPr lang="fr-FR" sz="2400" b="1" dirty="0">
                <a:solidFill>
                  <a:srgbClr val="FF0000"/>
                </a:solidFill>
              </a:rPr>
              <a:t> MORE </a:t>
            </a:r>
            <a:r>
              <a:rPr lang="fr-FR" sz="2400" b="1" dirty="0" err="1">
                <a:solidFill>
                  <a:srgbClr val="FF0000"/>
                </a:solidFill>
              </a:rPr>
              <a:t>Legacy-Lab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projects</a:t>
            </a:r>
            <a:r>
              <a:rPr lang="fr-FR" sz="2400" b="1" dirty="0">
                <a:solidFill>
                  <a:srgbClr val="FF0000"/>
                </a:solidFill>
              </a:rPr>
              <a:t>/partnerships</a:t>
            </a:r>
          </a:p>
        </p:txBody>
      </p:sp>
    </p:spTree>
    <p:extLst>
      <p:ext uri="{BB962C8B-B14F-4D97-AF65-F5344CB8AC3E}">
        <p14:creationId xmlns:p14="http://schemas.microsoft.com/office/powerpoint/2010/main" val="1423763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Special issue publication opportunity!!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24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D3C8-4F16-4021-8A4D-8C4341EF9B16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448760" y="1533337"/>
            <a:ext cx="1059776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600" dirty="0"/>
              <a:t>Proposition from </a:t>
            </a:r>
            <a:r>
              <a:rPr lang="en-US" sz="1600" b="1" dirty="0" err="1"/>
              <a:t>SpringerNature</a:t>
            </a:r>
            <a:r>
              <a:rPr lang="en-US" sz="1600" b="1" dirty="0"/>
              <a:t> </a:t>
            </a:r>
            <a:r>
              <a:rPr lang="en-US" sz="1600" b="1" i="1" dirty="0"/>
              <a:t>DISCOVER SURFACES (it is a new journal series)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u="sng" dirty="0"/>
              <a:t>Special issue</a:t>
            </a:r>
            <a:r>
              <a:rPr lang="en-US" sz="1600" dirty="0"/>
              <a:t>: Energy materials (Editor says ok)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Possible themes/titles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"Surfaces and Interfaces in Energy Materials: How Interfaces Drive Energy Conversion, Storage, and Catalysis“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"From Surface Chemistry to System Integration: Interfaces at the Heart of Energy Materials“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"Interface Dynamics in Energy Materials: From Atomic-Scale Phenomena to Device Performance"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Divide into: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WG1 – Perovskites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WG2 – Alloys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WG3- MOFs, SPEs (and zero-PFAS?)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Include – research methodology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MAPs for surface/interface optimization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Data management of surface (formidable challenge)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Open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Free of Charge until November 30, 2026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Who wants to contribute, who can be a co-guest editor and who can review? </a:t>
            </a:r>
            <a:r>
              <a:rPr lang="en-US" sz="1600" b="1" dirty="0">
                <a:hlinkClick r:id="rId3"/>
              </a:rPr>
              <a:t>https://forms.office.com/Pages/ResponsePage.aspx?id=9xZkbOgxIEWCTMuTP4OQuXsjyL-l515MkDTrXz9gtT5UNUhMOTRaUzFGTFRYOE81MFhGRUg4N1pENC4u</a:t>
            </a:r>
            <a:r>
              <a:rPr lang="en-US" sz="1600" b="1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78487-2E76-466F-BCAE-3D67A66337DF}"/>
              </a:ext>
            </a:extLst>
          </p:cNvPr>
          <p:cNvSpPr/>
          <p:nvPr/>
        </p:nvSpPr>
        <p:spPr>
          <a:xfrm>
            <a:off x="3458784" y="6007989"/>
            <a:ext cx="4772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Only</a:t>
            </a:r>
            <a:r>
              <a:rPr lang="fr-FR" sz="2000" b="1" dirty="0">
                <a:solidFill>
                  <a:srgbClr val="FF0000"/>
                </a:solidFill>
              </a:rPr>
              <a:t> 7 people </a:t>
            </a:r>
            <a:r>
              <a:rPr lang="fr-FR" sz="2000" b="1" dirty="0" err="1">
                <a:solidFill>
                  <a:srgbClr val="FF0000"/>
                </a:solidFill>
              </a:rPr>
              <a:t>answered</a:t>
            </a:r>
            <a:r>
              <a:rPr lang="fr-FR" sz="2000" b="1" dirty="0">
                <a:solidFill>
                  <a:srgbClr val="FF0000"/>
                </a:solidFill>
              </a:rPr>
              <a:t>!  </a:t>
            </a:r>
            <a:r>
              <a:rPr lang="fr-FR" sz="2000" b="1" dirty="0" err="1">
                <a:solidFill>
                  <a:srgbClr val="FF0000"/>
                </a:solidFill>
              </a:rPr>
              <a:t>Please</a:t>
            </a:r>
            <a:r>
              <a:rPr lang="fr-FR" sz="2000" b="1" dirty="0">
                <a:solidFill>
                  <a:srgbClr val="FF0000"/>
                </a:solidFill>
              </a:rPr>
              <a:t> do </a:t>
            </a:r>
            <a:r>
              <a:rPr lang="fr-FR" sz="2000" b="1" dirty="0" err="1">
                <a:solidFill>
                  <a:srgbClr val="FF0000"/>
                </a:solidFill>
              </a:rPr>
              <a:t>it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now</a:t>
            </a:r>
            <a:endParaRPr lang="fr-FR" sz="2000" b="1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D4E5AE4-3AAA-47A7-98D9-E8EE473BD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456" y="3070689"/>
            <a:ext cx="2957611" cy="247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21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852044"/>
            <a:ext cx="11430000" cy="726137"/>
          </a:xfrm>
        </p:spPr>
        <p:txBody>
          <a:bodyPr/>
          <a:lstStyle/>
          <a:p>
            <a:r>
              <a:rPr lang="en-US" sz="2800" b="0" dirty="0">
                <a:solidFill>
                  <a:srgbClr val="00002E"/>
                </a:solidFill>
                <a:effectLst/>
                <a:latin typeface="Inter"/>
              </a:rPr>
              <a:t>Commission seeks feedback on the future Advanced Materials Act</a:t>
            </a:r>
            <a:br>
              <a:rPr lang="en-US" sz="2800" b="0" dirty="0">
                <a:solidFill>
                  <a:srgbClr val="00002E"/>
                </a:solidFill>
                <a:effectLst/>
                <a:latin typeface="Inter"/>
              </a:rPr>
            </a:br>
            <a:endParaRPr lang="en-US" sz="280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B6A4-1420-4976-B1D1-9583AA561147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701867" y="2360343"/>
            <a:ext cx="10597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EC seeking input from all interested stakeholders to the forthcoming Advanced Materials 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To feed and shape HEU and FP calls on Advanced Materials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Many EU research entities are preparing/contributing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Should EU-MACE submit?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F435FB-5A8C-4220-8EB8-60F9A7AF3B69}"/>
              </a:ext>
            </a:extLst>
          </p:cNvPr>
          <p:cNvSpPr txBox="1"/>
          <p:nvPr/>
        </p:nvSpPr>
        <p:spPr>
          <a:xfrm>
            <a:off x="838200" y="1714012"/>
            <a:ext cx="1066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https://research-and-innovation.ec.europa.eu/news/all-research-and-innovation-news/commission-seeks-feedback-future-advanced-materials-act-2025-10-21_en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1682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fr-FR" sz="2800" dirty="0"/>
              <a:t>Next meetings + important message</a:t>
            </a:r>
            <a:endParaRPr lang="en-US" sz="280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26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EB4D-88D0-4AE4-9776-5F3A8341FCDC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457586" y="1718993"/>
            <a:ext cx="114607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/>
              <a:t>Action </a:t>
            </a:r>
            <a:r>
              <a:rPr lang="fr-FR" sz="2000" b="1" u="sng" dirty="0" err="1"/>
              <a:t>monthly</a:t>
            </a:r>
            <a:r>
              <a:rPr lang="fr-FR" sz="2000" b="1" u="sng" dirty="0"/>
              <a:t> meeting</a:t>
            </a:r>
            <a:r>
              <a:rPr lang="fr-FR" sz="2000" b="1" dirty="0"/>
              <a:t>: </a:t>
            </a:r>
            <a:r>
              <a:rPr lang="fr-FR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Tuesday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/>
              <a:t>January</a:t>
            </a:r>
            <a:r>
              <a:rPr lang="fr-FR" sz="2000" b="1" dirty="0"/>
              <a:t> 13, 2026 @3PM</a:t>
            </a:r>
            <a:endParaRPr lang="fr-FR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sym typeface="Wingdings" panose="05000000000000000000" pitchFamily="2" charset="2"/>
              </a:rPr>
              <a:t>More and </a:t>
            </a:r>
            <a:r>
              <a:rPr lang="fr-FR" sz="2000" b="1" dirty="0" err="1">
                <a:sym typeface="Wingdings" panose="05000000000000000000" pitchFamily="2" charset="2"/>
              </a:rPr>
              <a:t>concrete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>
                <a:sym typeface="Wingdings" panose="05000000000000000000" pitchFamily="2" charset="2"/>
              </a:rPr>
              <a:t>details</a:t>
            </a:r>
            <a:r>
              <a:rPr lang="fr-FR" sz="2000" b="1" dirty="0">
                <a:sym typeface="Wingdings" panose="05000000000000000000" pitchFamily="2" charset="2"/>
              </a:rPr>
              <a:t> on </a:t>
            </a:r>
            <a:r>
              <a:rPr lang="fr-FR" sz="2000" b="1" dirty="0" err="1">
                <a:sym typeface="Wingdings" panose="05000000000000000000" pitchFamily="2" charset="2"/>
              </a:rPr>
              <a:t>Sustainability</a:t>
            </a:r>
            <a:r>
              <a:rPr lang="fr-FR" sz="2000" b="1" dirty="0">
                <a:sym typeface="Wingdings" panose="05000000000000000000" pitchFamily="2" charset="2"/>
              </a:rPr>
              <a:t> workshop &amp; HEU call </a:t>
            </a:r>
            <a:r>
              <a:rPr lang="fr-FR" sz="2000" b="1" dirty="0" err="1">
                <a:sym typeface="Wingdings" panose="05000000000000000000" pitchFamily="2" charset="2"/>
              </a:rPr>
              <a:t>brokerage</a:t>
            </a:r>
            <a:endParaRPr lang="fr-FR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sym typeface="Wingdings" panose="05000000000000000000" pitchFamily="2" charset="2"/>
              </a:rPr>
              <a:t>Roadmap </a:t>
            </a:r>
            <a:r>
              <a:rPr lang="fr-FR" sz="2000" b="1" dirty="0" err="1">
                <a:sym typeface="Wingdings" panose="05000000000000000000" pitchFamily="2" charset="2"/>
              </a:rPr>
              <a:t>paper</a:t>
            </a:r>
            <a:r>
              <a:rPr lang="fr-FR" sz="2000" b="1" dirty="0">
                <a:sym typeface="Wingdings" panose="05000000000000000000" pitchFamily="2" charset="2"/>
              </a:rPr>
              <a:t> on </a:t>
            </a:r>
            <a:r>
              <a:rPr lang="fr-FR" sz="2000" b="1" dirty="0" err="1">
                <a:sym typeface="Wingdings" panose="05000000000000000000" pitchFamily="2" charset="2"/>
              </a:rPr>
              <a:t>LegacyLabs</a:t>
            </a:r>
            <a:endParaRPr lang="fr-FR" sz="2000" dirty="0"/>
          </a:p>
          <a:p>
            <a:endParaRPr lang="fr-FR" sz="2000" b="1" dirty="0">
              <a:sym typeface="Wingdings" panose="05000000000000000000" pitchFamily="2" charset="2"/>
            </a:endParaRPr>
          </a:p>
          <a:p>
            <a:r>
              <a:rPr lang="fr-FR" sz="2000" b="1" u="sng" dirty="0"/>
              <a:t>MC </a:t>
            </a:r>
            <a:r>
              <a:rPr lang="fr-FR" sz="2000" b="1" u="sng" dirty="0" err="1"/>
              <a:t>members</a:t>
            </a:r>
            <a:r>
              <a:rPr lang="fr-FR" sz="2000" b="1" u="sng" dirty="0"/>
              <a:t>:</a:t>
            </a:r>
            <a:endParaRPr lang="fr-FR" sz="20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fr-FR" sz="20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>
                <a:sym typeface="Wingdings" panose="05000000000000000000" pitchFamily="2" charset="2"/>
              </a:rPr>
              <a:t>WG application/</a:t>
            </a:r>
            <a:r>
              <a:rPr lang="fr-FR" sz="2000" b="1" dirty="0" err="1">
                <a:sym typeface="Wingdings" panose="05000000000000000000" pitchFamily="2" charset="2"/>
              </a:rPr>
              <a:t>member</a:t>
            </a:r>
            <a:r>
              <a:rPr lang="fr-FR" sz="2000" b="1" dirty="0">
                <a:sym typeface="Wingdings" panose="05000000000000000000" pitchFamily="2" charset="2"/>
              </a:rPr>
              <a:t> issues – to </a:t>
            </a:r>
            <a:r>
              <a:rPr lang="fr-FR" sz="2000" b="1" dirty="0" err="1">
                <a:sym typeface="Wingdings" panose="05000000000000000000" pitchFamily="2" charset="2"/>
              </a:rPr>
              <a:t>be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>
                <a:sym typeface="Wingdings" panose="05000000000000000000" pitchFamily="2" charset="2"/>
              </a:rPr>
              <a:t>contacted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>
                <a:sym typeface="Wingdings" panose="05000000000000000000" pitchFamily="2" charset="2"/>
              </a:rPr>
              <a:t>separately</a:t>
            </a:r>
            <a:r>
              <a:rPr lang="fr-FR" sz="2000" b="1" dirty="0">
                <a:sym typeface="Wingdings" panose="05000000000000000000" pitchFamily="2" charset="2"/>
              </a:rPr>
              <a:t> </a:t>
            </a:r>
            <a:r>
              <a:rPr lang="fr-FR" sz="2000" b="1" dirty="0" err="1">
                <a:sym typeface="Wingdings" panose="05000000000000000000" pitchFamily="2" charset="2"/>
              </a:rPr>
              <a:t>prior</a:t>
            </a:r>
            <a:r>
              <a:rPr lang="fr-FR" sz="2000" b="1" dirty="0">
                <a:sym typeface="Wingdings" panose="05000000000000000000" pitchFamily="2" charset="2"/>
              </a:rPr>
              <a:t> to MC meeting</a:t>
            </a:r>
          </a:p>
          <a:p>
            <a:endParaRPr lang="fr-FR" sz="2000" b="1" u="sng" dirty="0"/>
          </a:p>
          <a:p>
            <a:r>
              <a:rPr lang="fr-FR" sz="2000" b="1" u="sng" dirty="0"/>
              <a:t>MAP &amp; Expert </a:t>
            </a:r>
            <a:r>
              <a:rPr lang="fr-FR" sz="2000" b="1" u="sng" dirty="0" err="1"/>
              <a:t>list</a:t>
            </a:r>
            <a:r>
              <a:rPr lang="fr-FR" sz="2000" b="1" u="sng" dirty="0"/>
              <a:t> - </a:t>
            </a:r>
            <a:r>
              <a:rPr lang="fr-FR" sz="2000" b="1" u="sng" dirty="0" err="1"/>
              <a:t>ChainMap</a:t>
            </a:r>
            <a:r>
              <a:rPr lang="fr-FR" sz="2000" b="1" u="sng" dirty="0"/>
              <a:t>:</a:t>
            </a:r>
          </a:p>
          <a:p>
            <a:endParaRPr lang="fr-FR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A </a:t>
            </a:r>
            <a:r>
              <a:rPr lang="fr-FR" sz="2000" b="1" dirty="0" err="1"/>
              <a:t>separate</a:t>
            </a:r>
            <a:r>
              <a:rPr lang="fr-FR" sz="2000" b="1" dirty="0"/>
              <a:t> meeting to </a:t>
            </a:r>
            <a:r>
              <a:rPr lang="fr-FR" sz="2000" b="1" dirty="0" err="1"/>
              <a:t>be</a:t>
            </a:r>
            <a:r>
              <a:rPr lang="fr-FR" sz="2000" b="1" dirty="0"/>
              <a:t> </a:t>
            </a:r>
            <a:r>
              <a:rPr lang="fr-FR" sz="2000" b="1" dirty="0" err="1"/>
              <a:t>organized</a:t>
            </a:r>
            <a:r>
              <a:rPr lang="fr-FR" sz="2000" b="1" dirty="0"/>
              <a:t> in </a:t>
            </a:r>
            <a:r>
              <a:rPr lang="fr-FR" sz="2000" b="1" dirty="0" err="1"/>
              <a:t>early</a:t>
            </a:r>
            <a:r>
              <a:rPr lang="fr-FR" sz="2000" b="1" dirty="0"/>
              <a:t> </a:t>
            </a:r>
            <a:r>
              <a:rPr lang="fr-FR" sz="2000" b="1" dirty="0" err="1"/>
              <a:t>January</a:t>
            </a:r>
            <a:r>
              <a:rPr lang="fr-FR" sz="2000" b="1" dirty="0"/>
              <a:t> (doodle): </a:t>
            </a:r>
            <a:r>
              <a:rPr lang="fr-FR" sz="2000" b="1" dirty="0" err="1"/>
              <a:t>Iosif</a:t>
            </a:r>
            <a:r>
              <a:rPr lang="fr-FR" sz="2000" b="1" dirty="0"/>
              <a:t>, Saco, </a:t>
            </a:r>
            <a:r>
              <a:rPr lang="fr-FR" sz="2000" b="1" dirty="0" err="1"/>
              <a:t>Kourosh</a:t>
            </a:r>
            <a:r>
              <a:rPr lang="fr-FR" sz="2000" b="1" dirty="0"/>
              <a:t>, Bogdan &amp; </a:t>
            </a:r>
            <a:r>
              <a:rPr lang="fr-FR" sz="2000" b="1" dirty="0" err="1"/>
              <a:t>anyone</a:t>
            </a:r>
            <a:r>
              <a:rPr lang="fr-FR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31449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 err="1"/>
              <a:t>Thank</a:t>
            </a:r>
            <a:r>
              <a:rPr lang="fr-FR" b="1" dirty="0"/>
              <a:t> </a:t>
            </a:r>
            <a:r>
              <a:rPr lang="fr-FR" b="1" dirty="0" err="1"/>
              <a:t>you</a:t>
            </a:r>
            <a:r>
              <a:rPr lang="fr-FR" b="1" dirty="0"/>
              <a:t> for </a:t>
            </a:r>
            <a:r>
              <a:rPr lang="fr-FR" b="1" dirty="0" err="1"/>
              <a:t>your</a:t>
            </a:r>
            <a:r>
              <a:rPr lang="fr-FR" b="1" dirty="0"/>
              <a:t> attention !!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0789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B2B platform for MAP &amp; Expert list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28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7C6-BF12-4F33-A5E7-7A4FD8EDCCFF}" type="datetime1">
              <a:rPr lang="fr-FR" smtClean="0"/>
              <a:t>18/12/2025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760577" y="1473895"/>
            <a:ext cx="112390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EU-MACE B2B ecosystem intelligence platform now online: link under ‘tools’ menu of our home page</a:t>
            </a:r>
          </a:p>
          <a:p>
            <a:endParaRPr lang="en-US" sz="2000" b="1" u="sng" dirty="0"/>
          </a:p>
        </p:txBody>
      </p:sp>
      <p:sp>
        <p:nvSpPr>
          <p:cNvPr id="11" name="ZoneTexte 10"/>
          <p:cNvSpPr txBox="1"/>
          <p:nvPr/>
        </p:nvSpPr>
        <p:spPr>
          <a:xfrm>
            <a:off x="1700665" y="2051608"/>
            <a:ext cx="93588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by </a:t>
            </a:r>
            <a:r>
              <a:rPr lang="en-US" dirty="0" err="1"/>
              <a:t>Kourosh</a:t>
            </a:r>
            <a:r>
              <a:rPr lang="en-US" dirty="0"/>
              <a:t> Malek (FZJ)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Maintenance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Gloria Botton (</a:t>
            </a:r>
            <a:r>
              <a:rPr lang="fr-FR" dirty="0" err="1"/>
              <a:t>comm</a:t>
            </a:r>
            <a:r>
              <a:rPr lang="fr-FR" dirty="0"/>
              <a:t>., EERA, BE) </a:t>
            </a:r>
            <a:r>
              <a:rPr lang="fr-FR" dirty="0">
                <a:sym typeface="Wingdings" panose="05000000000000000000" pitchFamily="2" charset="2"/>
              </a:rPr>
              <a:t> to </a:t>
            </a:r>
            <a:r>
              <a:rPr lang="fr-FR" dirty="0" err="1">
                <a:sym typeface="Wingdings" panose="05000000000000000000" pitchFamily="2" charset="2"/>
              </a:rPr>
              <a:t>be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replaced</a:t>
            </a:r>
            <a:r>
              <a:rPr lang="fr-FR" dirty="0">
                <a:sym typeface="Wingdings" panose="05000000000000000000" pitchFamily="2" charset="2"/>
              </a:rPr>
              <a:t> by new </a:t>
            </a:r>
            <a:r>
              <a:rPr lang="fr-FR" dirty="0" err="1">
                <a:sym typeface="Wingdings" panose="05000000000000000000" pitchFamily="2" charset="2"/>
              </a:rPr>
              <a:t>comm’s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coordinator</a:t>
            </a:r>
            <a:r>
              <a:rPr lang="fr-F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Iosif</a:t>
            </a:r>
            <a:r>
              <a:rPr lang="fr-FR" dirty="0"/>
              <a:t> </a:t>
            </a:r>
            <a:r>
              <a:rPr lang="fr-FR" dirty="0" err="1"/>
              <a:t>Galanakis</a:t>
            </a:r>
            <a:r>
              <a:rPr lang="fr-FR" dirty="0"/>
              <a:t> (MC, </a:t>
            </a:r>
            <a:r>
              <a:rPr lang="fr-FR" dirty="0" err="1"/>
              <a:t>Greece</a:t>
            </a:r>
            <a:r>
              <a:rPr lang="fr-F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Sawako Nakamae AC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Monica Fabrizio 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Currently</a:t>
            </a:r>
            <a:r>
              <a:rPr lang="fr-FR" dirty="0"/>
              <a:t> </a:t>
            </a:r>
            <a:r>
              <a:rPr lang="fr-FR" dirty="0" err="1"/>
              <a:t>available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Material</a:t>
            </a:r>
            <a:r>
              <a:rPr lang="fr-FR" dirty="0"/>
              <a:t> expertise </a:t>
            </a:r>
            <a:r>
              <a:rPr lang="fr-FR" dirty="0" err="1"/>
              <a:t>database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HEU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interest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developed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MAP and </a:t>
            </a:r>
            <a:r>
              <a:rPr lang="fr-FR" dirty="0" err="1"/>
              <a:t>infrastructre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>
                <a:sym typeface="Wingdings" panose="05000000000000000000" pitchFamily="2" charset="2"/>
              </a:rPr>
              <a:t>need</a:t>
            </a:r>
            <a:r>
              <a:rPr lang="fr-FR" dirty="0">
                <a:sym typeface="Wingdings" panose="05000000000000000000" pitchFamily="2" charset="2"/>
              </a:rPr>
              <a:t> help!!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Conversion to </a:t>
            </a:r>
            <a:r>
              <a:rPr lang="fr-FR" dirty="0" err="1">
                <a:sym typeface="Wingdings" panose="05000000000000000000" pitchFamily="2" charset="2"/>
              </a:rPr>
              <a:t>true</a:t>
            </a:r>
            <a:r>
              <a:rPr lang="fr-FR" dirty="0">
                <a:sym typeface="Wingdings" panose="05000000000000000000" pitchFamily="2" charset="2"/>
              </a:rPr>
              <a:t> B2B  </a:t>
            </a:r>
            <a:r>
              <a:rPr lang="fr-FR" dirty="0" err="1">
                <a:sym typeface="Wingdings" panose="05000000000000000000" pitchFamily="2" charset="2"/>
              </a:rPr>
              <a:t>need</a:t>
            </a:r>
            <a:r>
              <a:rPr lang="fr-FR" dirty="0">
                <a:sym typeface="Wingdings" panose="05000000000000000000" pitchFamily="2" charset="2"/>
              </a:rPr>
              <a:t> help!!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ym typeface="Wingdings" panose="05000000000000000000" pitchFamily="2" charset="2"/>
              </a:rPr>
              <a:t>Involve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other</a:t>
            </a:r>
            <a:r>
              <a:rPr lang="fr-FR" dirty="0">
                <a:sym typeface="Wingdings" panose="05000000000000000000" pitchFamily="2" charset="2"/>
              </a:rPr>
              <a:t> COST Actions  </a:t>
            </a:r>
            <a:r>
              <a:rPr lang="fr-FR" dirty="0" err="1">
                <a:sym typeface="Wingdings" panose="05000000000000000000" pitchFamily="2" charset="2"/>
              </a:rPr>
              <a:t>contacted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080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stal_Presentation_TM33468121_Win32_JC_SL_v3" id="{5CC0C496-FD8A-42BF-932F-4FD62E56F269}" vid="{DBEAE538-0105-45CF-A6D4-E0B303E187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F5DA8-6387-4138-BF96-B65D39F2FC21}">
  <ds:schemaRefs>
    <ds:schemaRef ds:uri="http://purl.org/dc/terms/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EF380A-18DE-4A59-8A28-3F29B5D01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2148</Words>
  <Application>Microsoft Office PowerPoint</Application>
  <PresentationFormat>Grand écran</PresentationFormat>
  <Paragraphs>372</Paragraphs>
  <Slides>28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6" baseType="lpstr">
      <vt:lpstr>Inter</vt:lpstr>
      <vt:lpstr>Arial</vt:lpstr>
      <vt:lpstr>Arial Black</vt:lpstr>
      <vt:lpstr>Calibri</vt:lpstr>
      <vt:lpstr>Segoe UI</vt:lpstr>
      <vt:lpstr>Segoe UI Light</vt:lpstr>
      <vt:lpstr>Wingdings</vt:lpstr>
      <vt:lpstr>Office Theme</vt:lpstr>
      <vt:lpstr>CA22123 EU-MACE:     Core Group monthly update GP3 #2</vt:lpstr>
      <vt:lpstr>meeting Agenda</vt:lpstr>
      <vt:lpstr>Présentation PowerPoint</vt:lpstr>
      <vt:lpstr>latest news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GP3 plans</vt:lpstr>
      <vt:lpstr>GP3 budget plan-under MC approval phase</vt:lpstr>
      <vt:lpstr>WG &amp; Task leader mandate</vt:lpstr>
      <vt:lpstr>GP3 plans</vt:lpstr>
      <vt:lpstr>Planned events</vt:lpstr>
      <vt:lpstr>Planned events</vt:lpstr>
      <vt:lpstr>Présentation PowerPoint</vt:lpstr>
      <vt:lpstr>Présentation PowerPoint</vt:lpstr>
      <vt:lpstr>AceeLMAPs Training school</vt:lpstr>
      <vt:lpstr>Totemic Session Planning</vt:lpstr>
      <vt:lpstr>Session titles</vt:lpstr>
      <vt:lpstr>Session titles</vt:lpstr>
      <vt:lpstr>Planned events</vt:lpstr>
      <vt:lpstr>Présentation PowerPoint</vt:lpstr>
      <vt:lpstr>Special issue publication opportunity!!</vt:lpstr>
      <vt:lpstr>Commission seeks feedback on the future Advanced Materials Act </vt:lpstr>
      <vt:lpstr>Next meetings + important message</vt:lpstr>
      <vt:lpstr>Thank you for your attention !!</vt:lpstr>
      <vt:lpstr>B2B platform for MAP &amp; Expert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2021-05-30T14:58:49Z</dcterms:created>
  <dcterms:modified xsi:type="dcterms:W3CDTF">2025-12-18T00:50:08Z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