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71" r:id="rId2"/>
    <p:sldMasterId id="2147483685" r:id="rId3"/>
    <p:sldMasterId id="2147483680" r:id="rId4"/>
    <p:sldMasterId id="2147483678" r:id="rId5"/>
  </p:sldMasterIdLst>
  <p:notesMasterIdLst>
    <p:notesMasterId r:id="rId15"/>
  </p:notesMasterIdLst>
  <p:sldIdLst>
    <p:sldId id="261" r:id="rId6"/>
    <p:sldId id="277" r:id="rId7"/>
    <p:sldId id="280" r:id="rId8"/>
    <p:sldId id="276" r:id="rId9"/>
    <p:sldId id="278" r:id="rId10"/>
    <p:sldId id="279" r:id="rId11"/>
    <p:sldId id="281" r:id="rId12"/>
    <p:sldId id="282" r:id="rId13"/>
    <p:sldId id="263" r:id="rId1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113"/>
    <a:srgbClr val="0000CC"/>
    <a:srgbClr val="082765"/>
    <a:srgbClr val="7283A7"/>
    <a:srgbClr val="FFFF4B"/>
    <a:srgbClr val="FFFFC5"/>
    <a:srgbClr val="E7EEE6"/>
    <a:srgbClr val="D6A300"/>
    <a:srgbClr val="B40000"/>
    <a:srgbClr val="18F4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374" autoAdjust="0"/>
  </p:normalViewPr>
  <p:slideViewPr>
    <p:cSldViewPr snapToGrid="0">
      <p:cViewPr varScale="1">
        <p:scale>
          <a:sx n="78" d="100"/>
          <a:sy n="78" d="100"/>
        </p:scale>
        <p:origin x="8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180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B0282-8424-47CA-9A5D-232B0FBA05D7}" type="datetimeFigureOut">
              <a:rPr lang="uk-UA" smtClean="0"/>
              <a:t>03.02.2026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255DF-2302-4166-854A-73FB08670B7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47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90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23406" y="267342"/>
            <a:ext cx="11068593" cy="754878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11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8932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63078"/>
            <a:ext cx="11094720" cy="754878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5" name="Місце для зображення 4"/>
          <p:cNvSpPr>
            <a:spLocks noGrp="1"/>
          </p:cNvSpPr>
          <p:nvPr>
            <p:ph type="pic" sz="quarter" idx="10"/>
          </p:nvPr>
        </p:nvSpPr>
        <p:spPr>
          <a:xfrm>
            <a:off x="907683" y="1385937"/>
            <a:ext cx="3731694" cy="3022433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9" name="Місце для зображення 8"/>
          <p:cNvSpPr>
            <a:spLocks noGrp="1"/>
          </p:cNvSpPr>
          <p:nvPr>
            <p:ph type="pic" sz="quarter" idx="11"/>
          </p:nvPr>
        </p:nvSpPr>
        <p:spPr>
          <a:xfrm>
            <a:off x="7577990" y="1385937"/>
            <a:ext cx="3731694" cy="3022433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11" name="Місце для тексту 10"/>
          <p:cNvSpPr>
            <a:spLocks noGrp="1"/>
          </p:cNvSpPr>
          <p:nvPr>
            <p:ph type="body" sz="quarter" idx="12"/>
          </p:nvPr>
        </p:nvSpPr>
        <p:spPr>
          <a:xfrm>
            <a:off x="907683" y="4649387"/>
            <a:ext cx="3730625" cy="155890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12" name="Місце для тексту 10"/>
          <p:cNvSpPr>
            <a:spLocks noGrp="1"/>
          </p:cNvSpPr>
          <p:nvPr>
            <p:ph type="body" sz="quarter" idx="13"/>
          </p:nvPr>
        </p:nvSpPr>
        <p:spPr>
          <a:xfrm>
            <a:off x="7577990" y="4649387"/>
            <a:ext cx="3730625" cy="155890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13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19946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quarter" idx="10"/>
          </p:nvPr>
        </p:nvSpPr>
        <p:spPr>
          <a:xfrm>
            <a:off x="7279605" y="1260791"/>
            <a:ext cx="4511341" cy="5111132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зображення 5"/>
          <p:cNvSpPr>
            <a:spLocks noGrp="1"/>
          </p:cNvSpPr>
          <p:nvPr>
            <p:ph type="pic" sz="quarter" idx="11"/>
          </p:nvPr>
        </p:nvSpPr>
        <p:spPr>
          <a:xfrm>
            <a:off x="1523062" y="1260791"/>
            <a:ext cx="4215815" cy="5111132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7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5763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00666" y="271687"/>
            <a:ext cx="11091333" cy="754878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sz="quarter" idx="10"/>
          </p:nvPr>
        </p:nvSpPr>
        <p:spPr>
          <a:xfrm>
            <a:off x="7430701" y="3455702"/>
            <a:ext cx="4206241" cy="2771842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9725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23406" y="267342"/>
            <a:ext cx="11068593" cy="754878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11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25074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63078"/>
            <a:ext cx="11094720" cy="754878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5" name="Місце для зображення 4"/>
          <p:cNvSpPr>
            <a:spLocks noGrp="1"/>
          </p:cNvSpPr>
          <p:nvPr>
            <p:ph type="pic" sz="quarter" idx="10"/>
          </p:nvPr>
        </p:nvSpPr>
        <p:spPr>
          <a:xfrm>
            <a:off x="907683" y="1385937"/>
            <a:ext cx="3731694" cy="3022433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9" name="Місце для зображення 8"/>
          <p:cNvSpPr>
            <a:spLocks noGrp="1"/>
          </p:cNvSpPr>
          <p:nvPr>
            <p:ph type="pic" sz="quarter" idx="11"/>
          </p:nvPr>
        </p:nvSpPr>
        <p:spPr>
          <a:xfrm>
            <a:off x="7577990" y="1385937"/>
            <a:ext cx="3731694" cy="3022433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11" name="Місце для тексту 10"/>
          <p:cNvSpPr>
            <a:spLocks noGrp="1"/>
          </p:cNvSpPr>
          <p:nvPr>
            <p:ph type="body" sz="quarter" idx="12"/>
          </p:nvPr>
        </p:nvSpPr>
        <p:spPr>
          <a:xfrm>
            <a:off x="907683" y="4649387"/>
            <a:ext cx="3730625" cy="155890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12" name="Місце для тексту 10"/>
          <p:cNvSpPr>
            <a:spLocks noGrp="1"/>
          </p:cNvSpPr>
          <p:nvPr>
            <p:ph type="body" sz="quarter" idx="13"/>
          </p:nvPr>
        </p:nvSpPr>
        <p:spPr>
          <a:xfrm>
            <a:off x="7577990" y="4649387"/>
            <a:ext cx="3730625" cy="155890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13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9846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quarter" idx="10"/>
          </p:nvPr>
        </p:nvSpPr>
        <p:spPr>
          <a:xfrm>
            <a:off x="7279605" y="1260791"/>
            <a:ext cx="4511341" cy="5111132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зображення 5"/>
          <p:cNvSpPr>
            <a:spLocks noGrp="1"/>
          </p:cNvSpPr>
          <p:nvPr>
            <p:ph type="pic" sz="quarter" idx="11"/>
          </p:nvPr>
        </p:nvSpPr>
        <p:spPr>
          <a:xfrm>
            <a:off x="1523062" y="1260791"/>
            <a:ext cx="4215815" cy="5111132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7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6961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00666" y="271687"/>
            <a:ext cx="11091333" cy="754878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sz="quarter" idx="10"/>
          </p:nvPr>
        </p:nvSpPr>
        <p:spPr>
          <a:xfrm>
            <a:off x="7430701" y="3455702"/>
            <a:ext cx="4206241" cy="2771842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3469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23406" y="267342"/>
            <a:ext cx="11068593" cy="754878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11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6067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63078"/>
            <a:ext cx="11094720" cy="754878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5" name="Місце для зображення 4"/>
          <p:cNvSpPr>
            <a:spLocks noGrp="1"/>
          </p:cNvSpPr>
          <p:nvPr>
            <p:ph type="pic" sz="quarter" idx="10"/>
          </p:nvPr>
        </p:nvSpPr>
        <p:spPr>
          <a:xfrm>
            <a:off x="907683" y="1385937"/>
            <a:ext cx="3731694" cy="3022433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9" name="Місце для зображення 8"/>
          <p:cNvSpPr>
            <a:spLocks noGrp="1"/>
          </p:cNvSpPr>
          <p:nvPr>
            <p:ph type="pic" sz="quarter" idx="11"/>
          </p:nvPr>
        </p:nvSpPr>
        <p:spPr>
          <a:xfrm>
            <a:off x="7577990" y="1385937"/>
            <a:ext cx="3731694" cy="3022433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11" name="Місце для тексту 10"/>
          <p:cNvSpPr>
            <a:spLocks noGrp="1"/>
          </p:cNvSpPr>
          <p:nvPr>
            <p:ph type="body" sz="quarter" idx="12"/>
          </p:nvPr>
        </p:nvSpPr>
        <p:spPr>
          <a:xfrm>
            <a:off x="907683" y="4649387"/>
            <a:ext cx="3730625" cy="155890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12" name="Місце для тексту 10"/>
          <p:cNvSpPr>
            <a:spLocks noGrp="1"/>
          </p:cNvSpPr>
          <p:nvPr>
            <p:ph type="body" sz="quarter" idx="13"/>
          </p:nvPr>
        </p:nvSpPr>
        <p:spPr>
          <a:xfrm>
            <a:off x="7577990" y="4649387"/>
            <a:ext cx="3730625" cy="155890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13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31289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quarter" idx="10"/>
          </p:nvPr>
        </p:nvSpPr>
        <p:spPr>
          <a:xfrm>
            <a:off x="7279605" y="1260791"/>
            <a:ext cx="4511341" cy="5111132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зображення 5"/>
          <p:cNvSpPr>
            <a:spLocks noGrp="1"/>
          </p:cNvSpPr>
          <p:nvPr>
            <p:ph type="pic" sz="quarter" idx="11"/>
          </p:nvPr>
        </p:nvSpPr>
        <p:spPr>
          <a:xfrm>
            <a:off x="1523062" y="1260791"/>
            <a:ext cx="4215815" cy="5111132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7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60252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00666" y="271687"/>
            <a:ext cx="11091333" cy="754878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sz="quarter" idx="10"/>
          </p:nvPr>
        </p:nvSpPr>
        <p:spPr>
          <a:xfrm>
            <a:off x="7430701" y="3455702"/>
            <a:ext cx="4206241" cy="2771842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4104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кутник 11"/>
          <p:cNvSpPr/>
          <p:nvPr userDrawn="1"/>
        </p:nvSpPr>
        <p:spPr>
          <a:xfrm>
            <a:off x="-5932" y="139876"/>
            <a:ext cx="12191999" cy="6703409"/>
          </a:xfrm>
          <a:prstGeom prst="rect">
            <a:avLst/>
          </a:prstGeom>
          <a:gradFill flip="none" rotWithShape="1">
            <a:gsLst>
              <a:gs pos="100000">
                <a:srgbClr val="C00000">
                  <a:alpha val="10000"/>
                </a:srgbClr>
              </a:gs>
              <a:gs pos="0">
                <a:srgbClr val="28B3BD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tka Display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 userDrawn="1"/>
        </p:nvSpPr>
        <p:spPr>
          <a:xfrm>
            <a:off x="-11865" y="1851126"/>
            <a:ext cx="52666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 </a:t>
            </a: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Кафедра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28B3BD"/>
              </a:solidFill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Фізики Металів</a:t>
            </a:r>
          </a:p>
        </p:txBody>
      </p:sp>
      <p:pic>
        <p:nvPicPr>
          <p:cNvPr id="37" name="Google Shape;60;p13" descr="D:\Maks\BrandBook_KNU\Presentation\Корпус_панорама.jpg"/>
          <p:cNvPicPr preferRelativeResize="0">
            <a:picLocks noChangeAspect="1"/>
          </p:cNvPicPr>
          <p:nvPr userDrawn="1"/>
        </p:nvPicPr>
        <p:blipFill rotWithShape="1">
          <a:blip r:embed="rId3"/>
          <a:srcRect t="3214" b="29060"/>
          <a:stretch/>
        </p:blipFill>
        <p:spPr>
          <a:xfrm>
            <a:off x="0" y="0"/>
            <a:ext cx="12192000" cy="139732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6" y="1851126"/>
            <a:ext cx="936000" cy="934485"/>
          </a:xfrm>
          <a:prstGeom prst="rect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 userDrawn="1"/>
        </p:nvSpPr>
        <p:spPr>
          <a:xfrm>
            <a:off x="6910061" y="1816526"/>
            <a:ext cx="52666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 </a:t>
            </a: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Кафедра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Загальної Фізики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069" y="1849611"/>
            <a:ext cx="931840" cy="936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/>
          <p:cNvSpPr txBox="1"/>
          <p:nvPr userDrawn="1"/>
        </p:nvSpPr>
        <p:spPr>
          <a:xfrm>
            <a:off x="0" y="4547661"/>
            <a:ext cx="12192000" cy="2308324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7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«Фізика </a:t>
            </a:r>
            <a:r>
              <a:rPr kumimoji="0" lang="uk-UA" sz="72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наноструктур</a:t>
            </a:r>
            <a:r>
              <a:rPr kumimoji="0" lang="uk-UA" sz="7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в металах та кераміках»</a:t>
            </a:r>
          </a:p>
        </p:txBody>
      </p:sp>
    </p:spTree>
    <p:extLst>
      <p:ext uri="{BB962C8B-B14F-4D97-AF65-F5344CB8AC3E}">
        <p14:creationId xmlns:p14="http://schemas.microsoft.com/office/powerpoint/2010/main" val="21884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1" kern="1200" spc="-50" baseline="0">
          <a:solidFill>
            <a:srgbClr val="86001A"/>
          </a:solidFill>
          <a:latin typeface="Sitka Text" panose="02000505000000020004" pitchFamily="2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/>
          <p:nvPr userDrawn="1"/>
        </p:nvSpPr>
        <p:spPr>
          <a:xfrm rot="10800000">
            <a:off x="-4" y="-10026"/>
            <a:ext cx="12192001" cy="25385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002060"/>
              </a:gs>
            </a:gsLst>
            <a:lin ang="10800000" scaled="0"/>
            <a:tileRect/>
          </a:gradFill>
          <a:ln>
            <a:noFill/>
          </a:ln>
          <a:effectLst>
            <a:outerShdw blurRad="101600" dist="101600" dir="5400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43826"/>
            <a:ext cx="11094719" cy="7851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 dirty="0"/>
              <a:t>Редагувати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sp>
        <p:nvSpPr>
          <p:cNvPr id="14" name="Rectangle 8"/>
          <p:cNvSpPr/>
          <p:nvPr userDrawn="1"/>
        </p:nvSpPr>
        <p:spPr>
          <a:xfrm rot="10800000">
            <a:off x="-6" y="6685828"/>
            <a:ext cx="12192001" cy="17217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2060"/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Пряма сполучна лінія 5"/>
          <p:cNvCxnSpPr/>
          <p:nvPr userDrawn="1"/>
        </p:nvCxnSpPr>
        <p:spPr>
          <a:xfrm>
            <a:off x="914400" y="1181399"/>
            <a:ext cx="10607040" cy="0"/>
          </a:xfrm>
          <a:prstGeom prst="line">
            <a:avLst/>
          </a:prstGeom>
          <a:ln w="38100" cmpd="dbl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08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800" b="1" kern="1200" spc="-50" baseline="0">
          <a:solidFill>
            <a:srgbClr val="86001A"/>
          </a:solidFill>
          <a:latin typeface="Sitka Text" panose="02000505000000020004" pitchFamily="2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43826"/>
            <a:ext cx="11094719" cy="7851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 dirty="0"/>
              <a:t>Редагувати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140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800" b="1" kern="1200" spc="-50" baseline="0">
          <a:solidFill>
            <a:srgbClr val="86001A"/>
          </a:solidFill>
          <a:latin typeface="Sitka Text" panose="02000505000000020004" pitchFamily="2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/>
          <p:nvPr userDrawn="1"/>
        </p:nvSpPr>
        <p:spPr>
          <a:xfrm rot="10800000">
            <a:off x="-3" y="-10025"/>
            <a:ext cx="12192001" cy="253851"/>
          </a:xfrm>
          <a:prstGeom prst="rect">
            <a:avLst/>
          </a:prstGeom>
          <a:gradFill flip="none" rotWithShape="1">
            <a:gsLst>
              <a:gs pos="97000">
                <a:schemeClr val="bg1"/>
              </a:gs>
              <a:gs pos="32000">
                <a:srgbClr val="28B3BD"/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-1" y="6666156"/>
            <a:ext cx="12192001" cy="200582"/>
          </a:xfrm>
          <a:prstGeom prst="rect">
            <a:avLst/>
          </a:prstGeom>
          <a:gradFill flip="none" rotWithShape="1">
            <a:gsLst>
              <a:gs pos="97000">
                <a:schemeClr val="bg1"/>
              </a:gs>
              <a:gs pos="32000">
                <a:srgbClr val="28B3BD"/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43826"/>
            <a:ext cx="11094719" cy="7851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 dirty="0"/>
              <a:t>Редагувати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400007" y="1040889"/>
            <a:ext cx="10410191" cy="19672"/>
          </a:xfrm>
          <a:prstGeom prst="line">
            <a:avLst/>
          </a:prstGeom>
          <a:ln w="34925">
            <a:solidFill>
              <a:srgbClr val="28B3BD">
                <a:alpha val="60000"/>
              </a:srgbClr>
            </a:solidFill>
          </a:ln>
          <a:effectLst>
            <a:outerShdw blurRad="50800" dist="63500" dir="5400000" sx="103000" sy="103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0" y="757448"/>
            <a:ext cx="1008000" cy="1006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Прямокутник із двома вирізаними протилежними кутами 24"/>
          <p:cNvSpPr/>
          <p:nvPr userDrawn="1"/>
        </p:nvSpPr>
        <p:spPr>
          <a:xfrm rot="5400000">
            <a:off x="10186517" y="4824522"/>
            <a:ext cx="327697" cy="3683267"/>
          </a:xfrm>
          <a:prstGeom prst="snip2DiagRect">
            <a:avLst>
              <a:gd name="adj1" fmla="val 0"/>
              <a:gd name="adj2" fmla="val 50000"/>
            </a:avLst>
          </a:prstGeom>
          <a:solidFill>
            <a:srgbClr val="28B3BD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www.metphys.knu.ua</a:t>
            </a:r>
            <a:endParaRPr lang="uk-U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CD6-723E-45EF-A03F-FB0CBF633648}" type="slidenum">
              <a:rPr lang="uk-UA" smtClean="0"/>
              <a:pPr/>
              <a:t>‹№›</a:t>
            </a:fld>
            <a:endParaRPr lang="uk-UA" dirty="0"/>
          </a:p>
        </p:txBody>
      </p:sp>
      <p:sp>
        <p:nvSpPr>
          <p:cNvPr id="4" name="Прямокутник 3"/>
          <p:cNvSpPr/>
          <p:nvPr userDrawn="1"/>
        </p:nvSpPr>
        <p:spPr>
          <a:xfrm>
            <a:off x="8426244" y="6673931"/>
            <a:ext cx="206479" cy="165905"/>
          </a:xfrm>
          <a:prstGeom prst="rect">
            <a:avLst/>
          </a:prstGeom>
          <a:solidFill>
            <a:srgbClr val="28B3BD"/>
          </a:solidFill>
          <a:ln>
            <a:solidFill>
              <a:srgbClr val="28B3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36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800" b="1" kern="1200" spc="-50" baseline="0">
          <a:solidFill>
            <a:srgbClr val="86001A"/>
          </a:solidFill>
          <a:latin typeface="Sitka Text" panose="02000505000000020004" pitchFamily="2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/>
          <p:cNvSpPr/>
          <p:nvPr userDrawn="1"/>
        </p:nvSpPr>
        <p:spPr>
          <a:xfrm rot="10800000">
            <a:off x="-2" y="0"/>
            <a:ext cx="12192001" cy="6867432"/>
          </a:xfrm>
          <a:prstGeom prst="rect">
            <a:avLst/>
          </a:prstGeom>
          <a:solidFill>
            <a:srgbClr val="28B3BD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4"/>
          </p:nvPr>
        </p:nvSpPr>
        <p:spPr>
          <a:xfrm>
            <a:off x="9625" y="6420051"/>
            <a:ext cx="702644" cy="447381"/>
          </a:xfrm>
          <a:prstGeom prst="rect">
            <a:avLst/>
          </a:prstGeom>
          <a:solidFill>
            <a:srgbClr val="28B3BD">
              <a:alpha val="10000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737CD6-723E-45EF-A03F-FB0CBF633648}" type="slidenum">
              <a:rPr kumimoji="0" lang="uk-UA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Sitka Display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‹№›</a:t>
            </a:fld>
            <a:endParaRPr kumimoji="0" lang="uk-UA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Sitka Display"/>
              <a:ea typeface="+mn-ea"/>
              <a:cs typeface="+mn-c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" r="40625" b="1649"/>
          <a:stretch/>
        </p:blipFill>
        <p:spPr>
          <a:xfrm>
            <a:off x="9043662" y="0"/>
            <a:ext cx="3148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3426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800" b="1" kern="1200" spc="-50" baseline="0">
          <a:solidFill>
            <a:srgbClr val="86001A"/>
          </a:solidFill>
          <a:latin typeface="Sitka Text" panose="02000505000000020004" pitchFamily="2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ebp"/><Relationship Id="rId2" Type="http://schemas.openxmlformats.org/officeDocument/2006/relationships/image" Target="../media/image12.webp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hyperlink" Target="http://www.gen.phys.knu.ua/" TargetMode="External"/><Relationship Id="rId10" Type="http://schemas.openxmlformats.org/officeDocument/2006/relationships/hyperlink" Target="mailto:mykolaborovyi@knu.ua" TargetMode="External"/><Relationship Id="rId4" Type="http://schemas.openxmlformats.org/officeDocument/2006/relationships/hyperlink" Target="http://www.metphys.knu.ua/" TargetMode="External"/><Relationship Id="rId9" Type="http://schemas.openxmlformats.org/officeDocument/2006/relationships/hyperlink" Target="mailto:metphys@univ.net.u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олілінія 38"/>
          <p:cNvSpPr/>
          <p:nvPr/>
        </p:nvSpPr>
        <p:spPr>
          <a:xfrm>
            <a:off x="-27296" y="-27296"/>
            <a:ext cx="8161362" cy="6905768"/>
          </a:xfrm>
          <a:custGeom>
            <a:avLst/>
            <a:gdLst>
              <a:gd name="connsiteX0" fmla="*/ 0 w 8161362"/>
              <a:gd name="connsiteY0" fmla="*/ 0 h 6905768"/>
              <a:gd name="connsiteX1" fmla="*/ 8161362 w 8161362"/>
              <a:gd name="connsiteY1" fmla="*/ 0 h 6905768"/>
              <a:gd name="connsiteX2" fmla="*/ 4094329 w 8161362"/>
              <a:gd name="connsiteY2" fmla="*/ 6905768 h 6905768"/>
              <a:gd name="connsiteX3" fmla="*/ 13648 w 8161362"/>
              <a:gd name="connsiteY3" fmla="*/ 6905768 h 6905768"/>
              <a:gd name="connsiteX4" fmla="*/ 0 w 8161362"/>
              <a:gd name="connsiteY4" fmla="*/ 0 h 690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61362" h="6905768">
                <a:moveTo>
                  <a:pt x="0" y="0"/>
                </a:moveTo>
                <a:lnTo>
                  <a:pt x="8161362" y="0"/>
                </a:lnTo>
                <a:lnTo>
                  <a:pt x="4094329" y="6905768"/>
                </a:lnTo>
                <a:lnTo>
                  <a:pt x="13648" y="6905768"/>
                </a:lnTo>
                <a:cubicBezTo>
                  <a:pt x="9099" y="4608395"/>
                  <a:pt x="4549" y="2311021"/>
                  <a:pt x="0" y="0"/>
                </a:cubicBezTo>
                <a:close/>
              </a:path>
            </a:pathLst>
          </a:custGeom>
          <a:solidFill>
            <a:srgbClr val="28B3BD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0" name="Полілінія 39"/>
          <p:cNvSpPr/>
          <p:nvPr/>
        </p:nvSpPr>
        <p:spPr>
          <a:xfrm>
            <a:off x="4080681" y="-13648"/>
            <a:ext cx="8120418" cy="6892120"/>
          </a:xfrm>
          <a:custGeom>
            <a:avLst/>
            <a:gdLst>
              <a:gd name="connsiteX0" fmla="*/ 0 w 8120418"/>
              <a:gd name="connsiteY0" fmla="*/ 6892120 h 6892120"/>
              <a:gd name="connsiteX1" fmla="*/ 4012441 w 8120418"/>
              <a:gd name="connsiteY1" fmla="*/ 0 h 6892120"/>
              <a:gd name="connsiteX2" fmla="*/ 8120418 w 8120418"/>
              <a:gd name="connsiteY2" fmla="*/ 0 h 6892120"/>
              <a:gd name="connsiteX3" fmla="*/ 8106770 w 8120418"/>
              <a:gd name="connsiteY3" fmla="*/ 6878472 h 6892120"/>
              <a:gd name="connsiteX4" fmla="*/ 0 w 8120418"/>
              <a:gd name="connsiteY4" fmla="*/ 6892120 h 689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0418" h="6892120">
                <a:moveTo>
                  <a:pt x="0" y="6892120"/>
                </a:moveTo>
                <a:lnTo>
                  <a:pt x="4012441" y="0"/>
                </a:lnTo>
                <a:lnTo>
                  <a:pt x="8120418" y="0"/>
                </a:lnTo>
                <a:cubicBezTo>
                  <a:pt x="8115869" y="2292824"/>
                  <a:pt x="8111319" y="4585648"/>
                  <a:pt x="8106770" y="6878472"/>
                </a:cubicBezTo>
                <a:lnTo>
                  <a:pt x="0" y="6892120"/>
                </a:lnTo>
                <a:close/>
              </a:path>
            </a:pathLst>
          </a:cu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1" name="TextBox 40"/>
          <p:cNvSpPr txBox="1"/>
          <p:nvPr/>
        </p:nvSpPr>
        <p:spPr>
          <a:xfrm>
            <a:off x="332847" y="3563993"/>
            <a:ext cx="27226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К</a:t>
            </a:r>
            <a:r>
              <a:rPr kumimoji="0" lang="uk-UA" sz="4400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афедра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Ф</a:t>
            </a:r>
            <a:r>
              <a:rPr kumimoji="0" lang="uk-UA" sz="4400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ізики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М</a:t>
            </a:r>
            <a:r>
              <a:rPr kumimoji="0" lang="uk-UA" sz="4400" i="0" u="none" strike="noStrike" kern="1200" cap="none" spc="0" normalizeH="0" baseline="0" noProof="0" dirty="0">
                <a:ln>
                  <a:noFill/>
                </a:ln>
                <a:solidFill>
                  <a:srgbClr val="28B3BD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еталів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1976" y="3572530"/>
            <a:ext cx="30801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К</a:t>
            </a:r>
            <a:r>
              <a:rPr kumimoji="0" lang="uk-UA" sz="440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афедра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З</a:t>
            </a:r>
            <a:r>
              <a:rPr kumimoji="0" lang="uk-UA" sz="440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агальної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Ф</a:t>
            </a:r>
            <a:r>
              <a:rPr kumimoji="0" lang="uk-UA" sz="440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itka Text" panose="02000505000000020004" pitchFamily="2" charset="0"/>
                <a:cs typeface="Arial" panose="020B0604020202020204" pitchFamily="34" charset="0"/>
              </a:rPr>
              <a:t>ізики</a:t>
            </a:r>
          </a:p>
        </p:txBody>
      </p:sp>
      <p:sp>
        <p:nvSpPr>
          <p:cNvPr id="51" name="Овал 50"/>
          <p:cNvSpPr/>
          <p:nvPr/>
        </p:nvSpPr>
        <p:spPr>
          <a:xfrm>
            <a:off x="1010683" y="2141372"/>
            <a:ext cx="1440000" cy="1440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000" b="1" dirty="0">
              <a:solidFill>
                <a:srgbClr val="002060"/>
              </a:solidFill>
              <a:latin typeface="Sitka Text" panose="02000505000000020004" pitchFamily="2" charset="0"/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9735890" y="2161119"/>
            <a:ext cx="1440000" cy="1440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000" b="1" dirty="0">
              <a:solidFill>
                <a:srgbClr val="002060"/>
              </a:solidFill>
              <a:latin typeface="Sitka Text" panose="02000505000000020004" pitchFamily="2" charset="0"/>
            </a:endParaRPr>
          </a:p>
        </p:txBody>
      </p:sp>
      <p:sp>
        <p:nvSpPr>
          <p:cNvPr id="46" name="Прямокутник 45"/>
          <p:cNvSpPr/>
          <p:nvPr/>
        </p:nvSpPr>
        <p:spPr>
          <a:xfrm>
            <a:off x="4736664" y="3057060"/>
            <a:ext cx="2768707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itka Text" panose="02000505000000020004" pitchFamily="2" charset="0"/>
              </a:rPr>
              <a:t>ФІЗИКА</a:t>
            </a:r>
          </a:p>
        </p:txBody>
      </p:sp>
      <p:sp>
        <p:nvSpPr>
          <p:cNvPr id="47" name="Прямокутник 46"/>
          <p:cNvSpPr/>
          <p:nvPr/>
        </p:nvSpPr>
        <p:spPr>
          <a:xfrm>
            <a:off x="3695300" y="4054613"/>
            <a:ext cx="4923143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itka Text" panose="02000505000000020004" pitchFamily="2" charset="0"/>
              </a:rPr>
              <a:t>НАНОСИСТЕМ</a:t>
            </a:r>
          </a:p>
        </p:txBody>
      </p:sp>
      <p:cxnSp>
        <p:nvCxnSpPr>
          <p:cNvPr id="24" name="Пряма сполучна лінія 23"/>
          <p:cNvCxnSpPr/>
          <p:nvPr/>
        </p:nvCxnSpPr>
        <p:spPr>
          <a:xfrm>
            <a:off x="1717321" y="2855212"/>
            <a:ext cx="2058151" cy="74590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Рисунок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83" y="2166148"/>
            <a:ext cx="1389600" cy="1387358"/>
          </a:xfrm>
          <a:prstGeom prst="rect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cxnSp>
        <p:nvCxnSpPr>
          <p:cNvPr id="20" name="Пряма сполучна лінія 19"/>
          <p:cNvCxnSpPr/>
          <p:nvPr/>
        </p:nvCxnSpPr>
        <p:spPr>
          <a:xfrm flipV="1">
            <a:off x="8427129" y="2843925"/>
            <a:ext cx="2107926" cy="813963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Рисунок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148" y="2182930"/>
            <a:ext cx="1383424" cy="13896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48" name="Google Shape;60;p13" descr="D:\Maks\BrandBook_KNU\Presentation\Корпус_панорама.jpg"/>
          <p:cNvPicPr preferRelativeResize="0">
            <a:picLocks noChangeAspect="1"/>
          </p:cNvPicPr>
          <p:nvPr/>
        </p:nvPicPr>
        <p:blipFill rotWithShape="1">
          <a:blip r:embed="rId4"/>
          <a:srcRect t="3214" b="13089"/>
          <a:stretch/>
        </p:blipFill>
        <p:spPr>
          <a:xfrm>
            <a:off x="0" y="-13648"/>
            <a:ext cx="12242043" cy="176056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sp>
        <p:nvSpPr>
          <p:cNvPr id="45" name="Овал 44"/>
          <p:cNvSpPr/>
          <p:nvPr/>
        </p:nvSpPr>
        <p:spPr>
          <a:xfrm>
            <a:off x="3695300" y="1882693"/>
            <a:ext cx="4860000" cy="4860000"/>
          </a:xfrm>
          <a:prstGeom prst="ellipse">
            <a:avLst/>
          </a:prstGeom>
          <a:noFill/>
          <a:ln w="57150">
            <a:solidFill>
              <a:srgbClr val="002060"/>
            </a:solidFill>
          </a:ln>
          <a:effectLst>
            <a:glow rad="482600">
              <a:srgbClr val="0070C0">
                <a:alpha val="34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000" b="1" dirty="0">
              <a:solidFill>
                <a:srgbClr val="002060"/>
              </a:solidFill>
              <a:latin typeface="Sitka Tex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98476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AC74-D8F4-4486-4E65-3936B8F6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4DA6E70-456D-A322-50FA-17816617E8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70145" y="3499149"/>
            <a:ext cx="3054051" cy="305405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8E371338-95E3-90A5-5D1A-3AAF34F20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876803"/>
          </a:xfrm>
        </p:spPr>
        <p:txBody>
          <a:bodyPr>
            <a:normAutofit fontScale="90000"/>
          </a:bodyPr>
          <a:lstStyle/>
          <a:p>
            <a:r>
              <a:rPr lang="uk-UA" sz="3600" dirty="0">
                <a:solidFill>
                  <a:srgbClr val="002060"/>
                </a:solidFill>
                <a:sym typeface="Montserrat"/>
              </a:rPr>
              <a:t>ЗАКУПІВЛІ НОВОГО ОБЛАДНАННЯ</a:t>
            </a:r>
            <a:br>
              <a:rPr lang="uk-UA" sz="3600" dirty="0">
                <a:solidFill>
                  <a:srgbClr val="002060"/>
                </a:solidFill>
                <a:sym typeface="Montserrat"/>
              </a:rPr>
            </a:br>
            <a:r>
              <a:rPr lang="en-US" sz="3600" dirty="0">
                <a:solidFill>
                  <a:srgbClr val="002060"/>
                </a:solidFill>
              </a:rPr>
              <a:t>2021 – 202</a:t>
            </a:r>
            <a:r>
              <a:rPr lang="uk-UA" sz="3600" dirty="0">
                <a:solidFill>
                  <a:srgbClr val="002060"/>
                </a:solidFill>
              </a:rPr>
              <a:t>5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uk-UA" sz="3600" dirty="0">
                <a:solidFill>
                  <a:srgbClr val="002060"/>
                </a:solidFill>
              </a:rPr>
              <a:t>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B45033-EB47-6486-853E-4ED80AADF020}"/>
              </a:ext>
            </a:extLst>
          </p:cNvPr>
          <p:cNvSpPr txBox="1"/>
          <p:nvPr/>
        </p:nvSpPr>
        <p:spPr>
          <a:xfrm>
            <a:off x="7541342" y="3120421"/>
            <a:ext cx="3208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1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194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 тис. грн.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3DDF3-DA33-EABE-1AF3-6A9A63A898D9}"/>
              </a:ext>
            </a:extLst>
          </p:cNvPr>
          <p:cNvSpPr txBox="1"/>
          <p:nvPr/>
        </p:nvSpPr>
        <p:spPr>
          <a:xfrm>
            <a:off x="373983" y="4357944"/>
            <a:ext cx="5451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3600" b="1" dirty="0">
                <a:solidFill>
                  <a:srgbClr val="082765"/>
                </a:solidFill>
              </a:rPr>
              <a:t>3-D принтер </a:t>
            </a:r>
            <a:r>
              <a:rPr lang="uk-UA" sz="3600" b="1" dirty="0" err="1">
                <a:solidFill>
                  <a:srgbClr val="082765"/>
                </a:solidFill>
              </a:rPr>
              <a:t>Anycubic</a:t>
            </a:r>
            <a:r>
              <a:rPr lang="uk-UA" sz="3600" b="1" dirty="0">
                <a:solidFill>
                  <a:srgbClr val="082765"/>
                </a:solidFill>
              </a:rPr>
              <a:t> </a:t>
            </a:r>
            <a:r>
              <a:rPr lang="uk-UA" sz="3600" b="1" dirty="0" err="1">
                <a:solidFill>
                  <a:srgbClr val="082765"/>
                </a:solidFill>
              </a:rPr>
              <a:t>Photon</a:t>
            </a:r>
            <a:r>
              <a:rPr lang="uk-UA" sz="3600" b="1" dirty="0">
                <a:solidFill>
                  <a:srgbClr val="082765"/>
                </a:solidFill>
              </a:rPr>
              <a:t> M3 </a:t>
            </a:r>
            <a:r>
              <a:rPr lang="uk-UA" sz="3600" b="1" dirty="0" err="1">
                <a:solidFill>
                  <a:srgbClr val="082765"/>
                </a:solidFill>
              </a:rPr>
              <a:t>Plus</a:t>
            </a:r>
            <a:r>
              <a:rPr lang="uk-UA" sz="3600" b="1" dirty="0">
                <a:solidFill>
                  <a:srgbClr val="082765"/>
                </a:solidFill>
              </a:rPr>
              <a:t>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E6332-FDA1-1C53-BFDC-DB9ED3C5E51B}"/>
              </a:ext>
            </a:extLst>
          </p:cNvPr>
          <p:cNvSpPr txBox="1"/>
          <p:nvPr/>
        </p:nvSpPr>
        <p:spPr>
          <a:xfrm>
            <a:off x="1834501" y="5621183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38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 тис. грн.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983334-C55A-89AC-468E-A9BE7AF09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36" y="1236817"/>
            <a:ext cx="4402583" cy="292230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60F7EA8-E8AB-D0B1-5DAD-9FBF9E04EC71}"/>
              </a:ext>
            </a:extLst>
          </p:cNvPr>
          <p:cNvSpPr txBox="1"/>
          <p:nvPr/>
        </p:nvSpPr>
        <p:spPr>
          <a:xfrm>
            <a:off x="5086454" y="1299727"/>
            <a:ext cx="69973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uk-UA" sz="3600" b="1" dirty="0">
                <a:solidFill>
                  <a:srgbClr val="082765"/>
                </a:solidFill>
              </a:rPr>
              <a:t>Аналізатор розміру та дзета-потенціалу </a:t>
            </a:r>
            <a:r>
              <a:rPr lang="uk-UA" sz="3600" b="1" dirty="0" err="1">
                <a:solidFill>
                  <a:srgbClr val="082765"/>
                </a:solidFill>
              </a:rPr>
              <a:t>наночастинок</a:t>
            </a:r>
            <a:r>
              <a:rPr lang="uk-UA" sz="3600" b="1" dirty="0">
                <a:solidFill>
                  <a:srgbClr val="082765"/>
                </a:solidFill>
              </a:rPr>
              <a:t> </a:t>
            </a:r>
            <a:r>
              <a:rPr lang="uk-UA" sz="3600" b="1" dirty="0" err="1">
                <a:solidFill>
                  <a:srgbClr val="082765"/>
                </a:solidFill>
              </a:rPr>
              <a:t>BeNano</a:t>
            </a:r>
            <a:r>
              <a:rPr lang="uk-UA" sz="3600" b="1" dirty="0">
                <a:solidFill>
                  <a:srgbClr val="082765"/>
                </a:solidFill>
              </a:rPr>
              <a:t> 90 </a:t>
            </a:r>
            <a:r>
              <a:rPr lang="uk-UA" sz="3600" b="1" dirty="0" err="1">
                <a:solidFill>
                  <a:srgbClr val="082765"/>
                </a:solidFill>
              </a:rPr>
              <a:t>Zet</a:t>
            </a:r>
            <a:r>
              <a:rPr lang="en-US" sz="3600" b="1" dirty="0">
                <a:solidFill>
                  <a:srgbClr val="082765"/>
                </a:solidFill>
              </a:rPr>
              <a:t>a</a:t>
            </a:r>
            <a:endParaRPr lang="fr-FR" sz="3600" b="1" dirty="0">
              <a:solidFill>
                <a:srgbClr val="0827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23755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2DFAD-E810-5F7E-9C7D-BEA66CD2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88549B15-DF25-4F24-DE59-C9C1FCC9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876803"/>
          </a:xfrm>
        </p:spPr>
        <p:txBody>
          <a:bodyPr>
            <a:normAutofit fontScale="90000"/>
          </a:bodyPr>
          <a:lstStyle/>
          <a:p>
            <a:r>
              <a:rPr lang="uk-UA" sz="3600" dirty="0">
                <a:solidFill>
                  <a:srgbClr val="002060"/>
                </a:solidFill>
                <a:sym typeface="Montserrat"/>
              </a:rPr>
              <a:t>ЗАКУПІВЛІ НОВОГО ОБЛАДНАННЯ</a:t>
            </a:r>
            <a:br>
              <a:rPr lang="uk-UA" sz="3600" dirty="0">
                <a:solidFill>
                  <a:srgbClr val="002060"/>
                </a:solidFill>
                <a:sym typeface="Montserrat"/>
              </a:rPr>
            </a:br>
            <a:r>
              <a:rPr lang="en-US" sz="3600" dirty="0">
                <a:solidFill>
                  <a:srgbClr val="002060"/>
                </a:solidFill>
              </a:rPr>
              <a:t>2021 – 202</a:t>
            </a:r>
            <a:r>
              <a:rPr lang="uk-UA" sz="3600" dirty="0">
                <a:solidFill>
                  <a:srgbClr val="002060"/>
                </a:solidFill>
              </a:rPr>
              <a:t>5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uk-UA" sz="3600" dirty="0">
                <a:solidFill>
                  <a:srgbClr val="002060"/>
                </a:solidFill>
              </a:rPr>
              <a:t>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D30B9A-A909-A0AC-6B5F-E4DDD3149E7E}"/>
              </a:ext>
            </a:extLst>
          </p:cNvPr>
          <p:cNvSpPr txBox="1"/>
          <p:nvPr/>
        </p:nvSpPr>
        <p:spPr>
          <a:xfrm>
            <a:off x="5063613" y="1204226"/>
            <a:ext cx="66369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>
                <a:solidFill>
                  <a:srgbClr val="002060"/>
                </a:solidFill>
              </a:rPr>
              <a:t>Прилад</a:t>
            </a:r>
            <a:r>
              <a:rPr lang="ru-RU" sz="3600" b="1" dirty="0">
                <a:solidFill>
                  <a:srgbClr val="002060"/>
                </a:solidFill>
              </a:rPr>
              <a:t> для </a:t>
            </a:r>
            <a:r>
              <a:rPr lang="ru-RU" sz="3600" b="1" dirty="0" err="1">
                <a:solidFill>
                  <a:srgbClr val="002060"/>
                </a:solidFill>
              </a:rPr>
              <a:t>вимірювання</a:t>
            </a:r>
            <a:r>
              <a:rPr lang="ru-RU" sz="3600" b="1" dirty="0">
                <a:solidFill>
                  <a:srgbClr val="002060"/>
                </a:solidFill>
              </a:rPr>
              <a:t> </a:t>
            </a:r>
            <a:r>
              <a:rPr lang="ru-RU" sz="3600" b="1" dirty="0" err="1">
                <a:solidFill>
                  <a:srgbClr val="002060"/>
                </a:solidFill>
              </a:rPr>
              <a:t>діелектричних</a:t>
            </a:r>
            <a:r>
              <a:rPr lang="ru-RU" sz="3600" b="1" dirty="0">
                <a:solidFill>
                  <a:srgbClr val="002060"/>
                </a:solidFill>
              </a:rPr>
              <a:t> </a:t>
            </a:r>
            <a:r>
              <a:rPr lang="ru-RU" sz="3600" b="1" dirty="0" err="1">
                <a:solidFill>
                  <a:srgbClr val="002060"/>
                </a:solidFill>
              </a:rPr>
              <a:t>характеристи</a:t>
            </a:r>
            <a:r>
              <a:rPr lang="uk-UA" sz="3600" b="1" dirty="0">
                <a:solidFill>
                  <a:srgbClr val="002060"/>
                </a:solidFill>
              </a:rPr>
              <a:t>к</a:t>
            </a:r>
            <a:r>
              <a:rPr lang="ru-RU" sz="3600" b="1" dirty="0">
                <a:solidFill>
                  <a:srgbClr val="002060"/>
                </a:solidFill>
              </a:rPr>
              <a:t> до 75 ГГц </a:t>
            </a:r>
            <a:r>
              <a:rPr lang="en-US" sz="3600" b="1" dirty="0" err="1">
                <a:solidFill>
                  <a:srgbClr val="002060"/>
                </a:solidFill>
              </a:rPr>
              <a:t>PNA</a:t>
            </a:r>
            <a:r>
              <a:rPr lang="en-US" sz="3600" b="1" dirty="0">
                <a:solidFill>
                  <a:srgbClr val="002060"/>
                </a:solidFill>
              </a:rPr>
              <a:t> Network Analyzer SeriesN5227A </a:t>
            </a:r>
            <a:r>
              <a:rPr lang="en-US" sz="3600" b="1" dirty="0">
                <a:solidFill>
                  <a:srgbClr val="FF0000"/>
                </a:solidFill>
              </a:rPr>
              <a:t> </a:t>
            </a:r>
            <a:endParaRPr lang="fr-FR" sz="3600" b="1" dirty="0">
              <a:solidFill>
                <a:srgbClr val="08276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272E53-EC83-679A-E56A-286C22077351}"/>
              </a:ext>
            </a:extLst>
          </p:cNvPr>
          <p:cNvSpPr txBox="1"/>
          <p:nvPr/>
        </p:nvSpPr>
        <p:spPr>
          <a:xfrm>
            <a:off x="6980903" y="3429000"/>
            <a:ext cx="3428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5 884 тис. грн.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2C496-4AFE-87C2-336F-BCA26FB06820}"/>
              </a:ext>
            </a:extLst>
          </p:cNvPr>
          <p:cNvSpPr txBox="1"/>
          <p:nvPr/>
        </p:nvSpPr>
        <p:spPr>
          <a:xfrm>
            <a:off x="436165" y="4535298"/>
            <a:ext cx="6112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002060"/>
                </a:solidFill>
              </a:rPr>
              <a:t>Генератор </a:t>
            </a:r>
            <a:r>
              <a:rPr lang="en-US" sz="3600" b="1" dirty="0">
                <a:solidFill>
                  <a:srgbClr val="002060"/>
                </a:solidFill>
              </a:rPr>
              <a:t>Tectonics AFG1022 </a:t>
            </a:r>
            <a:endParaRPr lang="uk-UA" sz="3600" b="1" dirty="0">
              <a:solidFill>
                <a:srgbClr val="08276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13E22-F8FE-87ED-539C-E6582CA9921C}"/>
              </a:ext>
            </a:extLst>
          </p:cNvPr>
          <p:cNvSpPr txBox="1"/>
          <p:nvPr/>
        </p:nvSpPr>
        <p:spPr>
          <a:xfrm>
            <a:off x="1828193" y="5483410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4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4 тис. грн.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08D567-CB31-2F7B-83B2-38938CEA69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16" t="13954" r="20484" b="12822"/>
          <a:stretch>
            <a:fillRect/>
          </a:stretch>
        </p:blipFill>
        <p:spPr>
          <a:xfrm>
            <a:off x="343361" y="1320139"/>
            <a:ext cx="4640227" cy="281735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8752FF-4BBF-B0ED-7BAD-FF9135939A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685" y="3869219"/>
            <a:ext cx="3968139" cy="276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8321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76CB8-B54B-F3BD-2B73-453504B9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00C06C72-6917-6D10-D6CA-15F389662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876803"/>
          </a:xfrm>
        </p:spPr>
        <p:txBody>
          <a:bodyPr>
            <a:normAutofit fontScale="90000"/>
          </a:bodyPr>
          <a:lstStyle/>
          <a:p>
            <a:r>
              <a:rPr lang="uk-UA" sz="3600" dirty="0">
                <a:solidFill>
                  <a:srgbClr val="002060"/>
                </a:solidFill>
                <a:sym typeface="Montserrat"/>
              </a:rPr>
              <a:t>ЗАКУПІВЛІ НОВОГО ОБЛАДНАННЯ</a:t>
            </a:r>
            <a:br>
              <a:rPr lang="uk-UA" sz="3600" dirty="0">
                <a:solidFill>
                  <a:srgbClr val="002060"/>
                </a:solidFill>
                <a:sym typeface="Montserrat"/>
              </a:rPr>
            </a:br>
            <a:r>
              <a:rPr lang="en-US" sz="3600" dirty="0">
                <a:solidFill>
                  <a:srgbClr val="002060"/>
                </a:solidFill>
              </a:rPr>
              <a:t>2021 – 202</a:t>
            </a:r>
            <a:r>
              <a:rPr lang="uk-UA" sz="3600" dirty="0">
                <a:solidFill>
                  <a:srgbClr val="002060"/>
                </a:solidFill>
              </a:rPr>
              <a:t>5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uk-UA" sz="3600" dirty="0">
                <a:solidFill>
                  <a:srgbClr val="002060"/>
                </a:solidFill>
              </a:rPr>
              <a:t>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52F4F4-7847-6AD5-B0BB-6D2DC02AA93C}"/>
              </a:ext>
            </a:extLst>
          </p:cNvPr>
          <p:cNvSpPr txBox="1"/>
          <p:nvPr/>
        </p:nvSpPr>
        <p:spPr>
          <a:xfrm>
            <a:off x="225681" y="1705137"/>
            <a:ext cx="5713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uk-UA" sz="3600" b="1" dirty="0">
                <a:solidFill>
                  <a:srgbClr val="082765"/>
                </a:solidFill>
              </a:rPr>
              <a:t>Синхронний підсилювач SR865A</a:t>
            </a:r>
            <a:endParaRPr lang="fr-FR" sz="3600" b="1" dirty="0">
              <a:solidFill>
                <a:srgbClr val="08276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F293DD-8706-D4B4-C012-9F0122BCEF03}"/>
              </a:ext>
            </a:extLst>
          </p:cNvPr>
          <p:cNvSpPr txBox="1"/>
          <p:nvPr/>
        </p:nvSpPr>
        <p:spPr>
          <a:xfrm>
            <a:off x="1608359" y="2949904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714 тис. грн.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6C5871-96BB-0417-BB83-D6F4AA35A8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684" y="1368311"/>
            <a:ext cx="6076598" cy="358385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003AC0-16BE-E264-83F0-2449EF8657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77" y="3727142"/>
            <a:ext cx="2463964" cy="28874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FBCDB8-4446-9004-8606-0204B176DB7A}"/>
              </a:ext>
            </a:extLst>
          </p:cNvPr>
          <p:cNvSpPr txBox="1"/>
          <p:nvPr/>
        </p:nvSpPr>
        <p:spPr>
          <a:xfrm>
            <a:off x="3082182" y="4524540"/>
            <a:ext cx="5451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600" b="1" dirty="0">
                <a:solidFill>
                  <a:srgbClr val="082765"/>
                </a:solidFill>
              </a:rPr>
              <a:t>Робоча станція </a:t>
            </a:r>
            <a:r>
              <a:rPr lang="en-US" sz="3600" b="1" dirty="0" err="1">
                <a:solidFill>
                  <a:srgbClr val="082765"/>
                </a:solidFill>
              </a:rPr>
              <a:t>Prologix</a:t>
            </a:r>
            <a:r>
              <a:rPr lang="en-US" sz="3600" b="1" dirty="0">
                <a:solidFill>
                  <a:srgbClr val="082765"/>
                </a:solidFill>
              </a:rPr>
              <a:t> </a:t>
            </a:r>
            <a:endParaRPr lang="uk-UA" sz="3600" b="1" dirty="0">
              <a:solidFill>
                <a:srgbClr val="08276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F6F8A-940D-43CD-287B-65D9CB4882B5}"/>
              </a:ext>
            </a:extLst>
          </p:cNvPr>
          <p:cNvSpPr txBox="1"/>
          <p:nvPr/>
        </p:nvSpPr>
        <p:spPr>
          <a:xfrm>
            <a:off x="4007430" y="5288995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106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 тис. грн.</a:t>
            </a:r>
          </a:p>
        </p:txBody>
      </p:sp>
    </p:spTree>
    <p:extLst>
      <p:ext uri="{BB962C8B-B14F-4D97-AF65-F5344CB8AC3E}">
        <p14:creationId xmlns:p14="http://schemas.microsoft.com/office/powerpoint/2010/main" val="359819622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E664-C179-6C91-7938-B43B91B45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637F3691-B918-4A33-EE61-EEEED6EB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876803"/>
          </a:xfrm>
        </p:spPr>
        <p:txBody>
          <a:bodyPr>
            <a:normAutofit fontScale="90000"/>
          </a:bodyPr>
          <a:lstStyle/>
          <a:p>
            <a:r>
              <a:rPr lang="uk-UA" sz="3600" dirty="0">
                <a:solidFill>
                  <a:srgbClr val="002060"/>
                </a:solidFill>
                <a:sym typeface="Montserrat"/>
              </a:rPr>
              <a:t>ЗАКУПІВЛІ НОВОГО ОБЛАДНАННЯ</a:t>
            </a:r>
            <a:br>
              <a:rPr lang="uk-UA" sz="3600" dirty="0">
                <a:solidFill>
                  <a:srgbClr val="002060"/>
                </a:solidFill>
                <a:sym typeface="Montserrat"/>
              </a:rPr>
            </a:br>
            <a:r>
              <a:rPr lang="en-US" sz="3600" dirty="0">
                <a:solidFill>
                  <a:srgbClr val="002060"/>
                </a:solidFill>
              </a:rPr>
              <a:t>2021 – 202</a:t>
            </a:r>
            <a:r>
              <a:rPr lang="uk-UA" sz="3600" dirty="0">
                <a:solidFill>
                  <a:srgbClr val="002060"/>
                </a:solidFill>
              </a:rPr>
              <a:t>5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uk-UA" sz="3600" dirty="0">
                <a:solidFill>
                  <a:srgbClr val="002060"/>
                </a:solidFill>
              </a:rPr>
              <a:t>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E6B335-11B3-28E5-397A-38D6A1C48E18}"/>
              </a:ext>
            </a:extLst>
          </p:cNvPr>
          <p:cNvSpPr txBox="1"/>
          <p:nvPr/>
        </p:nvSpPr>
        <p:spPr>
          <a:xfrm>
            <a:off x="5397606" y="1417149"/>
            <a:ext cx="5713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rgbClr val="082765"/>
                </a:solidFill>
              </a:rPr>
              <a:t>Source Measure Unit </a:t>
            </a:r>
            <a:r>
              <a:rPr lang="en-US" sz="3600" b="1" dirty="0">
                <a:solidFill>
                  <a:srgbClr val="082765"/>
                </a:solidFill>
              </a:rPr>
              <a:t>Keithley 2450</a:t>
            </a:r>
            <a:endParaRPr lang="fr-FR" sz="3600" b="1" dirty="0">
              <a:solidFill>
                <a:srgbClr val="08276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74DEED-2B63-9A66-5D7F-42B980E1C5A4}"/>
              </a:ext>
            </a:extLst>
          </p:cNvPr>
          <p:cNvSpPr txBox="1"/>
          <p:nvPr/>
        </p:nvSpPr>
        <p:spPr>
          <a:xfrm>
            <a:off x="6780285" y="2735602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301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 тис. грн.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8F256-15AE-D98C-D870-7E4E0CD4F8FD}"/>
              </a:ext>
            </a:extLst>
          </p:cNvPr>
          <p:cNvSpPr txBox="1"/>
          <p:nvPr/>
        </p:nvSpPr>
        <p:spPr>
          <a:xfrm>
            <a:off x="438371" y="4304607"/>
            <a:ext cx="5952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>
                <a:solidFill>
                  <a:srgbClr val="002060"/>
                </a:solidFill>
              </a:rPr>
              <a:t>Прецизійний</a:t>
            </a:r>
            <a:r>
              <a:rPr lang="ru-RU" sz="3600" b="1" dirty="0">
                <a:solidFill>
                  <a:srgbClr val="002060"/>
                </a:solidFill>
              </a:rPr>
              <a:t> мультиметр </a:t>
            </a:r>
            <a:r>
              <a:rPr lang="en-US" sz="3600" b="1" dirty="0">
                <a:solidFill>
                  <a:srgbClr val="002060"/>
                </a:solidFill>
              </a:rPr>
              <a:t>Keithley DMM6500 </a:t>
            </a:r>
            <a:endParaRPr lang="uk-UA" sz="3600" b="1" dirty="0">
              <a:solidFill>
                <a:srgbClr val="08276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3F01A-BA28-3FE6-AC34-A2C78751F911}"/>
              </a:ext>
            </a:extLst>
          </p:cNvPr>
          <p:cNvSpPr txBox="1"/>
          <p:nvPr/>
        </p:nvSpPr>
        <p:spPr>
          <a:xfrm>
            <a:off x="1690542" y="5390870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152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 тис. грн.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247A7B-0F37-199C-6587-7ADAF94A3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5" y="1238827"/>
            <a:ext cx="5331388" cy="28874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793DB4-170F-499D-4F6F-DEC207EC7B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772" y="3438501"/>
            <a:ext cx="4798838" cy="319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8346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72B3-43F8-2770-6585-4E0245CB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CF19236-28B2-38F6-DDBB-DA2DFD185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876803"/>
          </a:xfrm>
        </p:spPr>
        <p:txBody>
          <a:bodyPr>
            <a:normAutofit fontScale="90000"/>
          </a:bodyPr>
          <a:lstStyle/>
          <a:p>
            <a:r>
              <a:rPr lang="uk-UA" sz="3600" dirty="0">
                <a:solidFill>
                  <a:srgbClr val="002060"/>
                </a:solidFill>
                <a:sym typeface="Montserrat"/>
              </a:rPr>
              <a:t>ЗАКУПІВЛІ НОВОГО ОБЛАДНАННЯ</a:t>
            </a:r>
            <a:br>
              <a:rPr lang="uk-UA" sz="3600" dirty="0">
                <a:solidFill>
                  <a:srgbClr val="002060"/>
                </a:solidFill>
                <a:sym typeface="Montserrat"/>
              </a:rPr>
            </a:br>
            <a:r>
              <a:rPr lang="en-US" sz="3600" dirty="0">
                <a:solidFill>
                  <a:srgbClr val="002060"/>
                </a:solidFill>
              </a:rPr>
              <a:t>2021 – 202</a:t>
            </a:r>
            <a:r>
              <a:rPr lang="uk-UA" sz="3600" dirty="0">
                <a:solidFill>
                  <a:srgbClr val="002060"/>
                </a:solidFill>
              </a:rPr>
              <a:t>5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uk-UA" sz="3600" dirty="0">
                <a:solidFill>
                  <a:srgbClr val="002060"/>
                </a:solidFill>
              </a:rPr>
              <a:t>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361115-6582-CDB1-700C-A9EC1672F839}"/>
              </a:ext>
            </a:extLst>
          </p:cNvPr>
          <p:cNvSpPr txBox="1"/>
          <p:nvPr/>
        </p:nvSpPr>
        <p:spPr>
          <a:xfrm>
            <a:off x="5987541" y="1497656"/>
            <a:ext cx="5713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</a:rPr>
              <a:t>LRC </a:t>
            </a:r>
            <a:r>
              <a:rPr lang="ru-RU" sz="3600" b="1" dirty="0" err="1">
                <a:solidFill>
                  <a:srgbClr val="002060"/>
                </a:solidFill>
              </a:rPr>
              <a:t>вимірювач</a:t>
            </a:r>
            <a:r>
              <a:rPr lang="ru-RU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Sourcetronic</a:t>
            </a:r>
            <a:r>
              <a:rPr lang="en-US" sz="3600" b="1" dirty="0">
                <a:solidFill>
                  <a:srgbClr val="002060"/>
                </a:solidFill>
              </a:rPr>
              <a:t> ST2829C</a:t>
            </a:r>
            <a:endParaRPr lang="fr-FR" sz="3600" b="1" dirty="0">
              <a:solidFill>
                <a:srgbClr val="08276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48167A-2ED2-E4F2-F428-58A1414362F6}"/>
              </a:ext>
            </a:extLst>
          </p:cNvPr>
          <p:cNvSpPr txBox="1"/>
          <p:nvPr/>
        </p:nvSpPr>
        <p:spPr>
          <a:xfrm>
            <a:off x="7570044" y="2833416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268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 тис. грн.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FA6B5-EA4D-26BC-50D2-9536A36381C4}"/>
              </a:ext>
            </a:extLst>
          </p:cNvPr>
          <p:cNvSpPr txBox="1"/>
          <p:nvPr/>
        </p:nvSpPr>
        <p:spPr>
          <a:xfrm>
            <a:off x="396836" y="4349798"/>
            <a:ext cx="5952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3600" b="1" dirty="0" err="1">
                <a:solidFill>
                  <a:srgbClr val="002060"/>
                </a:solidFill>
              </a:rPr>
              <a:t>Регулюване</a:t>
            </a:r>
            <a:r>
              <a:rPr lang="uk-UA" sz="3600" b="1" dirty="0">
                <a:solidFill>
                  <a:srgbClr val="002060"/>
                </a:solidFill>
              </a:rPr>
              <a:t> джерело живлення </a:t>
            </a:r>
            <a:r>
              <a:rPr lang="en-US" sz="3600" b="1" dirty="0" err="1">
                <a:solidFill>
                  <a:srgbClr val="002060"/>
                </a:solidFill>
              </a:rPr>
              <a:t>ITECH</a:t>
            </a:r>
            <a:r>
              <a:rPr lang="en-US" sz="3600" b="1" dirty="0">
                <a:solidFill>
                  <a:srgbClr val="002060"/>
                </a:solidFill>
              </a:rPr>
              <a:t> IT6332 B</a:t>
            </a:r>
            <a:endParaRPr lang="uk-UA" sz="3600" b="1" dirty="0">
              <a:solidFill>
                <a:srgbClr val="08276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BA63C-F3C4-090E-1D1E-FACFCAE0755E}"/>
              </a:ext>
            </a:extLst>
          </p:cNvPr>
          <p:cNvSpPr txBox="1"/>
          <p:nvPr/>
        </p:nvSpPr>
        <p:spPr>
          <a:xfrm>
            <a:off x="1828193" y="5483410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43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 тис. грн.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62399B-3FED-AA7E-66F8-F081BAEDC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15" y="1437458"/>
            <a:ext cx="6059970" cy="259628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C7B0AC-AA8C-BD5B-57B3-AEC5F0056E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482" y="4033745"/>
            <a:ext cx="5244148" cy="232967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01E0908-7207-627F-0D15-D9CA7BF4E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3606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uk-UA" altLang="uk-U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uk-UA" altLang="uk-U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51103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8917E-700F-EABD-DC33-4D835885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D87DA146-827E-A548-03C4-2E9C9898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876803"/>
          </a:xfrm>
        </p:spPr>
        <p:txBody>
          <a:bodyPr>
            <a:normAutofit fontScale="90000"/>
          </a:bodyPr>
          <a:lstStyle/>
          <a:p>
            <a:r>
              <a:rPr lang="uk-UA" sz="3600" dirty="0">
                <a:solidFill>
                  <a:srgbClr val="002060"/>
                </a:solidFill>
                <a:sym typeface="Montserrat"/>
              </a:rPr>
              <a:t>ЗАКУПІВЛІ НОВОГО ОБЛАДНАННЯ</a:t>
            </a:r>
            <a:br>
              <a:rPr lang="uk-UA" sz="3600" dirty="0">
                <a:solidFill>
                  <a:srgbClr val="002060"/>
                </a:solidFill>
                <a:sym typeface="Montserrat"/>
              </a:rPr>
            </a:br>
            <a:r>
              <a:rPr lang="en-US" sz="3600" dirty="0">
                <a:solidFill>
                  <a:srgbClr val="002060"/>
                </a:solidFill>
              </a:rPr>
              <a:t>2021 – 202</a:t>
            </a:r>
            <a:r>
              <a:rPr lang="uk-UA" sz="3600" dirty="0">
                <a:solidFill>
                  <a:srgbClr val="002060"/>
                </a:solidFill>
              </a:rPr>
              <a:t>5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uk-UA" sz="3600" dirty="0">
                <a:solidFill>
                  <a:srgbClr val="002060"/>
                </a:solidFill>
              </a:rPr>
              <a:t>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9FDE9C-EAC0-D67E-2C4B-DF271CE91F55}"/>
              </a:ext>
            </a:extLst>
          </p:cNvPr>
          <p:cNvSpPr txBox="1"/>
          <p:nvPr/>
        </p:nvSpPr>
        <p:spPr>
          <a:xfrm>
            <a:off x="435558" y="1181603"/>
            <a:ext cx="4651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>
                <a:solidFill>
                  <a:srgbClr val="002060"/>
                </a:solidFill>
              </a:rPr>
              <a:t>Мікротвердомір</a:t>
            </a:r>
            <a:r>
              <a:rPr lang="ru-RU" sz="3600" b="1" dirty="0">
                <a:solidFill>
                  <a:srgbClr val="002060"/>
                </a:solidFill>
              </a:rPr>
              <a:t>  </a:t>
            </a:r>
          </a:p>
          <a:p>
            <a:pPr algn="ctr"/>
            <a:r>
              <a:rPr lang="en-US" sz="3600" b="1" dirty="0">
                <a:solidFill>
                  <a:srgbClr val="002060"/>
                </a:solidFill>
              </a:rPr>
              <a:t>LHVS-1000Z </a:t>
            </a:r>
            <a:endParaRPr lang="fr-FR" sz="3600" b="1" dirty="0">
              <a:solidFill>
                <a:srgbClr val="08276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810EBB-7A2B-0963-CCB2-C7E54A24E5FB}"/>
              </a:ext>
            </a:extLst>
          </p:cNvPr>
          <p:cNvSpPr txBox="1"/>
          <p:nvPr/>
        </p:nvSpPr>
        <p:spPr>
          <a:xfrm>
            <a:off x="1287722" y="2381932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420 тис. грн.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9FE95-8E36-6413-24D0-BB3D86D10EB6}"/>
              </a:ext>
            </a:extLst>
          </p:cNvPr>
          <p:cNvSpPr txBox="1"/>
          <p:nvPr/>
        </p:nvSpPr>
        <p:spPr>
          <a:xfrm>
            <a:off x="6429434" y="4189299"/>
            <a:ext cx="46471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002060"/>
                </a:solidFill>
              </a:rPr>
              <a:t>Ваги </a:t>
            </a:r>
            <a:r>
              <a:rPr lang="ru-RU" sz="3600" b="1" dirty="0" err="1">
                <a:solidFill>
                  <a:srgbClr val="002060"/>
                </a:solidFill>
              </a:rPr>
              <a:t>аналітичні</a:t>
            </a:r>
            <a:r>
              <a:rPr lang="ru-RU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>
                <a:solidFill>
                  <a:srgbClr val="002060"/>
                </a:solidFill>
              </a:rPr>
              <a:t>VIBRA HT    </a:t>
            </a:r>
            <a:endParaRPr lang="uk-UA" sz="3600" b="1" dirty="0">
              <a:solidFill>
                <a:srgbClr val="08276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5E205-72BD-6024-4DDD-E833425A8252}"/>
              </a:ext>
            </a:extLst>
          </p:cNvPr>
          <p:cNvSpPr txBox="1"/>
          <p:nvPr/>
        </p:nvSpPr>
        <p:spPr>
          <a:xfrm>
            <a:off x="7314595" y="5447223"/>
            <a:ext cx="258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4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4 тис. грн.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EA34E6-424A-86FE-CB11-AA1564B1B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3606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uk-UA" altLang="uk-U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uk-UA" altLang="uk-U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36C4BF-0032-F3FC-5A37-CDCE2BE96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8" t="23226" r="23907" b="5663"/>
          <a:stretch>
            <a:fillRect/>
          </a:stretch>
        </p:blipFill>
        <p:spPr>
          <a:xfrm>
            <a:off x="1412753" y="3051464"/>
            <a:ext cx="2375868" cy="340586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CCAFE6-1E53-2C24-3589-9B2610EF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1" t="17230" r="10811" b="9821"/>
          <a:stretch>
            <a:fillRect/>
          </a:stretch>
        </p:blipFill>
        <p:spPr>
          <a:xfrm>
            <a:off x="7634394" y="1181603"/>
            <a:ext cx="2237194" cy="300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0699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9B349-7904-E64C-AB1A-E9B23B04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765A29-8DFB-26B8-C45E-36542BD8A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925" y="2447799"/>
            <a:ext cx="4183765" cy="4183765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731D681-D4A2-116B-D811-363E043C1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876803"/>
          </a:xfrm>
        </p:spPr>
        <p:txBody>
          <a:bodyPr>
            <a:normAutofit fontScale="90000"/>
          </a:bodyPr>
          <a:lstStyle/>
          <a:p>
            <a:r>
              <a:rPr lang="uk-UA" sz="3600" dirty="0">
                <a:solidFill>
                  <a:srgbClr val="002060"/>
                </a:solidFill>
                <a:sym typeface="Montserrat"/>
              </a:rPr>
              <a:t>ЗАКУПІВЛІ НОВОГО ОБЛАДНАННЯ</a:t>
            </a:r>
            <a:br>
              <a:rPr lang="uk-UA" sz="3600" dirty="0">
                <a:solidFill>
                  <a:srgbClr val="002060"/>
                </a:solidFill>
                <a:sym typeface="Montserrat"/>
              </a:rPr>
            </a:br>
            <a:r>
              <a:rPr lang="en-US" sz="3600" dirty="0">
                <a:solidFill>
                  <a:srgbClr val="002060"/>
                </a:solidFill>
              </a:rPr>
              <a:t>2021 – 202</a:t>
            </a:r>
            <a:r>
              <a:rPr lang="uk-UA" sz="3600" dirty="0">
                <a:solidFill>
                  <a:srgbClr val="002060"/>
                </a:solidFill>
              </a:rPr>
              <a:t>5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uk-UA" sz="3600" dirty="0">
                <a:solidFill>
                  <a:srgbClr val="002060"/>
                </a:solidFill>
              </a:rPr>
              <a:t>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99F0E4-7813-50FD-6F02-492E4AEFF73B}"/>
              </a:ext>
            </a:extLst>
          </p:cNvPr>
          <p:cNvSpPr txBox="1"/>
          <p:nvPr/>
        </p:nvSpPr>
        <p:spPr>
          <a:xfrm>
            <a:off x="4310838" y="1557988"/>
            <a:ext cx="52483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 err="1">
                <a:solidFill>
                  <a:srgbClr val="002060"/>
                </a:solidFill>
              </a:rPr>
              <a:t>Планетарний</a:t>
            </a:r>
            <a:r>
              <a:rPr lang="ru-RU" sz="3600" b="1" dirty="0">
                <a:solidFill>
                  <a:srgbClr val="002060"/>
                </a:solidFill>
              </a:rPr>
              <a:t> </a:t>
            </a:r>
            <a:r>
              <a:rPr lang="ru-RU" sz="3600" b="1" dirty="0" err="1">
                <a:solidFill>
                  <a:srgbClr val="002060"/>
                </a:solidFill>
              </a:rPr>
              <a:t>кульовий</a:t>
            </a:r>
            <a:r>
              <a:rPr lang="ru-RU" sz="3600" b="1" dirty="0">
                <a:solidFill>
                  <a:srgbClr val="002060"/>
                </a:solidFill>
              </a:rPr>
              <a:t> </a:t>
            </a:r>
            <a:r>
              <a:rPr lang="ru-RU" sz="3600" b="1" dirty="0" err="1">
                <a:solidFill>
                  <a:srgbClr val="002060"/>
                </a:solidFill>
              </a:rPr>
              <a:t>млин</a:t>
            </a:r>
            <a:r>
              <a:rPr lang="ru-RU" sz="3600" b="1" dirty="0">
                <a:solidFill>
                  <a:srgbClr val="002060"/>
                </a:solidFill>
              </a:rPr>
              <a:t> ВМ6</a:t>
            </a:r>
            <a:r>
              <a:rPr lang="en-US" sz="3600" b="1" dirty="0">
                <a:solidFill>
                  <a:srgbClr val="002060"/>
                </a:solidFill>
              </a:rPr>
              <a:t>Pro </a:t>
            </a:r>
            <a:endParaRPr lang="fr-FR" sz="3600" b="1" dirty="0">
              <a:solidFill>
                <a:srgbClr val="08276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EF7AC0-B1F7-6458-1ABD-D3946C6234EC}"/>
              </a:ext>
            </a:extLst>
          </p:cNvPr>
          <p:cNvSpPr txBox="1"/>
          <p:nvPr/>
        </p:nvSpPr>
        <p:spPr>
          <a:xfrm>
            <a:off x="4310838" y="2856486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400 тис. грн.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3D34E-2964-7F53-7575-E713C5015A68}"/>
              </a:ext>
            </a:extLst>
          </p:cNvPr>
          <p:cNvSpPr txBox="1"/>
          <p:nvPr/>
        </p:nvSpPr>
        <p:spPr>
          <a:xfrm>
            <a:off x="1577313" y="4520633"/>
            <a:ext cx="5952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3600" b="1" dirty="0" err="1">
                <a:solidFill>
                  <a:srgbClr val="002060"/>
                </a:solidFill>
              </a:rPr>
              <a:t>Фрезерний</a:t>
            </a:r>
            <a:r>
              <a:rPr lang="ru-RU" sz="3600" b="1" dirty="0">
                <a:solidFill>
                  <a:srgbClr val="002060"/>
                </a:solidFill>
              </a:rPr>
              <a:t> станок ЧПУ “Сокол 3040”</a:t>
            </a:r>
            <a:endParaRPr lang="uk-UA" sz="3600" b="1" dirty="0">
              <a:solidFill>
                <a:srgbClr val="08276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9EC30-E8C8-A758-88FF-6A3167709762}"/>
              </a:ext>
            </a:extLst>
          </p:cNvPr>
          <p:cNvSpPr txBox="1"/>
          <p:nvPr/>
        </p:nvSpPr>
        <p:spPr>
          <a:xfrm>
            <a:off x="4955457" y="5664147"/>
            <a:ext cx="2947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4</a:t>
            </a:r>
            <a:r>
              <a:rPr lang="uk-UA" sz="3200" b="1" dirty="0">
                <a:solidFill>
                  <a:srgbClr val="C00000"/>
                </a:solidFill>
                <a:latin typeface="Open Sans"/>
                <a:ea typeface="Open Sans"/>
                <a:cs typeface="Open Sans"/>
              </a:rPr>
              <a:t>5 тис. грн.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870CE45-CFE9-34F5-7870-B542E8225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3606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uk-UA" altLang="uk-U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uk-UA" altLang="uk-U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30FACD-ECFB-A750-34D6-5CC7A239E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1" t="17230" r="21026" b="17230"/>
          <a:stretch>
            <a:fillRect/>
          </a:stretch>
        </p:blipFill>
        <p:spPr>
          <a:xfrm>
            <a:off x="957877" y="1266519"/>
            <a:ext cx="3187898" cy="318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8075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кутник 29"/>
          <p:cNvSpPr/>
          <p:nvPr/>
        </p:nvSpPr>
        <p:spPr>
          <a:xfrm>
            <a:off x="6143937" y="1339069"/>
            <a:ext cx="6069172" cy="894116"/>
          </a:xfrm>
          <a:prstGeom prst="rect">
            <a:avLst/>
          </a:prstGeom>
          <a:solidFill>
            <a:srgbClr val="CC0000">
              <a:alpha val="2000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Прямокутник 7"/>
          <p:cNvSpPr/>
          <p:nvPr/>
        </p:nvSpPr>
        <p:spPr>
          <a:xfrm>
            <a:off x="7718" y="1353548"/>
            <a:ext cx="6069172" cy="894116"/>
          </a:xfrm>
          <a:prstGeom prst="rect">
            <a:avLst/>
          </a:prstGeom>
          <a:solidFill>
            <a:srgbClr val="28B3BD">
              <a:alpha val="2000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40862"/>
            <a:ext cx="12192000" cy="614933"/>
          </a:xfrm>
        </p:spPr>
        <p:txBody>
          <a:bodyPr>
            <a:normAutofit/>
          </a:bodyPr>
          <a:lstStyle/>
          <a:p>
            <a:r>
              <a:rPr lang="uk-UA" sz="3600" dirty="0">
                <a:solidFill>
                  <a:srgbClr val="002060"/>
                </a:solidFill>
              </a:rPr>
              <a:t>Контактна інформація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4586" y="1509296"/>
            <a:ext cx="4641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>
                <a:solidFill>
                  <a:srgbClr val="28B3BD"/>
                </a:solidFill>
              </a:rPr>
              <a:t>Кафедра фізики металів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6771" y="1391923"/>
            <a:ext cx="4972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>
                <a:solidFill>
                  <a:srgbClr val="CC0000"/>
                </a:solidFill>
              </a:rPr>
              <a:t>Кафедра загальної фізики</a:t>
            </a:r>
          </a:p>
        </p:txBody>
      </p:sp>
      <p:cxnSp>
        <p:nvCxnSpPr>
          <p:cNvPr id="4" name="Пряма сполучна лінія 3"/>
          <p:cNvCxnSpPr/>
          <p:nvPr/>
        </p:nvCxnSpPr>
        <p:spPr>
          <a:xfrm flipH="1">
            <a:off x="6106386" y="1391923"/>
            <a:ext cx="0" cy="4978866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Рисунок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" y="1412540"/>
            <a:ext cx="812885" cy="811569"/>
          </a:xfrm>
          <a:prstGeom prst="rect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368" y="1349444"/>
            <a:ext cx="806400" cy="81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787814" y="4230121"/>
            <a:ext cx="3361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hlinkClick r:id="rId4"/>
              </a:rPr>
              <a:t>www.metphys.knu.ua</a:t>
            </a:r>
            <a:r>
              <a:rPr lang="en-US" dirty="0"/>
              <a:t> </a:t>
            </a:r>
            <a:endParaRPr lang="uk-UA" dirty="0"/>
          </a:p>
        </p:txBody>
      </p:sp>
      <p:sp>
        <p:nvSpPr>
          <p:cNvPr id="25" name="TextBox 24"/>
          <p:cNvSpPr txBox="1"/>
          <p:nvPr/>
        </p:nvSpPr>
        <p:spPr>
          <a:xfrm>
            <a:off x="7035883" y="4230121"/>
            <a:ext cx="3491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hlinkClick r:id="rId5"/>
              </a:rPr>
              <a:t>www.gen.phys.knu.ua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dirty="0"/>
              <a:t> </a:t>
            </a:r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541" b="73201"/>
          <a:stretch/>
        </p:blipFill>
        <p:spPr>
          <a:xfrm>
            <a:off x="108303" y="4149731"/>
            <a:ext cx="679511" cy="684000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541" b="73201"/>
          <a:stretch/>
        </p:blipFill>
        <p:spPr>
          <a:xfrm>
            <a:off x="6327102" y="4149731"/>
            <a:ext cx="679511" cy="684000"/>
          </a:xfrm>
          <a:prstGeom prst="rect">
            <a:avLst/>
          </a:prstGeom>
        </p:spPr>
      </p:pic>
      <p:sp>
        <p:nvSpPr>
          <p:cNvPr id="9" name="Прямокутник 8"/>
          <p:cNvSpPr/>
          <p:nvPr/>
        </p:nvSpPr>
        <p:spPr>
          <a:xfrm>
            <a:off x="786706" y="5581054"/>
            <a:ext cx="46955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dirty="0">
                <a:solidFill>
                  <a:srgbClr val="0070C0"/>
                </a:solidFill>
              </a:rPr>
              <a:t>facebook.com/</a:t>
            </a:r>
            <a:r>
              <a:rPr lang="uk-UA" sz="2800" dirty="0" err="1">
                <a:solidFill>
                  <a:srgbClr val="0070C0"/>
                </a:solidFill>
              </a:rPr>
              <a:t>groups</a:t>
            </a:r>
            <a:r>
              <a:rPr lang="uk-UA" sz="2800" dirty="0">
                <a:solidFill>
                  <a:srgbClr val="0070C0"/>
                </a:solidFill>
              </a:rPr>
              <a:t>/</a:t>
            </a:r>
            <a:r>
              <a:rPr lang="uk-UA" sz="2800" dirty="0" err="1">
                <a:solidFill>
                  <a:srgbClr val="0070C0"/>
                </a:solidFill>
              </a:rPr>
              <a:t>metphys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endParaRPr lang="uk-UA" sz="2800" dirty="0">
              <a:solidFill>
                <a:srgbClr val="0070C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006" y="5442090"/>
            <a:ext cx="900000" cy="900000"/>
          </a:xfrm>
          <a:prstGeom prst="rect">
            <a:avLst/>
          </a:prstGeom>
        </p:spPr>
      </p:pic>
      <p:sp>
        <p:nvSpPr>
          <p:cNvPr id="37" name="Прямокутник 36"/>
          <p:cNvSpPr/>
          <p:nvPr/>
        </p:nvSpPr>
        <p:spPr>
          <a:xfrm>
            <a:off x="6982517" y="5518931"/>
            <a:ext cx="5222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facebook.com/groups/485623833137100 </a:t>
            </a:r>
            <a:endParaRPr lang="uk-UA" sz="2400" dirty="0">
              <a:solidFill>
                <a:srgbClr val="0070C0"/>
              </a:solidFill>
            </a:endParaRPr>
          </a:p>
        </p:txBody>
      </p:sp>
      <p:pic>
        <p:nvPicPr>
          <p:cNvPr id="42" name="Рисунок 4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566" y="5298929"/>
            <a:ext cx="900000" cy="900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" y="2837125"/>
            <a:ext cx="720000" cy="720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78270" y="2900654"/>
            <a:ext cx="3565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9"/>
              </a:rPr>
              <a:t>metphys@univ.net.ua</a:t>
            </a:r>
            <a:r>
              <a:rPr lang="en-US" sz="2800" dirty="0"/>
              <a:t> </a:t>
            </a:r>
            <a:endParaRPr lang="uk-UA" sz="2800" dirty="0"/>
          </a:p>
        </p:txBody>
      </p:sp>
      <p:pic>
        <p:nvPicPr>
          <p:cNvPr id="44" name="Рисунок 4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206" y="2837125"/>
            <a:ext cx="720000" cy="7200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933962" y="2883962"/>
            <a:ext cx="3565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10"/>
              </a:rPr>
              <a:t>olegolikh@knu.ua</a:t>
            </a:r>
            <a:r>
              <a:rPr lang="en-US" sz="2800" dirty="0"/>
              <a:t>  </a:t>
            </a:r>
            <a:endParaRPr lang="uk-UA" sz="2800" dirty="0"/>
          </a:p>
        </p:txBody>
      </p:sp>
    </p:spTree>
    <p:extLst>
      <p:ext uri="{BB962C8B-B14F-4D97-AF65-F5344CB8AC3E}">
        <p14:creationId xmlns:p14="http://schemas.microsoft.com/office/powerpoint/2010/main" val="383943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Ретроспектива">
  <a:themeElements>
    <a:clrScheme name="Ретроспектива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Настроювані 1">
      <a:majorFont>
        <a:latin typeface="Sitka Text"/>
        <a:ea typeface=""/>
        <a:cs typeface=""/>
      </a:majorFont>
      <a:minorFont>
        <a:latin typeface="Sitka Display"/>
        <a:ea typeface=""/>
        <a:cs typeface="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ФМ_Шаблон2" id="{31521278-6438-4BD2-9F7D-E2775B4F3F50}" vid="{94DA5D09-111F-49E7-9DC4-4CA23935BB21}"/>
    </a:ext>
  </a:extLst>
</a:theme>
</file>

<file path=ppt/theme/theme2.xml><?xml version="1.0" encoding="utf-8"?>
<a:theme xmlns:a="http://schemas.openxmlformats.org/drawingml/2006/main" name="1_Ретроспектива">
  <a:themeElements>
    <a:clrScheme name="Ретроспектива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Настроювані 1">
      <a:majorFont>
        <a:latin typeface="Sitka Text"/>
        <a:ea typeface=""/>
        <a:cs typeface=""/>
      </a:majorFont>
      <a:minorFont>
        <a:latin typeface="Sitka Display"/>
        <a:ea typeface=""/>
        <a:cs typeface="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ФМ_Шаблон4" id="{330D84BA-E887-45CB-A80E-FB023C1DED72}" vid="{F6E72D65-D17D-4FBD-86E2-4A14661DFC93}"/>
    </a:ext>
  </a:extLst>
</a:theme>
</file>

<file path=ppt/theme/theme3.xml><?xml version="1.0" encoding="utf-8"?>
<a:theme xmlns:a="http://schemas.openxmlformats.org/drawingml/2006/main" name="4_Ретроспектива">
  <a:themeElements>
    <a:clrScheme name="Ретроспектива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Настроювані 1">
      <a:majorFont>
        <a:latin typeface="Sitka Text"/>
        <a:ea typeface=""/>
        <a:cs typeface=""/>
      </a:majorFont>
      <a:minorFont>
        <a:latin typeface="Sitka Display"/>
        <a:ea typeface=""/>
        <a:cs typeface="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ФМ_Шаблон4" id="{330D84BA-E887-45CB-A80E-FB023C1DED72}" vid="{F6E72D65-D17D-4FBD-86E2-4A14661DFC93}"/>
    </a:ext>
  </a:extLst>
</a:theme>
</file>

<file path=ppt/theme/theme4.xml><?xml version="1.0" encoding="utf-8"?>
<a:theme xmlns:a="http://schemas.openxmlformats.org/drawingml/2006/main" name="3_Ретроспектива">
  <a:themeElements>
    <a:clrScheme name="Ретроспектива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Настроювані 1">
      <a:majorFont>
        <a:latin typeface="Sitka Text"/>
        <a:ea typeface=""/>
        <a:cs typeface=""/>
      </a:majorFont>
      <a:minorFont>
        <a:latin typeface="Sitka Display"/>
        <a:ea typeface=""/>
        <a:cs typeface="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ФМ_Шаблон4" id="{330D84BA-E887-45CB-A80E-FB023C1DED72}" vid="{F6E72D65-D17D-4FBD-86E2-4A14661DFC93}"/>
    </a:ext>
  </a:extLst>
</a:theme>
</file>

<file path=ppt/theme/theme5.xml><?xml version="1.0" encoding="utf-8"?>
<a:theme xmlns:a="http://schemas.openxmlformats.org/drawingml/2006/main" name="2_Ретроспектива">
  <a:themeElements>
    <a:clrScheme name="Ретроспектива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Настроювані 1">
      <a:majorFont>
        <a:latin typeface="Sitka Text"/>
        <a:ea typeface=""/>
        <a:cs typeface=""/>
      </a:majorFont>
      <a:minorFont>
        <a:latin typeface="Sitka Display"/>
        <a:ea typeface=""/>
        <a:cs typeface="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ФМ_Шаблон5" id="{4B9EAC16-B808-497F-9556-D58859B861EB}" vid="{455485C0-ABAA-4447-AF30-999F794B4648}"/>
    </a:ext>
  </a:extLst>
</a:theme>
</file>

<file path=ppt/theme/theme6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КФМ_Шаблон2</Template>
  <TotalTime>2822</TotalTime>
  <Words>274</Words>
  <Application>Microsoft Office PowerPoint</Application>
  <PresentationFormat>Широкий екран</PresentationFormat>
  <Paragraphs>56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5</vt:i4>
      </vt:variant>
      <vt:variant>
        <vt:lpstr>Заголовки слайдів</vt:lpstr>
      </vt:variant>
      <vt:variant>
        <vt:i4>9</vt:i4>
      </vt:variant>
    </vt:vector>
  </HeadingPairs>
  <TitlesOfParts>
    <vt:vector size="20" baseType="lpstr">
      <vt:lpstr>Arial</vt:lpstr>
      <vt:lpstr>Calibri</vt:lpstr>
      <vt:lpstr>Montserrat</vt:lpstr>
      <vt:lpstr>Open Sans</vt:lpstr>
      <vt:lpstr>Sitka Display</vt:lpstr>
      <vt:lpstr>Sitka Text</vt:lpstr>
      <vt:lpstr>Ретроспектива</vt:lpstr>
      <vt:lpstr>1_Ретроспектива</vt:lpstr>
      <vt:lpstr>4_Ретроспектива</vt:lpstr>
      <vt:lpstr>3_Ретроспектива</vt:lpstr>
      <vt:lpstr>2_Ретроспектива</vt:lpstr>
      <vt:lpstr>Презентація PowerPoint</vt:lpstr>
      <vt:lpstr>ЗАКУПІВЛІ НОВОГО ОБЛАДНАННЯ 2021 – 2025 р</vt:lpstr>
      <vt:lpstr>ЗАКУПІВЛІ НОВОГО ОБЛАДНАННЯ 2021 – 2025 р</vt:lpstr>
      <vt:lpstr>ЗАКУПІВЛІ НОВОГО ОБЛАДНАННЯ 2021 – 2025 р</vt:lpstr>
      <vt:lpstr>ЗАКУПІВЛІ НОВОГО ОБЛАДНАННЯ 2021 – 2025 р</vt:lpstr>
      <vt:lpstr>ЗАКУПІВЛІ НОВОГО ОБЛАДНАННЯ 2021 – 2025 р</vt:lpstr>
      <vt:lpstr>ЗАКУПІВЛІ НОВОГО ОБЛАДНАННЯ 2021 – 2025 р</vt:lpstr>
      <vt:lpstr>ЗАКУПІВЛІ НОВОГО ОБЛАДНАННЯ 2021 – 2025 р</vt:lpstr>
      <vt:lpstr>Контактна інформація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Kuryliuk</dc:creator>
  <cp:lastModifiedBy>oleg</cp:lastModifiedBy>
  <cp:revision>159</cp:revision>
  <dcterms:created xsi:type="dcterms:W3CDTF">2022-01-10T13:02:52Z</dcterms:created>
  <dcterms:modified xsi:type="dcterms:W3CDTF">2026-02-03T08:39:45Z</dcterms:modified>
</cp:coreProperties>
</file>